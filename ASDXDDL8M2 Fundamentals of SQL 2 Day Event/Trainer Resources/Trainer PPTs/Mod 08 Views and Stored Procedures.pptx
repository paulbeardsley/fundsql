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Lst>
  <p:notesMasterIdLst>
    <p:notesMasterId r:id="rId21"/>
  </p:notesMasterIdLst>
  <p:handoutMasterIdLst>
    <p:handoutMasterId r:id="rId22"/>
  </p:handoutMasterIdLst>
  <p:sldIdLst>
    <p:sldId id="462" r:id="rId7"/>
    <p:sldId id="612" r:id="rId8"/>
    <p:sldId id="884" r:id="rId9"/>
    <p:sldId id="909" r:id="rId10"/>
    <p:sldId id="928" r:id="rId11"/>
    <p:sldId id="934" r:id="rId12"/>
    <p:sldId id="929" r:id="rId13"/>
    <p:sldId id="930" r:id="rId14"/>
    <p:sldId id="935" r:id="rId15"/>
    <p:sldId id="931" r:id="rId16"/>
    <p:sldId id="936" r:id="rId17"/>
    <p:sldId id="932" r:id="rId18"/>
    <p:sldId id="933" r:id="rId19"/>
    <p:sldId id="924" r:id="rId20"/>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84"/>
            <p14:sldId id="909"/>
            <p14:sldId id="928"/>
            <p14:sldId id="934"/>
            <p14:sldId id="929"/>
            <p14:sldId id="930"/>
            <p14:sldId id="935"/>
            <p14:sldId id="931"/>
            <p14:sldId id="936"/>
            <p14:sldId id="932"/>
            <p14:sldId id="933"/>
            <p14:sldId id="92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62665" autoAdjust="0"/>
  </p:normalViewPr>
  <p:slideViewPr>
    <p:cSldViewPr snapToGrid="0" snapToObjects="1" showGuides="1">
      <p:cViewPr varScale="1">
        <p:scale>
          <a:sx n="70" d="100"/>
          <a:sy n="70" d="100"/>
        </p:scale>
        <p:origin x="2316" y="60"/>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08/05/2024</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08/05/2024</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you might have realised by now, queries can quickly become extremely complex and</a:t>
            </a:r>
            <a:r>
              <a:rPr lang="en-GB" baseline="0" dirty="0"/>
              <a:t> hard to follow once we start joining tables together. To simplify matters, select statements can be stored in the database as views which we can then query as though they were tables.</a:t>
            </a:r>
          </a:p>
          <a:p>
            <a:endParaRPr lang="en-GB" baseline="0" dirty="0"/>
          </a:p>
          <a:p>
            <a:r>
              <a:rPr lang="en-GB" baseline="0" dirty="0"/>
              <a:t>Some points to note about views:</a:t>
            </a:r>
          </a:p>
          <a:p>
            <a:endParaRPr lang="en-GB" baseline="0" dirty="0"/>
          </a:p>
          <a:p>
            <a:pPr marL="171450" indent="-171450">
              <a:buFont typeface="Arial" panose="020B0604020202020204" pitchFamily="34" charset="0"/>
              <a:buChar char="•"/>
            </a:pPr>
            <a:r>
              <a:rPr lang="en-GB" baseline="0" dirty="0"/>
              <a:t>They do not take up space – when we use a view in the FROM clause of a SELECT statement, SQL looks up the view definition and uses that as the basis for the selection.</a:t>
            </a:r>
          </a:p>
          <a:p>
            <a:pPr marL="171450" indent="-171450">
              <a:buFont typeface="Arial" panose="020B0604020202020204" pitchFamily="34" charset="0"/>
              <a:buChar char="•"/>
            </a:pPr>
            <a:r>
              <a:rPr lang="en-GB" baseline="0" dirty="0"/>
              <a:t>There is very little overhead to using views, just the time taken to look up the view’s definition. SQL does not go and get all of the rows and columns selected by the view and then apply any WHERE clauses. The final query that is executed is a combination of the view’s definition and our select statement.</a:t>
            </a:r>
          </a:p>
          <a:p>
            <a:pPr marL="171450" indent="-171450">
              <a:buFont typeface="Arial" panose="020B0604020202020204" pitchFamily="34" charset="0"/>
              <a:buChar char="•"/>
            </a:pPr>
            <a:r>
              <a:rPr lang="en-GB" baseline="0" dirty="0"/>
              <a:t>Views can also be used to control access to sensitive data. Whilst it is possible for database administrators (“DBAs”) to restrict access on a column-by-column and user-by-user basis, it is easier (both to set up and to maintain) to restrict access to tables and allow access to views which don’t include the sensitive data.</a:t>
            </a:r>
          </a:p>
          <a:p>
            <a:pPr marL="171450" indent="-171450">
              <a:buFont typeface="Arial" panose="020B0604020202020204" pitchFamily="34" charset="0"/>
              <a:buChar char="•"/>
            </a:pPr>
            <a:endParaRPr lang="en-GB" baseline="0" dirty="0"/>
          </a:p>
          <a:p>
            <a:r>
              <a:rPr lang="en-GB" baseline="0" dirty="0"/>
              <a:t>A full discussion of database security is beyond the scope of this course.</a:t>
            </a:r>
          </a:p>
        </p:txBody>
      </p:sp>
    </p:spTree>
    <p:extLst>
      <p:ext uri="{BB962C8B-B14F-4D97-AF65-F5344CB8AC3E}">
        <p14:creationId xmlns:p14="http://schemas.microsoft.com/office/powerpoint/2010/main" val="372074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the example on the slide, we are using a view that already exists in the </a:t>
            </a:r>
            <a:r>
              <a:rPr lang="en-GB" baseline="0" dirty="0" err="1"/>
              <a:t>Northwind</a:t>
            </a:r>
            <a:r>
              <a:rPr lang="en-GB" baseline="0" dirty="0"/>
              <a:t> database, called “Products by Category”, that joins the Products and Categories tables and includes a WHERE clause to get rid of discontinued products. Our second FROM clause is much simpler but we still need an ORDER BY clause as view definitions can not include sorting*. Remember sorting is the last thing to occur, so we have to know what records to get before doing the sort. If the view definition had the ORDER BY, but the user’s SELECT statement had the WHERE clause, SQL could potentially be doing a whole lot of sorting before realising that it didn’t need to return any records!</a:t>
            </a:r>
          </a:p>
          <a:p>
            <a:endParaRPr lang="en-GB" baseline="0" dirty="0"/>
          </a:p>
          <a:p>
            <a:r>
              <a:rPr lang="en-GB" b="1" baseline="0" dirty="0"/>
              <a:t>The second query is a lot simpler, and would be even more so if the view being referenced didn’t have spaces in its name.</a:t>
            </a:r>
          </a:p>
          <a:p>
            <a:endParaRPr lang="en-GB" baseline="0" dirty="0"/>
          </a:p>
          <a:p>
            <a:r>
              <a:rPr lang="en-GB" baseline="0" dirty="0"/>
              <a:t>One thing that we can’t do in a view is ask for any columns </a:t>
            </a:r>
            <a:r>
              <a:rPr lang="en-GB" i="1" baseline="0" dirty="0"/>
              <a:t>not</a:t>
            </a:r>
            <a:r>
              <a:rPr lang="en-GB" i="0" baseline="0" dirty="0"/>
              <a:t> in the view’s select list. For example the “Products by Category” view doesn’t include </a:t>
            </a:r>
            <a:r>
              <a:rPr lang="en-GB" i="0" baseline="0" dirty="0" err="1"/>
              <a:t>ProductIDs</a:t>
            </a:r>
            <a:r>
              <a:rPr lang="en-GB" i="0" baseline="0" dirty="0"/>
              <a:t> or </a:t>
            </a:r>
            <a:r>
              <a:rPr lang="en-GB" i="0" baseline="0" dirty="0" err="1"/>
              <a:t>CategoryIDs</a:t>
            </a:r>
            <a:r>
              <a:rPr lang="en-GB" i="0" baseline="0" dirty="0"/>
              <a:t>, so we can’t ask for them in the second query but we could have in the first one.</a:t>
            </a:r>
            <a:endParaRPr lang="en-GB" baseline="0" dirty="0"/>
          </a:p>
          <a:p>
            <a:endParaRPr lang="en-GB" baseline="0" dirty="0"/>
          </a:p>
          <a:p>
            <a:endParaRPr lang="en-GB" baseline="0" dirty="0"/>
          </a:p>
          <a:p>
            <a:r>
              <a:rPr lang="en-GB" baseline="0" dirty="0"/>
              <a:t>The first query shows the </a:t>
            </a:r>
            <a:r>
              <a:rPr lang="en-GB" baseline="0" dirty="0" err="1"/>
              <a:t>sql</a:t>
            </a:r>
            <a:r>
              <a:rPr lang="en-GB" baseline="0" dirty="0"/>
              <a:t> query and the second has the same saved as a view.</a:t>
            </a:r>
          </a:p>
          <a:p>
            <a:endParaRPr lang="en-GB" baseline="0" dirty="0"/>
          </a:p>
          <a:p>
            <a:endParaRPr lang="en-GB" baseline="0" dirty="0"/>
          </a:p>
          <a:p>
            <a:r>
              <a:rPr lang="en-GB" baseline="0" dirty="0"/>
              <a:t>*Strictly speaking, it is possible under some circumstances to include </a:t>
            </a:r>
            <a:r>
              <a:rPr lang="en-GB" i="0" baseline="0" dirty="0"/>
              <a:t>ORDER BY </a:t>
            </a:r>
            <a:r>
              <a:rPr lang="en-GB" baseline="0" dirty="0"/>
              <a:t>in a view. But definitely not in this case!</a:t>
            </a:r>
          </a:p>
          <a:p>
            <a:endParaRPr lang="en-GB" baseline="0" dirty="0"/>
          </a:p>
          <a:p>
            <a:r>
              <a:rPr lang="en-GB" baseline="0" dirty="0"/>
              <a:t>Order by cannot be placed in a view only in a query referencing a view.</a:t>
            </a:r>
          </a:p>
          <a:p>
            <a:endParaRPr lang="en-GB" baseline="0" dirty="0"/>
          </a:p>
          <a:p>
            <a:r>
              <a:rPr lang="en-GB" b="0" i="0" dirty="0">
                <a:solidFill>
                  <a:srgbClr val="0000CD"/>
                </a:solidFill>
                <a:effectLst/>
                <a:latin typeface="Consolas" panose="020B0609020204030204" pitchFamily="49" charset="0"/>
              </a:rPr>
              <a:t>CREATE</a:t>
            </a:r>
            <a:r>
              <a:rPr lang="en-GB" b="0" i="0" dirty="0">
                <a:solidFill>
                  <a:srgbClr val="000000"/>
                </a:solidFill>
                <a:effectLst/>
                <a:latin typeface="Consolas" panose="020B0609020204030204" pitchFamily="49" charset="0"/>
              </a:rPr>
              <a:t> </a:t>
            </a:r>
            <a:r>
              <a:rPr lang="en-GB" b="0" i="0" dirty="0">
                <a:solidFill>
                  <a:srgbClr val="0000CD"/>
                </a:solidFill>
                <a:effectLst/>
                <a:latin typeface="Consolas" panose="020B0609020204030204" pitchFamily="49" charset="0"/>
              </a:rPr>
              <a:t>VIEW</a:t>
            </a:r>
            <a:r>
              <a:rPr lang="en-GB" b="0" i="0" dirty="0">
                <a:solidFill>
                  <a:srgbClr val="000000"/>
                </a:solidFill>
                <a:effectLst/>
                <a:latin typeface="Consolas" panose="020B0609020204030204" pitchFamily="49" charset="0"/>
              </a:rPr>
              <a:t> [</a:t>
            </a:r>
            <a:r>
              <a:rPr lang="en-GB" baseline="0" dirty="0"/>
              <a:t>Products by Category</a:t>
            </a:r>
            <a:r>
              <a:rPr lang="en-GB" b="0" i="0" dirty="0">
                <a:solidFill>
                  <a:srgbClr val="000000"/>
                </a:solidFill>
                <a:effectLst/>
                <a:latin typeface="Consolas" panose="020B0609020204030204" pitchFamily="49" charset="0"/>
              </a:rPr>
              <a:t>] </a:t>
            </a:r>
            <a:r>
              <a:rPr lang="en-GB" b="0" i="0" dirty="0">
                <a:solidFill>
                  <a:srgbClr val="0000CD"/>
                </a:solidFill>
                <a:effectLst/>
                <a:latin typeface="Consolas" panose="020B0609020204030204" pitchFamily="49" charset="0"/>
              </a:rPr>
              <a:t>AS</a:t>
            </a:r>
            <a:br>
              <a:rPr lang="en-GB" dirty="0"/>
            </a:br>
            <a:endParaRPr lang="en-GB" baseline="0" dirty="0"/>
          </a:p>
          <a:p>
            <a:endParaRPr lang="en-GB" dirty="0"/>
          </a:p>
        </p:txBody>
      </p:sp>
    </p:spTree>
    <p:extLst>
      <p:ext uri="{BB962C8B-B14F-4D97-AF65-F5344CB8AC3E}">
        <p14:creationId xmlns:p14="http://schemas.microsoft.com/office/powerpoint/2010/main" val="3861422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The</a:t>
            </a:r>
            <a:r>
              <a:rPr lang="en-GB" sz="1200" baseline="0" dirty="0">
                <a:latin typeface="+mn-lt"/>
              </a:rPr>
              <a:t> example on the slide </a:t>
            </a:r>
            <a:r>
              <a:rPr lang="en-GB" sz="1200" i="0" baseline="0" dirty="0">
                <a:latin typeface="+mn-lt"/>
              </a:rPr>
              <a:t>JOIN</a:t>
            </a:r>
            <a:r>
              <a:rPr lang="en-GB" sz="1200" baseline="0" dirty="0">
                <a:latin typeface="+mn-lt"/>
              </a:rPr>
              <a:t>s the Order Details table to a view called “Current Product List”, which is saving us a single SQL clause, namely:</a:t>
            </a:r>
          </a:p>
          <a:p>
            <a:endParaRPr lang="en-GB" sz="1200" baseline="0" dirty="0">
              <a:latin typeface="+mn-lt"/>
            </a:endParaRPr>
          </a:p>
          <a:p>
            <a:r>
              <a:rPr lang="en-GB" sz="1200" baseline="0" dirty="0">
                <a:latin typeface="+mn-lt"/>
                <a:cs typeface="Consolas" pitchFamily="49" charset="0"/>
              </a:rPr>
              <a:t>WHERE </a:t>
            </a:r>
            <a:r>
              <a:rPr lang="en-GB" sz="1200" baseline="0" dirty="0" err="1">
                <a:latin typeface="+mn-lt"/>
                <a:cs typeface="Consolas" pitchFamily="49" charset="0"/>
              </a:rPr>
              <a:t>Products.Discontinued</a:t>
            </a:r>
            <a:r>
              <a:rPr lang="en-GB" sz="1200" baseline="0" dirty="0">
                <a:latin typeface="+mn-lt"/>
                <a:cs typeface="Consolas" pitchFamily="49" charset="0"/>
              </a:rPr>
              <a:t> = 0</a:t>
            </a:r>
          </a:p>
          <a:p>
            <a:endParaRPr lang="en-GB" sz="1200" baseline="0" dirty="0">
              <a:latin typeface="+mn-lt"/>
            </a:endParaRPr>
          </a:p>
          <a:p>
            <a:r>
              <a:rPr lang="en-GB" sz="1200" b="1" baseline="0" dirty="0">
                <a:latin typeface="+mn-lt"/>
              </a:rPr>
              <a:t>It serves to illustrate that you can JOIN tables to views, or views to views, or views to tables as well.</a:t>
            </a:r>
            <a:endParaRPr lang="en-GB" sz="1200" b="1" dirty="0">
              <a:latin typeface="+mn-lt"/>
            </a:endParaRPr>
          </a:p>
        </p:txBody>
      </p:sp>
    </p:spTree>
    <p:extLst>
      <p:ext uri="{BB962C8B-B14F-4D97-AF65-F5344CB8AC3E}">
        <p14:creationId xmlns:p14="http://schemas.microsoft.com/office/powerpoint/2010/main" val="2480454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Views are always and only stored</a:t>
            </a:r>
            <a:r>
              <a:rPr lang="en-GB" baseline="0" dirty="0"/>
              <a:t> SELECT statements.</a:t>
            </a:r>
          </a:p>
          <a:p>
            <a:endParaRPr lang="en-GB" baseline="0" dirty="0"/>
          </a:p>
          <a:p>
            <a:r>
              <a:rPr lang="en-GB" baseline="0" dirty="0"/>
              <a:t>Stored procedures, also known as “stored procs” (pronounced to rhyme with “frocks”) or “SPs” are any stored set of SQL statements, which could be a query or could be some complex database update code.</a:t>
            </a:r>
          </a:p>
          <a:p>
            <a:endParaRPr lang="en-GB" baseline="0" dirty="0"/>
          </a:p>
          <a:p>
            <a:r>
              <a:rPr lang="en-GB" baseline="0" dirty="0"/>
              <a:t>SPs can accept parameters, which for a proc that returns records could be used to adjust the WHERE clause or for a proc that adds a new record to a table could be a list of the values to add.</a:t>
            </a:r>
          </a:p>
          <a:p>
            <a:endParaRPr lang="en-GB" baseline="0" dirty="0"/>
          </a:p>
          <a:p>
            <a:r>
              <a:rPr lang="en-GB" baseline="0" dirty="0"/>
              <a:t>Since SQL 2005 stored procedures can also be created using managed code such as C#</a:t>
            </a:r>
          </a:p>
          <a:p>
            <a:endParaRPr lang="en-GB" baseline="0" dirty="0"/>
          </a:p>
          <a:p>
            <a:r>
              <a:rPr lang="en-GB" sz="1800" dirty="0">
                <a:solidFill>
                  <a:srgbClr val="0000FF"/>
                </a:solidFill>
                <a:latin typeface="Consolas" panose="020B0609020204030204" pitchFamily="49" charset="0"/>
              </a:rPr>
              <a:t>CREATE</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PROCEDURE</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PremiumProducts</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AS</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ProductID</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dbo</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[Order Details]</a:t>
            </a:r>
          </a:p>
          <a:p>
            <a:r>
              <a:rPr lang="en-GB" sz="1800" dirty="0">
                <a:solidFill>
                  <a:srgbClr val="0000FF"/>
                </a:solidFill>
                <a:latin typeface="Consolas" panose="020B0609020204030204" pitchFamily="49" charset="0"/>
              </a:rPr>
              <a:t>GROUP</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BY</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ProductID</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HAVING</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SUM</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Quantity</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&gt;</a:t>
            </a:r>
            <a:r>
              <a:rPr lang="en-GB" sz="1800" dirty="0">
                <a:solidFill>
                  <a:srgbClr val="000000"/>
                </a:solidFill>
                <a:latin typeface="Consolas" panose="020B0609020204030204" pitchFamily="49" charset="0"/>
              </a:rPr>
              <a:t> 700</a:t>
            </a:r>
          </a:p>
          <a:p>
            <a:r>
              <a:rPr lang="en-GB" sz="1800" dirty="0">
                <a:solidFill>
                  <a:srgbClr val="0000FF"/>
                </a:solidFill>
                <a:latin typeface="Consolas" panose="020B0609020204030204" pitchFamily="49" charset="0"/>
              </a:rPr>
              <a:t>UNION</a:t>
            </a:r>
            <a:endParaRPr lang="en-GB" sz="1800" dirty="0">
              <a:solidFill>
                <a:srgbClr val="000000"/>
              </a:solidFill>
              <a:latin typeface="Consolas" panose="020B0609020204030204" pitchFamily="49" charset="0"/>
            </a:endParaRPr>
          </a:p>
          <a:p>
            <a:r>
              <a:rPr lang="en-GB" sz="1800" dirty="0" err="1">
                <a:solidFill>
                  <a:srgbClr val="0000FF"/>
                </a:solidFill>
                <a:latin typeface="Consolas" panose="020B0609020204030204" pitchFamily="49" charset="0"/>
              </a:rPr>
              <a:t>SELECT</a:t>
            </a:r>
            <a:r>
              <a:rPr lang="en-GB" sz="1800" dirty="0" err="1">
                <a:solidFill>
                  <a:srgbClr val="000000"/>
                </a:solidFill>
                <a:latin typeface="Consolas" panose="020B0609020204030204" pitchFamily="49" charset="0"/>
              </a:rPr>
              <a:t>ProductID</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FROM</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dbo</a:t>
            </a:r>
            <a:r>
              <a:rPr lang="en-GB" sz="1800" dirty="0" err="1">
                <a:solidFill>
                  <a:srgbClr val="808080"/>
                </a:solidFill>
                <a:latin typeface="Consolas" panose="020B0609020204030204" pitchFamily="49" charset="0"/>
              </a:rPr>
              <a:t>.</a:t>
            </a:r>
            <a:r>
              <a:rPr lang="en-GB" sz="1800" dirty="0" err="1">
                <a:solidFill>
                  <a:srgbClr val="000000"/>
                </a:solidFill>
                <a:latin typeface="Consolas" panose="020B0609020204030204" pitchFamily="49" charset="0"/>
              </a:rPr>
              <a:t>Products</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WHERE</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UnitPrice</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&gt;</a:t>
            </a:r>
            <a:r>
              <a:rPr lang="en-GB" sz="1800" dirty="0">
                <a:solidFill>
                  <a:srgbClr val="000000"/>
                </a:solidFill>
                <a:latin typeface="Consolas" panose="020B0609020204030204" pitchFamily="49" charset="0"/>
              </a:rPr>
              <a:t> 100</a:t>
            </a:r>
          </a:p>
          <a:p>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GO</a:t>
            </a:r>
            <a:r>
              <a:rPr lang="en-GB" sz="1800" dirty="0">
                <a:solidFill>
                  <a:srgbClr val="808080"/>
                </a:solidFill>
                <a:latin typeface="Consolas" panose="020B0609020204030204" pitchFamily="49" charset="0"/>
              </a:rPr>
              <a:t>;</a:t>
            </a:r>
            <a:endParaRPr lang="en-GB" b="0" i="0" dirty="0">
              <a:solidFill>
                <a:srgbClr val="000000"/>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000CD"/>
                </a:solidFill>
                <a:effectLst/>
                <a:latin typeface="Consolas" panose="020B0609020204030204" pitchFamily="49" charset="0"/>
              </a:rPr>
              <a:t>EXEC</a:t>
            </a:r>
            <a:r>
              <a:rPr lang="en-GB" b="0" i="0" dirty="0">
                <a:solidFill>
                  <a:srgbClr val="000000"/>
                </a:solidFill>
                <a:effectLst/>
                <a:latin typeface="Consolas" panose="020B0609020204030204" pitchFamily="49" charset="0"/>
              </a:rPr>
              <a:t> </a:t>
            </a:r>
            <a:r>
              <a:rPr lang="en-GB" sz="1200" dirty="0" err="1">
                <a:solidFill>
                  <a:srgbClr val="000000"/>
                </a:solidFill>
                <a:latin typeface="Consolas" panose="020B0609020204030204" pitchFamily="49" charset="0"/>
              </a:rPr>
              <a:t>PremiumProducts</a:t>
            </a:r>
            <a:r>
              <a:rPr lang="en-GB" sz="1200" dirty="0">
                <a:solidFill>
                  <a:srgbClr val="000000"/>
                </a:solidFill>
                <a:latin typeface="Consolas" panose="020B0609020204030204" pitchFamily="49" charset="0"/>
              </a:rPr>
              <a:t>;</a:t>
            </a:r>
          </a:p>
          <a:p>
            <a:endParaRPr lang="en-GB" dirty="0"/>
          </a:p>
        </p:txBody>
      </p:sp>
    </p:spTree>
    <p:extLst>
      <p:ext uri="{BB962C8B-B14F-4D97-AF65-F5344CB8AC3E}">
        <p14:creationId xmlns:p14="http://schemas.microsoft.com/office/powerpoint/2010/main" val="4259116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latin typeface="+mn-lt"/>
              </a:rPr>
              <a:t>We use the </a:t>
            </a:r>
            <a:r>
              <a:rPr lang="en-GB" sz="1200" i="1" dirty="0">
                <a:latin typeface="+mn-lt"/>
              </a:rPr>
              <a:t>EXECUTE</a:t>
            </a:r>
            <a:r>
              <a:rPr lang="en-GB" sz="1200" dirty="0">
                <a:latin typeface="+mn-lt"/>
              </a:rPr>
              <a:t> statement to call a stored procedure. The </a:t>
            </a:r>
            <a:r>
              <a:rPr lang="en-GB" sz="1200" i="1" dirty="0">
                <a:latin typeface="+mn-lt"/>
              </a:rPr>
              <a:t>EXECUTE</a:t>
            </a:r>
            <a:r>
              <a:rPr lang="en-GB" sz="1200" dirty="0">
                <a:latin typeface="+mn-lt"/>
              </a:rPr>
              <a:t> can be</a:t>
            </a:r>
            <a:r>
              <a:rPr lang="en-GB" sz="1200" baseline="0" dirty="0">
                <a:latin typeface="+mn-lt"/>
              </a:rPr>
              <a:t> and often is shortened to </a:t>
            </a:r>
            <a:r>
              <a:rPr lang="en-GB" sz="1200" i="1" baseline="0" dirty="0">
                <a:latin typeface="+mn-lt"/>
              </a:rPr>
              <a:t>EXEC</a:t>
            </a:r>
            <a:r>
              <a:rPr lang="en-GB" sz="1200" baseline="0" dirty="0">
                <a:latin typeface="+mn-lt"/>
              </a:rPr>
              <a:t>. This is then followed by the name of the SP and then any parameters that need to be passed to it.</a:t>
            </a:r>
          </a:p>
          <a:p>
            <a:r>
              <a:rPr lang="en-GB" sz="1200" baseline="0" dirty="0">
                <a:latin typeface="+mn-lt"/>
              </a:rPr>
              <a:t>In the first example on the slide, we are executing one of the </a:t>
            </a:r>
            <a:r>
              <a:rPr lang="en-GB" sz="1200" baseline="0" dirty="0" err="1">
                <a:latin typeface="+mn-lt"/>
              </a:rPr>
              <a:t>procs</a:t>
            </a:r>
            <a:r>
              <a:rPr lang="en-GB" sz="1200" baseline="0" dirty="0">
                <a:latin typeface="+mn-lt"/>
              </a:rPr>
              <a:t> in the </a:t>
            </a:r>
            <a:r>
              <a:rPr lang="en-GB" sz="1200" baseline="0" dirty="0" err="1">
                <a:latin typeface="+mn-lt"/>
              </a:rPr>
              <a:t>Northwind</a:t>
            </a:r>
            <a:r>
              <a:rPr lang="en-GB" sz="1200" baseline="0" dirty="0">
                <a:latin typeface="+mn-lt"/>
              </a:rPr>
              <a:t> database that effectively runs the following query:</a:t>
            </a:r>
          </a:p>
          <a:p>
            <a:endParaRPr lang="en-GB" sz="1200" baseline="0" dirty="0">
              <a:latin typeface="+mn-lt"/>
            </a:endParaRPr>
          </a:p>
          <a:p>
            <a:r>
              <a:rPr lang="en-GB" sz="1200" baseline="0" dirty="0">
                <a:latin typeface="+mn-lt"/>
                <a:cs typeface="Consolas" pitchFamily="49" charset="0"/>
              </a:rPr>
              <a:t>SELECT TOP 10 </a:t>
            </a:r>
            <a:r>
              <a:rPr lang="en-GB" sz="1200" baseline="0" dirty="0" err="1">
                <a:latin typeface="+mn-lt"/>
                <a:cs typeface="Consolas" pitchFamily="49" charset="0"/>
              </a:rPr>
              <a:t>ProductName</a:t>
            </a:r>
            <a:r>
              <a:rPr lang="en-GB" sz="1200" baseline="0" dirty="0">
                <a:latin typeface="+mn-lt"/>
                <a:cs typeface="Consolas" pitchFamily="49" charset="0"/>
              </a:rPr>
              <a:t>, </a:t>
            </a:r>
            <a:r>
              <a:rPr lang="en-GB" sz="1200" baseline="0" dirty="0" err="1">
                <a:latin typeface="+mn-lt"/>
                <a:cs typeface="Consolas" pitchFamily="49" charset="0"/>
              </a:rPr>
              <a:t>UnitPrice</a:t>
            </a:r>
            <a:r>
              <a:rPr lang="en-GB" sz="1200" baseline="0" dirty="0">
                <a:latin typeface="+mn-lt"/>
                <a:cs typeface="Consolas" pitchFamily="49" charset="0"/>
              </a:rPr>
              <a:t> FROM Products ORDER BY </a:t>
            </a:r>
            <a:r>
              <a:rPr lang="en-GB" sz="1200" baseline="0" dirty="0" err="1">
                <a:latin typeface="+mn-lt"/>
                <a:cs typeface="Consolas" pitchFamily="49" charset="0"/>
              </a:rPr>
              <a:t>UnitPrice</a:t>
            </a:r>
            <a:r>
              <a:rPr lang="en-GB" sz="1200" baseline="0" dirty="0">
                <a:latin typeface="+mn-lt"/>
                <a:cs typeface="Consolas" pitchFamily="49" charset="0"/>
              </a:rPr>
              <a:t> DESC</a:t>
            </a:r>
          </a:p>
          <a:p>
            <a:endParaRPr lang="en-GB" sz="1200" baseline="0" dirty="0">
              <a:latin typeface="+mn-lt"/>
            </a:endParaRPr>
          </a:p>
          <a:p>
            <a:r>
              <a:rPr lang="en-GB" sz="1200" baseline="0" dirty="0">
                <a:latin typeface="+mn-lt"/>
              </a:rPr>
              <a:t>In the second example on the slide, we are executing another of the sample </a:t>
            </a:r>
            <a:r>
              <a:rPr lang="en-GB" sz="1200" baseline="0" dirty="0" err="1">
                <a:latin typeface="+mn-lt"/>
              </a:rPr>
              <a:t>procs</a:t>
            </a:r>
            <a:r>
              <a:rPr lang="en-GB" sz="1200" baseline="0" dirty="0">
                <a:latin typeface="+mn-lt"/>
              </a:rPr>
              <a:t>. This one calculates the annual sales for products in a certain category, so we need to tell it which category we are interested in and also which year. We could get the same results by executing the </a:t>
            </a:r>
            <a:r>
              <a:rPr lang="en-GB" sz="1200" baseline="0" dirty="0" err="1">
                <a:latin typeface="+mn-lt"/>
              </a:rPr>
              <a:t>proc</a:t>
            </a:r>
            <a:r>
              <a:rPr lang="en-GB" sz="1200" baseline="0" dirty="0">
                <a:latin typeface="+mn-lt"/>
              </a:rPr>
              <a:t> in the following way:</a:t>
            </a:r>
          </a:p>
          <a:p>
            <a:endParaRPr lang="en-GB" sz="1200" baseline="0" dirty="0">
              <a:latin typeface="+mn-lt"/>
            </a:endParaRPr>
          </a:p>
          <a:p>
            <a:r>
              <a:rPr lang="en-GB" sz="1200" baseline="0" dirty="0">
                <a:latin typeface="+mn-lt"/>
                <a:cs typeface="Consolas" pitchFamily="49" charset="0"/>
              </a:rPr>
              <a:t>EXEC </a:t>
            </a:r>
            <a:r>
              <a:rPr lang="en-GB" sz="1200" baseline="0" dirty="0" err="1">
                <a:latin typeface="+mn-lt"/>
                <a:cs typeface="Consolas" pitchFamily="49" charset="0"/>
              </a:rPr>
              <a:t>dbo.SalesByCategory</a:t>
            </a:r>
            <a:r>
              <a:rPr lang="en-GB" sz="1200" baseline="0" dirty="0">
                <a:latin typeface="+mn-lt"/>
                <a:cs typeface="Consolas" pitchFamily="49" charset="0"/>
              </a:rPr>
              <a:t> @</a:t>
            </a:r>
            <a:r>
              <a:rPr lang="en-GB" sz="1200" baseline="0" dirty="0" err="1">
                <a:latin typeface="+mn-lt"/>
                <a:cs typeface="Consolas" pitchFamily="49" charset="0"/>
              </a:rPr>
              <a:t>CategoryName</a:t>
            </a:r>
            <a:r>
              <a:rPr lang="en-GB" sz="1200" baseline="0" dirty="0">
                <a:latin typeface="+mn-lt"/>
                <a:cs typeface="Consolas" pitchFamily="49" charset="0"/>
              </a:rPr>
              <a:t> = ‘Beverages’, @</a:t>
            </a:r>
            <a:r>
              <a:rPr lang="en-GB" sz="1200" baseline="0" dirty="0" err="1">
                <a:latin typeface="+mn-lt"/>
                <a:cs typeface="Consolas" pitchFamily="49" charset="0"/>
              </a:rPr>
              <a:t>OrdYear</a:t>
            </a:r>
            <a:r>
              <a:rPr lang="en-GB" sz="1200" baseline="0" dirty="0">
                <a:latin typeface="+mn-lt"/>
                <a:cs typeface="Consolas" pitchFamily="49" charset="0"/>
              </a:rPr>
              <a:t> = 1996</a:t>
            </a:r>
          </a:p>
          <a:p>
            <a:endParaRPr lang="en-GB" sz="1200" baseline="0" dirty="0">
              <a:latin typeface="+mn-lt"/>
            </a:endParaRPr>
          </a:p>
          <a:p>
            <a:r>
              <a:rPr lang="en-GB" sz="1200" baseline="0" dirty="0">
                <a:latin typeface="+mn-lt"/>
              </a:rPr>
              <a:t>The author of the </a:t>
            </a:r>
            <a:r>
              <a:rPr lang="en-GB" sz="1200" baseline="0" dirty="0" err="1">
                <a:latin typeface="+mn-lt"/>
              </a:rPr>
              <a:t>proc</a:t>
            </a:r>
            <a:r>
              <a:rPr lang="en-GB" sz="1200" baseline="0" dirty="0">
                <a:latin typeface="+mn-lt"/>
              </a:rPr>
              <a:t> has also defined a default value for the “</a:t>
            </a:r>
            <a:r>
              <a:rPr lang="en-GB" sz="1200" baseline="0" dirty="0" err="1">
                <a:latin typeface="+mn-lt"/>
              </a:rPr>
              <a:t>OrdYear</a:t>
            </a:r>
            <a:r>
              <a:rPr lang="en-GB" sz="1200" baseline="0" dirty="0">
                <a:latin typeface="+mn-lt"/>
              </a:rPr>
              <a:t>” parameter of 1998, so we could execute it:</a:t>
            </a:r>
          </a:p>
          <a:p>
            <a:endParaRPr lang="en-GB" sz="1200" baseline="0" dirty="0">
              <a:latin typeface="+mn-lt"/>
            </a:endParaRPr>
          </a:p>
          <a:p>
            <a:r>
              <a:rPr lang="en-GB" sz="1200" baseline="0" dirty="0">
                <a:latin typeface="+mn-lt"/>
                <a:cs typeface="Consolas" pitchFamily="49" charset="0"/>
              </a:rPr>
              <a:t>EXEC </a:t>
            </a:r>
            <a:r>
              <a:rPr lang="en-GB" sz="1200" baseline="0" dirty="0" err="1">
                <a:latin typeface="+mn-lt"/>
                <a:cs typeface="Consolas" pitchFamily="49" charset="0"/>
              </a:rPr>
              <a:t>dbo.SalesByCategory</a:t>
            </a:r>
            <a:r>
              <a:rPr lang="en-GB" sz="1200" baseline="0" dirty="0">
                <a:latin typeface="+mn-lt"/>
                <a:cs typeface="Consolas" pitchFamily="49" charset="0"/>
              </a:rPr>
              <a:t> @</a:t>
            </a:r>
            <a:r>
              <a:rPr lang="en-GB" sz="1200" baseline="0" dirty="0" err="1">
                <a:latin typeface="+mn-lt"/>
                <a:cs typeface="Consolas" pitchFamily="49" charset="0"/>
              </a:rPr>
              <a:t>CategoryName</a:t>
            </a:r>
            <a:r>
              <a:rPr lang="en-GB" sz="1200" baseline="0" dirty="0">
                <a:latin typeface="+mn-lt"/>
                <a:cs typeface="Consolas" pitchFamily="49" charset="0"/>
              </a:rPr>
              <a:t> = ‘Beverages’</a:t>
            </a:r>
          </a:p>
          <a:p>
            <a:endParaRPr lang="en-GB" sz="1200" baseline="0" dirty="0">
              <a:latin typeface="+mn-lt"/>
            </a:endParaRPr>
          </a:p>
          <a:p>
            <a:r>
              <a:rPr lang="en-GB" sz="1200" baseline="0" dirty="0">
                <a:latin typeface="+mn-lt"/>
              </a:rPr>
              <a:t>and get the sales for the beverages category for the year 1998</a:t>
            </a:r>
          </a:p>
        </p:txBody>
      </p:sp>
    </p:spTree>
    <p:extLst>
      <p:ext uri="{BB962C8B-B14F-4D97-AF65-F5344CB8AC3E}">
        <p14:creationId xmlns:p14="http://schemas.microsoft.com/office/powerpoint/2010/main" val="3312749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619717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61576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8515646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5645240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100000"/>
              </a:lnSpc>
              <a:spcAft>
                <a:spcPts val="0"/>
              </a:spcAft>
              <a:buFont typeface="Arial" panose="020B0604020202020204" pitchFamily="34" charset="0"/>
              <a:buNone/>
              <a:defRPr sz="3600" cap="none" baseline="0">
                <a:solidFill>
                  <a:srgbClr val="0BEEB7"/>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8989665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324657873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8855497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80951677"/>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10772761"/>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5658319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322734163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55" Type="http://schemas.openxmlformats.org/officeDocument/2006/relationships/slideLayout" Target="../slideLayouts/slideLayout82.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59" Type="http://schemas.openxmlformats.org/officeDocument/2006/relationships/image" Target="../media/image2.svg"/><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41" Type="http://schemas.openxmlformats.org/officeDocument/2006/relationships/slideLayout" Target="../slideLayouts/slideLayout68.xml"/><Relationship Id="rId54" Type="http://schemas.openxmlformats.org/officeDocument/2006/relationships/slideLayout" Target="../slideLayouts/slideLayout81.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3" Type="http://schemas.openxmlformats.org/officeDocument/2006/relationships/slideLayout" Target="../slideLayouts/slideLayout80.xml"/><Relationship Id="rId58" Type="http://schemas.openxmlformats.org/officeDocument/2006/relationships/image" Target="../media/image1.png"/><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57"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slideLayout" Target="../slideLayouts/slideLayout79.xml"/><Relationship Id="rId60" Type="http://schemas.openxmlformats.org/officeDocument/2006/relationships/image" Target="../media/image3.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56" Type="http://schemas.openxmlformats.org/officeDocument/2006/relationships/slideLayout" Target="../slideLayouts/slideLayout83.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image" Target="../media/image3.png"/><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image" Target="../media/image2.svg"/><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6" r:id="rId22"/>
    <p:sldLayoutId id="2147483927" r:id="rId23"/>
    <p:sldLayoutId id="2147483928" r:id="rId24"/>
    <p:sldLayoutId id="2147483929" r:id="rId25"/>
    <p:sldLayoutId id="2147483930" r:id="rId26"/>
    <p:sldLayoutId id="2147483931" r:id="rId27"/>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1"/>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1"/>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1"/>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1"/>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1"/>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Views and Stored Procedures</a:t>
            </a:r>
          </a:p>
        </p:txBody>
      </p:sp>
      <p:sp>
        <p:nvSpPr>
          <p:cNvPr id="4" name="Text Placeholder 3">
            <a:extLst>
              <a:ext uri="{FF2B5EF4-FFF2-40B4-BE49-F238E27FC236}">
                <a16:creationId xmlns:a16="http://schemas.microsoft.com/office/drawing/2014/main" id="{32AD7B17-1387-13EA-1D1B-D73EF3411170}"/>
              </a:ext>
            </a:extLst>
          </p:cNvPr>
          <p:cNvSpPr>
            <a:spLocks noGrp="1"/>
          </p:cNvSpPr>
          <p:nvPr>
            <p:ph type="body" sz="quarter" idx="10"/>
          </p:nvPr>
        </p:nvSpPr>
        <p:spPr/>
        <p:txBody>
          <a:bodyPr/>
          <a:lstStyle/>
          <a:p>
            <a:endParaRPr lang="en-GB"/>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2660"/>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a:xfrm>
            <a:off x="7398660" y="4180013"/>
            <a:ext cx="3534471" cy="1186921"/>
          </a:xfrm>
        </p:spPr>
        <p:txBody>
          <a:bodyPr/>
          <a:lstStyle/>
          <a:p>
            <a:pPr marL="285750" indent="-285750">
              <a:buFont typeface="Arial" panose="020B0604020202020204" pitchFamily="34" charset="0"/>
              <a:buChar char="•"/>
            </a:pPr>
            <a:r>
              <a:rPr lang="en-GB" dirty="0"/>
              <a:t>Views</a:t>
            </a:r>
          </a:p>
          <a:p>
            <a:pPr marL="285750" indent="-285750">
              <a:buFont typeface="Arial" panose="020B0604020202020204" pitchFamily="34" charset="0"/>
              <a:buChar char="•"/>
            </a:pPr>
            <a:r>
              <a:rPr lang="en-GB" dirty="0"/>
              <a:t>Using views</a:t>
            </a:r>
          </a:p>
          <a:p>
            <a:pPr marL="285750" indent="-285750">
              <a:buFont typeface="Arial" panose="020B0604020202020204" pitchFamily="34" charset="0"/>
              <a:buChar char="•"/>
            </a:pPr>
            <a:r>
              <a:rPr lang="en-GB" dirty="0"/>
              <a:t>Stored procedures</a:t>
            </a:r>
          </a:p>
          <a:p>
            <a:pPr marL="285750" indent="-285750">
              <a:buFont typeface="Arial" panose="020B0604020202020204" pitchFamily="34" charset="0"/>
              <a:buChar char="•"/>
            </a:pPr>
            <a:r>
              <a:rPr lang="en-GB" dirty="0"/>
              <a:t>Using stored procedures</a:t>
            </a:r>
          </a:p>
        </p:txBody>
      </p:sp>
      <p:sp>
        <p:nvSpPr>
          <p:cNvPr id="4" name="Title 4"/>
          <p:cNvSpPr>
            <a:spLocks noGrp="1"/>
          </p:cNvSpPr>
          <p:nvPr>
            <p:ph type="ctrTitle"/>
          </p:nvPr>
        </p:nvSpPr>
        <p:spPr/>
        <p:txBody>
          <a:bodyPr/>
          <a:lstStyle/>
          <a:p>
            <a:r>
              <a:rPr lang="en-GB" dirty="0"/>
              <a:t>Overview</a:t>
            </a:r>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2D2157-D66C-78E8-0DC6-D0E830CCC2B1}"/>
              </a:ext>
            </a:extLst>
          </p:cNvPr>
          <p:cNvSpPr>
            <a:spLocks noGrp="1"/>
          </p:cNvSpPr>
          <p:nvPr>
            <p:ph type="ctrTitle"/>
          </p:nvPr>
        </p:nvSpPr>
        <p:spPr/>
        <p:txBody>
          <a:bodyPr/>
          <a:lstStyle/>
          <a:p>
            <a:r>
              <a:rPr lang="en-GB" dirty="0"/>
              <a:t>OBJECTIVES</a:t>
            </a:r>
          </a:p>
        </p:txBody>
      </p:sp>
      <p:sp>
        <p:nvSpPr>
          <p:cNvPr id="3" name="Text Placeholder 2"/>
          <p:cNvSpPr>
            <a:spLocks noGrp="1"/>
          </p:cNvSpPr>
          <p:nvPr>
            <p:ph type="body" sz="quarter" idx="4294967295"/>
          </p:nvPr>
        </p:nvSpPr>
        <p:spPr>
          <a:xfrm>
            <a:off x="5421313" y="1349375"/>
            <a:ext cx="6770687" cy="5119688"/>
          </a:xfrm>
        </p:spPr>
        <p:txBody>
          <a:bodyPr/>
          <a:lstStyle/>
          <a:p>
            <a:pPr marL="0" indent="0">
              <a:buNone/>
            </a:pPr>
            <a:r>
              <a:rPr lang="en-GB" b="1" dirty="0"/>
              <a:t>At the end of this module you will be able to:</a:t>
            </a:r>
          </a:p>
          <a:p>
            <a:pPr lvl="1"/>
            <a:endParaRPr lang="en-GB" sz="1400" dirty="0"/>
          </a:p>
          <a:p>
            <a:pPr lvl="1">
              <a:buSzPct val="115000"/>
              <a:buFont typeface="Arial" panose="020B0604020202020204" pitchFamily="34" charset="0"/>
              <a:buChar char="•"/>
            </a:pPr>
            <a:r>
              <a:rPr lang="en-GB" sz="1400" dirty="0"/>
              <a:t>use a predefined view</a:t>
            </a:r>
          </a:p>
          <a:p>
            <a:pPr lvl="1">
              <a:buSzPct val="115000"/>
              <a:buFont typeface="Arial" panose="020B0604020202020204" pitchFamily="34" charset="0"/>
              <a:buChar char="•"/>
            </a:pPr>
            <a:r>
              <a:rPr lang="en-GB" sz="1400" dirty="0"/>
              <a:t>create a simple view</a:t>
            </a:r>
          </a:p>
          <a:p>
            <a:pPr lvl="1">
              <a:buSzPct val="115000"/>
              <a:buFont typeface="Arial" panose="020B0604020202020204" pitchFamily="34" charset="0"/>
              <a:buChar char="•"/>
            </a:pPr>
            <a:r>
              <a:rPr lang="en-GB" sz="1400" dirty="0"/>
              <a:t>use a predefined stored procedure</a:t>
            </a:r>
          </a:p>
        </p:txBody>
      </p:sp>
    </p:spTree>
    <p:extLst>
      <p:ext uri="{BB962C8B-B14F-4D97-AF65-F5344CB8AC3E}">
        <p14:creationId xmlns:p14="http://schemas.microsoft.com/office/powerpoint/2010/main" val="172429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Views</a:t>
            </a:r>
          </a:p>
        </p:txBody>
      </p:sp>
    </p:spTree>
    <p:extLst>
      <p:ext uri="{BB962C8B-B14F-4D97-AF65-F5344CB8AC3E}">
        <p14:creationId xmlns:p14="http://schemas.microsoft.com/office/powerpoint/2010/main" val="226527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Views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Stored select statements</a:t>
            </a:r>
          </a:p>
          <a:p>
            <a:pPr marL="342900" indent="-342900">
              <a:buFont typeface="Arial" panose="020B0604020202020204" pitchFamily="34" charset="0"/>
              <a:buChar char="•"/>
            </a:pPr>
            <a:r>
              <a:rPr lang="en-GB" b="1" dirty="0"/>
              <a:t>Act just like tables</a:t>
            </a:r>
          </a:p>
          <a:p>
            <a:pPr marL="342900" indent="-342900">
              <a:buFont typeface="Arial" panose="020B0604020202020204" pitchFamily="34" charset="0"/>
              <a:buChar char="•"/>
            </a:pPr>
            <a:r>
              <a:rPr lang="en-GB" b="1" dirty="0"/>
              <a:t>Benefits:</a:t>
            </a:r>
          </a:p>
          <a:p>
            <a:pPr marL="684000" lvl="1" indent="-342900">
              <a:buSzPct val="115000"/>
              <a:buFont typeface="Arial" panose="020B0604020202020204" pitchFamily="34" charset="0"/>
              <a:buChar char="•"/>
            </a:pPr>
            <a:r>
              <a:rPr lang="en-GB" sz="1400" dirty="0"/>
              <a:t>Reusable</a:t>
            </a:r>
          </a:p>
          <a:p>
            <a:pPr marL="684000" lvl="1" indent="-342900">
              <a:buSzPct val="115000"/>
              <a:buFont typeface="Arial" panose="020B0604020202020204" pitchFamily="34" charset="0"/>
              <a:buChar char="•"/>
            </a:pPr>
            <a:r>
              <a:rPr lang="en-GB" sz="1400" dirty="0"/>
              <a:t>Simplify complex queries</a:t>
            </a:r>
          </a:p>
          <a:p>
            <a:pPr marL="684000" lvl="1" indent="-342900">
              <a:buSzPct val="115000"/>
              <a:buFont typeface="Arial" panose="020B0604020202020204" pitchFamily="34" charset="0"/>
              <a:buChar char="•"/>
            </a:pPr>
            <a:r>
              <a:rPr lang="en-GB" sz="1400" dirty="0"/>
              <a:t>Limit access to sensitive data</a:t>
            </a:r>
          </a:p>
          <a:p>
            <a:endParaRPr lang="en-IN" dirty="0"/>
          </a:p>
        </p:txBody>
      </p:sp>
    </p:spTree>
    <p:extLst>
      <p:ext uri="{BB962C8B-B14F-4D97-AF65-F5344CB8AC3E}">
        <p14:creationId xmlns:p14="http://schemas.microsoft.com/office/powerpoint/2010/main" val="419654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Using views</a:t>
            </a:r>
            <a:endParaRPr lang="en-IN" dirty="0"/>
          </a:p>
        </p:txBody>
      </p:sp>
    </p:spTree>
    <p:extLst>
      <p:ext uri="{BB962C8B-B14F-4D97-AF65-F5344CB8AC3E}">
        <p14:creationId xmlns:p14="http://schemas.microsoft.com/office/powerpoint/2010/main" val="957068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a:stCxn id="4" idx="2"/>
            <a:endCxn id="6" idx="2"/>
          </p:cNvCxnSpPr>
          <p:nvPr/>
        </p:nvCxnSpPr>
        <p:spPr bwMode="auto">
          <a:xfrm>
            <a:off x="3773636" y="6254458"/>
            <a:ext cx="4000914" cy="505222"/>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0" name="Straight Connector 9"/>
          <p:cNvCxnSpPr>
            <a:stCxn id="5" idx="3"/>
            <a:endCxn id="6" idx="3"/>
          </p:cNvCxnSpPr>
          <p:nvPr/>
        </p:nvCxnSpPr>
        <p:spPr bwMode="auto">
          <a:xfrm flipH="1">
            <a:off x="9516895" y="2622696"/>
            <a:ext cx="980984" cy="277991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 name="Title 1"/>
          <p:cNvSpPr>
            <a:spLocks noGrp="1"/>
          </p:cNvSpPr>
          <p:nvPr>
            <p:ph type="title"/>
          </p:nvPr>
        </p:nvSpPr>
        <p:spPr>
          <a:xfrm>
            <a:off x="814424" y="886040"/>
            <a:ext cx="11517818" cy="805001"/>
          </a:xfrm>
        </p:spPr>
        <p:txBody>
          <a:bodyPr/>
          <a:lstStyle/>
          <a:p>
            <a:r>
              <a:rPr lang="en-GB" dirty="0"/>
              <a:t>Using views</a:t>
            </a:r>
          </a:p>
        </p:txBody>
      </p:sp>
      <p:sp>
        <p:nvSpPr>
          <p:cNvPr id="4" name="Rectangle 3"/>
          <p:cNvSpPr>
            <a:spLocks noChangeArrowheads="1"/>
          </p:cNvSpPr>
          <p:nvPr/>
        </p:nvSpPr>
        <p:spPr bwMode="auto">
          <a:xfrm>
            <a:off x="1809234" y="1545477"/>
            <a:ext cx="3928803" cy="4708981"/>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dbo.Products</a:t>
            </a:r>
            <a:r>
              <a:rPr lang="en-GB" sz="2000" dirty="0">
                <a:latin typeface="Lucida Console" pitchFamily="49" charset="0"/>
              </a:rPr>
              <a:t> AS p</a:t>
            </a:r>
            <a:br>
              <a:rPr lang="en-GB" sz="2000" dirty="0">
                <a:latin typeface="Lucida Console" pitchFamily="49" charset="0"/>
              </a:rPr>
            </a:br>
            <a:r>
              <a:rPr lang="en-GB" sz="2000" dirty="0">
                <a:latin typeface="Lucida Console" pitchFamily="49" charset="0"/>
              </a:rPr>
              <a:t>JOIN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dbo.Categories</a:t>
            </a:r>
            <a:r>
              <a:rPr lang="en-GB" sz="2000" dirty="0">
                <a:latin typeface="Lucida Console" pitchFamily="49" charset="0"/>
              </a:rPr>
              <a:t> AS c</a:t>
            </a:r>
            <a:br>
              <a:rPr lang="en-GB" sz="2000" dirty="0">
                <a:latin typeface="Lucida Console" pitchFamily="49" charset="0"/>
              </a:rPr>
            </a:br>
            <a:r>
              <a:rPr lang="en-GB" sz="2000" dirty="0">
                <a:latin typeface="Lucida Console" pitchFamily="49" charset="0"/>
              </a:rPr>
              <a:t>ON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p.CategoryID</a:t>
            </a:r>
            <a:r>
              <a:rPr lang="en-GB" sz="2000" dirty="0">
                <a:latin typeface="Lucida Console" pitchFamily="49" charset="0"/>
              </a:rPr>
              <a:t> = </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c.CategoryID</a:t>
            </a:r>
            <a:br>
              <a:rPr lang="en-GB" sz="2000" dirty="0">
                <a:latin typeface="Lucida Console" pitchFamily="49" charset="0"/>
              </a:rPr>
            </a:br>
            <a:r>
              <a:rPr lang="en-GB" sz="2000" dirty="0">
                <a:latin typeface="Lucida Console" pitchFamily="49" charset="0"/>
              </a:rPr>
              <a:t>WHERE</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p.Discontinued</a:t>
            </a:r>
            <a:r>
              <a:rPr lang="en-GB" sz="2000" dirty="0">
                <a:latin typeface="Lucida Console" pitchFamily="49" charset="0"/>
              </a:rPr>
              <a:t> = 0</a:t>
            </a:r>
            <a:br>
              <a:rPr lang="en-GB" sz="2000" dirty="0">
                <a:latin typeface="Lucida Console" pitchFamily="49" charset="0"/>
              </a:rPr>
            </a:br>
            <a:r>
              <a:rPr lang="en-GB" sz="2000" dirty="0">
                <a:latin typeface="Lucida Console" pitchFamily="49" charset="0"/>
              </a:rPr>
              <a:t>ORDER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endParaRPr lang="en-GB" sz="2000" dirty="0">
              <a:latin typeface="Lucida Console" pitchFamily="49" charset="0"/>
            </a:endParaRPr>
          </a:p>
        </p:txBody>
      </p:sp>
      <p:sp>
        <p:nvSpPr>
          <p:cNvPr id="5" name="Rectangle 4"/>
          <p:cNvSpPr>
            <a:spLocks noChangeArrowheads="1"/>
          </p:cNvSpPr>
          <p:nvPr/>
        </p:nvSpPr>
        <p:spPr bwMode="auto">
          <a:xfrm>
            <a:off x="6032205" y="1345423"/>
            <a:ext cx="4465674" cy="2554545"/>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a:t>
            </a:r>
            <a:r>
              <a:rPr lang="en-GB" sz="2000" dirty="0">
                <a:latin typeface="Lucida Console" pitchFamily="49" charset="0"/>
              </a:rPr>
              <a:t>.[Products by Category]</a:t>
            </a:r>
            <a:br>
              <a:rPr lang="en-GB" sz="2000" dirty="0">
                <a:latin typeface="Lucida Console" pitchFamily="49" charset="0"/>
              </a:rPr>
            </a:br>
            <a:r>
              <a:rPr lang="en-GB" sz="2000" dirty="0">
                <a:latin typeface="Lucida Console" pitchFamily="49" charset="0"/>
              </a:rPr>
              <a:t>ORDER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CategoryName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ProductName</a:t>
            </a:r>
            <a:endParaRPr lang="en-GB" sz="2000" dirty="0">
              <a:latin typeface="Lucida Console" pitchFamily="49"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32205" y="4045532"/>
            <a:ext cx="3484690" cy="2714148"/>
          </a:xfrm>
          <a:prstGeom prst="rect">
            <a:avLst/>
          </a:prstGeom>
        </p:spPr>
      </p:pic>
    </p:spTree>
    <p:extLst>
      <p:ext uri="{BB962C8B-B14F-4D97-AF65-F5344CB8AC3E}">
        <p14:creationId xmlns:p14="http://schemas.microsoft.com/office/powerpoint/2010/main" val="334831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841345"/>
            <a:ext cx="11517818" cy="805001"/>
          </a:xfrm>
        </p:spPr>
        <p:txBody>
          <a:bodyPr/>
          <a:lstStyle/>
          <a:p>
            <a:r>
              <a:rPr lang="en-GB" dirty="0"/>
              <a:t>Using views (2)</a:t>
            </a:r>
          </a:p>
        </p:txBody>
      </p:sp>
      <p:sp>
        <p:nvSpPr>
          <p:cNvPr id="4" name="Rectangle 3"/>
          <p:cNvSpPr>
            <a:spLocks noChangeArrowheads="1"/>
          </p:cNvSpPr>
          <p:nvPr/>
        </p:nvSpPr>
        <p:spPr bwMode="auto">
          <a:xfrm>
            <a:off x="1684664" y="1828502"/>
            <a:ext cx="5635256" cy="3785652"/>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SELECT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p.ProductID</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p.ProductName</a:t>
            </a:r>
            <a:r>
              <a:rPr lang="en-GB" sz="2000" dirty="0">
                <a:latin typeface="Lucida Console" pitchFamily="49" charset="0"/>
              </a:rPr>
              <a:t>,</a:t>
            </a:r>
            <a:br>
              <a:rPr lang="en-GB" sz="2000" dirty="0">
                <a:latin typeface="Lucida Console" pitchFamily="49" charset="0"/>
              </a:rPr>
            </a:br>
            <a:r>
              <a:rPr lang="en-GB" sz="2000" dirty="0">
                <a:latin typeface="Lucida Console" pitchFamily="49" charset="0"/>
              </a:rPr>
              <a:t>  SUM(Quantity) AS </a:t>
            </a:r>
            <a:r>
              <a:rPr lang="en-GB" sz="2000" dirty="0" err="1">
                <a:latin typeface="Lucida Console" pitchFamily="49" charset="0"/>
              </a:rPr>
              <a:t>TotalSales</a:t>
            </a:r>
            <a:br>
              <a:rPr lang="en-GB" sz="2000" dirty="0">
                <a:latin typeface="Lucida Console" pitchFamily="49" charset="0"/>
              </a:rPr>
            </a:br>
            <a:r>
              <a:rPr lang="en-GB" sz="2000" dirty="0">
                <a:latin typeface="Lucida Console" pitchFamily="49" charset="0"/>
              </a:rPr>
              <a:t>FROM</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a:t>
            </a:r>
            <a:r>
              <a:rPr lang="en-GB" sz="2000" dirty="0">
                <a:latin typeface="Lucida Console" pitchFamily="49" charset="0"/>
              </a:rPr>
              <a:t>.[Current Product List] AS p</a:t>
            </a:r>
            <a:br>
              <a:rPr lang="en-GB" sz="2000" dirty="0">
                <a:latin typeface="Lucida Console" pitchFamily="49" charset="0"/>
              </a:rPr>
            </a:br>
            <a:r>
              <a:rPr lang="en-GB" sz="2000" dirty="0">
                <a:latin typeface="Lucida Console" pitchFamily="49" charset="0"/>
              </a:rPr>
              <a:t>JOIN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dbo</a:t>
            </a:r>
            <a:r>
              <a:rPr lang="en-GB" sz="2000" dirty="0">
                <a:latin typeface="Lucida Console" pitchFamily="49" charset="0"/>
              </a:rPr>
              <a:t>.[Order Details] AS od</a:t>
            </a:r>
            <a:br>
              <a:rPr lang="en-GB" sz="2000" dirty="0">
                <a:latin typeface="Lucida Console" pitchFamily="49" charset="0"/>
              </a:rPr>
            </a:br>
            <a:r>
              <a:rPr lang="en-GB" sz="2000" dirty="0">
                <a:latin typeface="Lucida Console" pitchFamily="49" charset="0"/>
              </a:rPr>
              <a:t>ON</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p.ProductID</a:t>
            </a:r>
            <a:r>
              <a:rPr lang="en-GB" sz="2000" dirty="0">
                <a:latin typeface="Lucida Console" pitchFamily="49" charset="0"/>
              </a:rPr>
              <a:t> = </a:t>
            </a:r>
            <a:r>
              <a:rPr lang="en-GB" sz="2000" dirty="0" err="1">
                <a:latin typeface="Lucida Console" pitchFamily="49" charset="0"/>
              </a:rPr>
              <a:t>od.ProductID</a:t>
            </a:r>
            <a:br>
              <a:rPr lang="en-GB" sz="2000" dirty="0">
                <a:latin typeface="Lucida Console" pitchFamily="49" charset="0"/>
              </a:rPr>
            </a:br>
            <a:r>
              <a:rPr lang="en-GB" sz="2000" dirty="0">
                <a:latin typeface="Lucida Console" pitchFamily="49" charset="0"/>
              </a:rPr>
              <a:t>GROUP BY</a:t>
            </a:r>
            <a:br>
              <a:rPr lang="en-GB" sz="2000" dirty="0">
                <a:latin typeface="Lucida Console" pitchFamily="49" charset="0"/>
              </a:rPr>
            </a:br>
            <a:r>
              <a:rPr lang="en-GB" sz="2000" dirty="0">
                <a:latin typeface="Lucida Console" pitchFamily="49" charset="0"/>
              </a:rPr>
              <a:t>  </a:t>
            </a:r>
            <a:r>
              <a:rPr lang="en-GB" sz="2000" dirty="0" err="1">
                <a:latin typeface="Lucida Console" pitchFamily="49" charset="0"/>
              </a:rPr>
              <a:t>p.ProductID</a:t>
            </a:r>
            <a:r>
              <a:rPr lang="en-GB" sz="2000" dirty="0">
                <a:latin typeface="Lucida Console" pitchFamily="49" charset="0"/>
              </a:rPr>
              <a:t>, </a:t>
            </a:r>
            <a:r>
              <a:rPr lang="en-GB" sz="2000" dirty="0" err="1">
                <a:latin typeface="Lucida Console" pitchFamily="49" charset="0"/>
              </a:rPr>
              <a:t>p.ProductName</a:t>
            </a:r>
            <a:endParaRPr lang="en-GB" sz="2000" dirty="0">
              <a:latin typeface="Lucida Console" pitchFamily="49"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49339" y="3902339"/>
            <a:ext cx="3899537" cy="2749231"/>
          </a:xfrm>
          <a:prstGeom prst="rect">
            <a:avLst/>
          </a:prstGeom>
          <a:ln w="63500">
            <a:solidFill>
              <a:schemeClr val="bg1"/>
            </a:solidFill>
          </a:ln>
        </p:spPr>
      </p:pic>
    </p:spTree>
    <p:extLst>
      <p:ext uri="{BB962C8B-B14F-4D97-AF65-F5344CB8AC3E}">
        <p14:creationId xmlns:p14="http://schemas.microsoft.com/office/powerpoint/2010/main" val="1085861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Stored procedures</a:t>
            </a:r>
            <a:endParaRPr lang="en-IN" dirty="0"/>
          </a:p>
        </p:txBody>
      </p:sp>
    </p:spTree>
    <p:extLst>
      <p:ext uri="{BB962C8B-B14F-4D97-AF65-F5344CB8AC3E}">
        <p14:creationId xmlns:p14="http://schemas.microsoft.com/office/powerpoint/2010/main" val="225769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t>Stored procedures</a:t>
            </a:r>
            <a:endParaRPr lang="en-IN" dirty="0"/>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Set of SQL statements stored in the database</a:t>
            </a:r>
          </a:p>
          <a:p>
            <a:pPr marL="342900" indent="-342900">
              <a:buFont typeface="Arial" panose="020B0604020202020204" pitchFamily="34" charset="0"/>
              <a:buChar char="•"/>
            </a:pPr>
            <a:r>
              <a:rPr lang="en-GB" b="1" dirty="0"/>
              <a:t>Can accept parameters</a:t>
            </a:r>
          </a:p>
          <a:p>
            <a:pPr marL="342900" indent="-342900">
              <a:buFont typeface="Arial" panose="020B0604020202020204" pitchFamily="34" charset="0"/>
              <a:buChar char="•"/>
            </a:pPr>
            <a:r>
              <a:rPr lang="en-GB" b="1" dirty="0"/>
              <a:t>Can return records</a:t>
            </a:r>
          </a:p>
          <a:p>
            <a:pPr marL="342900" indent="-342900">
              <a:buFont typeface="Arial" panose="020B0604020202020204" pitchFamily="34" charset="0"/>
              <a:buChar char="•"/>
            </a:pPr>
            <a:r>
              <a:rPr lang="en-GB" b="1" dirty="0"/>
              <a:t>Can modify the database</a:t>
            </a:r>
          </a:p>
          <a:p>
            <a:pPr marL="342900" indent="-342900">
              <a:buFont typeface="Arial" panose="020B0604020202020204" pitchFamily="34" charset="0"/>
              <a:buChar char="•"/>
            </a:pPr>
            <a:r>
              <a:rPr lang="en-GB" b="1" dirty="0"/>
              <a:t>Can perform complex logic</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4060459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Using stored procedures</a:t>
            </a:r>
            <a:endParaRPr lang="en-IN" dirty="0"/>
          </a:p>
        </p:txBody>
      </p:sp>
    </p:spTree>
    <p:extLst>
      <p:ext uri="{BB962C8B-B14F-4D97-AF65-F5344CB8AC3E}">
        <p14:creationId xmlns:p14="http://schemas.microsoft.com/office/powerpoint/2010/main" val="4097466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182" y="932144"/>
            <a:ext cx="11517818" cy="805001"/>
          </a:xfrm>
        </p:spPr>
        <p:txBody>
          <a:bodyPr/>
          <a:lstStyle/>
          <a:p>
            <a:r>
              <a:rPr lang="en-GB" dirty="0"/>
              <a:t>Using stored procedures</a:t>
            </a:r>
          </a:p>
        </p:txBody>
      </p:sp>
      <p:sp>
        <p:nvSpPr>
          <p:cNvPr id="3" name="Content Placeholder 2"/>
          <p:cNvSpPr>
            <a:spLocks noGrp="1"/>
          </p:cNvSpPr>
          <p:nvPr>
            <p:ph idx="1"/>
          </p:nvPr>
        </p:nvSpPr>
        <p:spPr>
          <a:xfrm>
            <a:off x="341272" y="1737144"/>
            <a:ext cx="11516239" cy="4586465"/>
          </a:xfrm>
        </p:spPr>
        <p:txBody>
          <a:bodyPr/>
          <a:lstStyle/>
          <a:p>
            <a:pPr marL="342900" indent="-342900">
              <a:buFont typeface="Arial" panose="020B0604020202020204" pitchFamily="34" charset="0"/>
              <a:buChar char="•"/>
            </a:pPr>
            <a:r>
              <a:rPr lang="en-GB" b="1" dirty="0"/>
              <a:t>EXECUTE</a:t>
            </a:r>
            <a:r>
              <a:rPr lang="en-GB" dirty="0"/>
              <a:t> </a:t>
            </a:r>
            <a:r>
              <a:rPr lang="en-GB" b="0" i="1" dirty="0"/>
              <a:t>&lt;&lt;procedure-name&gt;&gt;</a:t>
            </a:r>
            <a:endParaRPr lang="en-GB" dirty="0"/>
          </a:p>
          <a:p>
            <a:pPr marL="342900" indent="-342900">
              <a:buFont typeface="Arial" panose="020B0604020202020204" pitchFamily="34" charset="0"/>
              <a:buChar char="•"/>
            </a:pPr>
            <a:r>
              <a:rPr lang="en-GB" b="1" dirty="0"/>
              <a:t>EXEC</a:t>
            </a:r>
            <a:r>
              <a:rPr lang="en-GB" dirty="0"/>
              <a:t> </a:t>
            </a:r>
            <a:r>
              <a:rPr lang="en-GB" b="0" i="1" dirty="0"/>
              <a:t>&lt;&lt;procedure-name&gt;&gt; param1</a:t>
            </a:r>
            <a:r>
              <a:rPr lang="en-GB" b="0" dirty="0"/>
              <a:t>, …, </a:t>
            </a:r>
            <a:r>
              <a:rPr lang="en-GB" b="0" i="1" dirty="0" err="1"/>
              <a:t>paramN</a:t>
            </a:r>
            <a:endParaRPr lang="en-GB" i="1" dirty="0"/>
          </a:p>
        </p:txBody>
      </p:sp>
      <p:sp>
        <p:nvSpPr>
          <p:cNvPr id="5" name="Rectangle 4"/>
          <p:cNvSpPr>
            <a:spLocks noChangeArrowheads="1"/>
          </p:cNvSpPr>
          <p:nvPr/>
        </p:nvSpPr>
        <p:spPr bwMode="auto">
          <a:xfrm>
            <a:off x="1767131" y="2726019"/>
            <a:ext cx="6188149" cy="400110"/>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EXEC </a:t>
            </a:r>
            <a:r>
              <a:rPr lang="en-GB" sz="2000" dirty="0" err="1">
                <a:latin typeface="Lucida Console" pitchFamily="49" charset="0"/>
              </a:rPr>
              <a:t>dbo</a:t>
            </a:r>
            <a:r>
              <a:rPr lang="en-GB" sz="2000" dirty="0">
                <a:latin typeface="Lucida Console" pitchFamily="49" charset="0"/>
              </a:rPr>
              <a:t>.[Ten Most Expensive Products]</a:t>
            </a:r>
          </a:p>
        </p:txBody>
      </p:sp>
      <p:sp>
        <p:nvSpPr>
          <p:cNvPr id="6" name="Rectangle 5"/>
          <p:cNvSpPr>
            <a:spLocks noChangeArrowheads="1"/>
          </p:cNvSpPr>
          <p:nvPr/>
        </p:nvSpPr>
        <p:spPr bwMode="auto">
          <a:xfrm>
            <a:off x="1812852" y="4305552"/>
            <a:ext cx="3976577" cy="707886"/>
          </a:xfrm>
          <a:prstGeom prst="rect">
            <a:avLst/>
          </a:prstGeom>
          <a:solidFill>
            <a:schemeClr val="bg1">
              <a:lumMod val="85000"/>
            </a:schemeClr>
          </a:solidFill>
          <a:ln w="9525">
            <a:solidFill>
              <a:schemeClr val="tx1"/>
            </a:solidFill>
            <a:miter lim="800000"/>
            <a:headEnd/>
            <a:tailEnd/>
          </a:ln>
        </p:spPr>
        <p:txBody>
          <a:bodyPr wrap="square">
            <a:spAutoFit/>
          </a:bodyPr>
          <a:lstStyle/>
          <a:p>
            <a:r>
              <a:rPr lang="en-GB" sz="2000" dirty="0">
                <a:latin typeface="Lucida Console" pitchFamily="49" charset="0"/>
              </a:rPr>
              <a:t>EXEC </a:t>
            </a:r>
            <a:r>
              <a:rPr lang="en-GB" sz="2000" dirty="0" err="1">
                <a:latin typeface="Lucida Console" pitchFamily="49" charset="0"/>
              </a:rPr>
              <a:t>dbo.SalesByCategory</a:t>
            </a:r>
            <a:r>
              <a:rPr lang="en-GB" sz="2000" dirty="0">
                <a:latin typeface="Lucida Console" pitchFamily="49" charset="0"/>
              </a:rPr>
              <a:t> </a:t>
            </a:r>
            <a:br>
              <a:rPr lang="en-GB" sz="2000" dirty="0">
                <a:latin typeface="Lucida Console" pitchFamily="49" charset="0"/>
              </a:rPr>
            </a:br>
            <a:r>
              <a:rPr lang="en-GB" sz="2000" dirty="0">
                <a:latin typeface="Lucida Console" pitchFamily="49" charset="0"/>
              </a:rPr>
              <a:t>  ‘Beverages’, 1996</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4423" y="4867627"/>
            <a:ext cx="3051682" cy="1690337"/>
          </a:xfrm>
          <a:prstGeom prst="rect">
            <a:avLst/>
          </a:prstGeom>
          <a:ln w="63500">
            <a:solidFill>
              <a:schemeClr val="bg1"/>
            </a:solidFill>
          </a:ln>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1290" y="2981928"/>
            <a:ext cx="2792290" cy="1637206"/>
          </a:xfrm>
          <a:prstGeom prst="rect">
            <a:avLst/>
          </a:prstGeom>
          <a:ln w="63500">
            <a:solidFill>
              <a:schemeClr val="bg1"/>
            </a:solidFill>
          </a:ln>
        </p:spPr>
      </p:pic>
    </p:spTree>
    <p:extLst>
      <p:ext uri="{BB962C8B-B14F-4D97-AF65-F5344CB8AC3E}">
        <p14:creationId xmlns:p14="http://schemas.microsoft.com/office/powerpoint/2010/main" val="627570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AE58C-E760-5963-3662-E8BC7163FE0B}"/>
              </a:ext>
            </a:extLst>
          </p:cNvPr>
          <p:cNvSpPr>
            <a:spLocks noGrp="1"/>
          </p:cNvSpPr>
          <p:nvPr>
            <p:ph type="ctrTitle"/>
          </p:nvPr>
        </p:nvSpPr>
        <p:spPr/>
        <p:txBody>
          <a:bodyPr/>
          <a:lstStyle/>
          <a:p>
            <a:r>
              <a:rPr lang="en-GB" dirty="0"/>
              <a:t>HANDS-ON LAB</a:t>
            </a:r>
            <a:br>
              <a:rPr lang="en-IN" dirty="0"/>
            </a:br>
            <a:endParaRPr lang="en-GB" dirty="0"/>
          </a:p>
        </p:txBody>
      </p:sp>
      <p:sp>
        <p:nvSpPr>
          <p:cNvPr id="4" name="Text Placeholder 3"/>
          <p:cNvSpPr>
            <a:spLocks noGrp="1"/>
          </p:cNvSpPr>
          <p:nvPr>
            <p:ph type="body" sz="quarter" idx="10"/>
          </p:nvPr>
        </p:nvSpPr>
        <p:spPr/>
        <p:txBody>
          <a:bodyPr/>
          <a:lstStyle/>
          <a:p>
            <a:pPr marL="342900" indent="-342900">
              <a:buFont typeface="Arial" panose="020B0604020202020204" pitchFamily="34" charset="0"/>
              <a:buChar char="•"/>
            </a:pPr>
            <a:r>
              <a:rPr lang="en-GB" b="1" dirty="0"/>
              <a:t>Using views</a:t>
            </a:r>
          </a:p>
          <a:p>
            <a:pPr marL="342900" indent="-342900">
              <a:buFont typeface="Arial" panose="020B0604020202020204" pitchFamily="34" charset="0"/>
              <a:buChar char="•"/>
            </a:pPr>
            <a:r>
              <a:rPr lang="en-GB" b="1" dirty="0"/>
              <a:t>Creating views</a:t>
            </a:r>
          </a:p>
          <a:p>
            <a:pPr marL="342900" indent="-342900">
              <a:buFont typeface="Arial" panose="020B0604020202020204" pitchFamily="34" charset="0"/>
              <a:buChar char="•"/>
            </a:pPr>
            <a:r>
              <a:rPr lang="en-GB" b="1" dirty="0"/>
              <a:t>Using stored procedures</a:t>
            </a:r>
          </a:p>
          <a:p>
            <a:endParaRPr lang="en-IN" dirty="0"/>
          </a:p>
        </p:txBody>
      </p:sp>
    </p:spTree>
    <p:extLst>
      <p:ext uri="{BB962C8B-B14F-4D97-AF65-F5344CB8AC3E}">
        <p14:creationId xmlns:p14="http://schemas.microsoft.com/office/powerpoint/2010/main" val="306790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76FBA-4E46-7D48-1256-D999E769A4C2}"/>
              </a:ext>
            </a:extLst>
          </p:cNvPr>
          <p:cNvSpPr>
            <a:spLocks noGrp="1"/>
          </p:cNvSpPr>
          <p:nvPr>
            <p:ph type="ctrTitle"/>
          </p:nvPr>
        </p:nvSpPr>
        <p:spPr/>
        <p:txBody>
          <a:bodyPr/>
          <a:lstStyle/>
          <a:p>
            <a:r>
              <a:rPr lang="en-GB" dirty="0"/>
              <a:t>Review</a:t>
            </a:r>
          </a:p>
        </p:txBody>
      </p:sp>
      <p:sp>
        <p:nvSpPr>
          <p:cNvPr id="5" name="Text Placeholder 4"/>
          <p:cNvSpPr>
            <a:spLocks noGrp="1"/>
          </p:cNvSpPr>
          <p:nvPr>
            <p:ph type="body" sz="quarter" idx="10"/>
          </p:nvPr>
        </p:nvSpPr>
        <p:spPr>
          <a:xfrm>
            <a:off x="945581" y="4777994"/>
            <a:ext cx="6604609" cy="709613"/>
          </a:xfrm>
        </p:spPr>
        <p:txBody>
          <a:bodyPr/>
          <a:lstStyle/>
          <a:p>
            <a:pPr>
              <a:buFont typeface="Arial" panose="020B0604020202020204" pitchFamily="34" charset="0"/>
              <a:buChar char="•"/>
            </a:pPr>
            <a:r>
              <a:rPr lang="en-GB" dirty="0"/>
              <a:t>Views</a:t>
            </a:r>
          </a:p>
          <a:p>
            <a:pPr>
              <a:buFont typeface="Arial" panose="020B0604020202020204" pitchFamily="34" charset="0"/>
              <a:buChar char="•"/>
            </a:pPr>
            <a:r>
              <a:rPr lang="en-GB" dirty="0"/>
              <a:t>Using views</a:t>
            </a:r>
          </a:p>
          <a:p>
            <a:pPr>
              <a:buFont typeface="Arial" panose="020B0604020202020204" pitchFamily="34" charset="0"/>
              <a:buChar char="•"/>
            </a:pPr>
            <a:r>
              <a:rPr lang="en-GB" dirty="0"/>
              <a:t>Stored procedures</a:t>
            </a:r>
          </a:p>
          <a:p>
            <a:pPr>
              <a:buFont typeface="Arial" panose="020B0604020202020204" pitchFamily="34" charset="0"/>
              <a:buChar char="•"/>
            </a:pPr>
            <a:r>
              <a:rPr lang="en-GB" dirty="0"/>
              <a:t>Using stored procedures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1487334611"/>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30C460-91BC-4486-927B-7DEF612172CF}">
  <ds:schemaRefs>
    <ds:schemaRef ds:uri="http://schemas.microsoft.com/sharepoint/v3/contenttype/forms"/>
  </ds:schemaRefs>
</ds:datastoreItem>
</file>

<file path=customXml/itemProps2.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3.xml><?xml version="1.0" encoding="utf-8"?>
<ds:datastoreItem xmlns:ds="http://schemas.openxmlformats.org/officeDocument/2006/customXml" ds:itemID="{DB29E009-82E1-4A48-B9EC-A07306D9F1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 PPT Template</Template>
  <TotalTime>205</TotalTime>
  <Words>1229</Words>
  <Application>Microsoft Office PowerPoint</Application>
  <PresentationFormat>Widescreen</PresentationFormat>
  <Paragraphs>114</Paragraphs>
  <Slides>14</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14</vt:i4>
      </vt:variant>
    </vt:vector>
  </HeadingPairs>
  <TitlesOfParts>
    <vt:vector size="24" baseType="lpstr">
      <vt:lpstr>Arial</vt:lpstr>
      <vt:lpstr>Calibri</vt:lpstr>
      <vt:lpstr>Consolas</vt:lpstr>
      <vt:lpstr>Krana Fat B</vt:lpstr>
      <vt:lpstr>Lucida Console</vt:lpstr>
      <vt:lpstr>Montserrat</vt:lpstr>
      <vt:lpstr>Montserrat Black</vt:lpstr>
      <vt:lpstr>Office Theme</vt:lpstr>
      <vt:lpstr>2_Office Theme</vt:lpstr>
      <vt:lpstr>1_Office Theme</vt:lpstr>
      <vt:lpstr>Views and Stored Procedures</vt:lpstr>
      <vt:lpstr>Overview</vt:lpstr>
      <vt:lpstr>OBJECTIVES</vt:lpstr>
      <vt:lpstr>Views</vt:lpstr>
      <vt:lpstr>PowerPoint Presentation</vt:lpstr>
      <vt:lpstr>Using views</vt:lpstr>
      <vt:lpstr>Using views</vt:lpstr>
      <vt:lpstr>Using views (2)</vt:lpstr>
      <vt:lpstr>Stored procedures</vt:lpstr>
      <vt:lpstr>PowerPoint Presentation</vt:lpstr>
      <vt:lpstr>Using stored procedures</vt:lpstr>
      <vt:lpstr>Using stored procedures</vt:lpstr>
      <vt:lpstr>HANDS-ON LAB </vt:lpstr>
      <vt:lpstr>Review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Views and Stored Procedures</dc:title>
  <dc:subject/>
  <dc:creator>Lee, Peter</dc:creator>
  <cp:keywords/>
  <dc:description/>
  <cp:lastModifiedBy>Rob Menzies</cp:lastModifiedBy>
  <cp:revision>10</cp:revision>
  <cp:lastPrinted>2021-06-30T10:37:00Z</cp:lastPrinted>
  <dcterms:created xsi:type="dcterms:W3CDTF">2023-03-20T12:11:17Z</dcterms:created>
  <dcterms:modified xsi:type="dcterms:W3CDTF">2024-05-08T15:30:43Z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