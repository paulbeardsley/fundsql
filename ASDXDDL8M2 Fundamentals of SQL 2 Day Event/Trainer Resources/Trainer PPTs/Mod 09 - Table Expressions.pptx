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38" r:id="rId4"/>
    <p:sldMasterId id="2147484552" r:id="rId5"/>
  </p:sldMasterIdLst>
  <p:notesMasterIdLst>
    <p:notesMasterId r:id="rId28"/>
  </p:notesMasterIdLst>
  <p:handoutMasterIdLst>
    <p:handoutMasterId r:id="rId29"/>
  </p:handoutMasterIdLst>
  <p:sldIdLst>
    <p:sldId id="256" r:id="rId6"/>
    <p:sldId id="258" r:id="rId7"/>
    <p:sldId id="279" r:id="rId8"/>
    <p:sldId id="280" r:id="rId9"/>
    <p:sldId id="282" r:id="rId10"/>
    <p:sldId id="311" r:id="rId11"/>
    <p:sldId id="283" r:id="rId12"/>
    <p:sldId id="284" r:id="rId13"/>
    <p:sldId id="285" r:id="rId14"/>
    <p:sldId id="289" r:id="rId15"/>
    <p:sldId id="312" r:id="rId16"/>
    <p:sldId id="290" r:id="rId17"/>
    <p:sldId id="291" r:id="rId18"/>
    <p:sldId id="292" r:id="rId19"/>
    <p:sldId id="293" r:id="rId20"/>
    <p:sldId id="313" r:id="rId21"/>
    <p:sldId id="303" r:id="rId22"/>
    <p:sldId id="305" r:id="rId23"/>
    <p:sldId id="306" r:id="rId24"/>
    <p:sldId id="315" r:id="rId25"/>
    <p:sldId id="310" r:id="rId26"/>
    <p:sldId id="276" r:id="rId27"/>
  </p:sldIdLst>
  <p:sldSz cx="12192000" cy="6858000"/>
  <p:notesSz cx="6645275" cy="9775825"/>
  <p:custDataLst>
    <p:tags r:id="rId30"/>
  </p:custDataLst>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11"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 id="3" name="Grant" initials="G" lastIdx="1" clrIdx="2">
    <p:extLst>
      <p:ext uri="{19B8F6BF-5375-455C-9EA6-DF929625EA0E}">
        <p15:presenceInfo xmlns:p15="http://schemas.microsoft.com/office/powerpoint/2012/main" userId="Grant" providerId="None"/>
      </p:ext>
    </p:extLst>
  </p:cmAuthor>
  <p:cmAuthor id="4" name="Foppa, Pedro" initials="FP" lastIdx="1" clrIdx="3">
    <p:extLst>
      <p:ext uri="{19B8F6BF-5375-455C-9EA6-DF929625EA0E}">
        <p15:presenceInfo xmlns:p15="http://schemas.microsoft.com/office/powerpoint/2012/main" userId="S::pfoppa@qa.com::78b15ebb-14ab-45f0-97b3-f50a9b67ce6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EF9"/>
    <a:srgbClr val="03EAB3"/>
    <a:srgbClr val="00D2FE"/>
    <a:srgbClr val="28CEF6"/>
    <a:srgbClr val="FFD217"/>
    <a:srgbClr val="FF6124"/>
    <a:srgbClr val="EECF40"/>
    <a:srgbClr val="A5FFFF"/>
    <a:srgbClr val="00EDB5"/>
    <a:srgbClr val="0FEE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BD18D7-A650-5547-945A-FDB029BBA185}" v="160" dt="2021-06-22T11:08:57.4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6279" autoAdjust="0"/>
  </p:normalViewPr>
  <p:slideViewPr>
    <p:cSldViewPr snapToGrid="0">
      <p:cViewPr varScale="1">
        <p:scale>
          <a:sx n="77" d="100"/>
          <a:sy n="77" d="100"/>
        </p:scale>
        <p:origin x="810" y="294"/>
      </p:cViewPr>
      <p:guideLst>
        <p:guide pos="3840"/>
        <p:guide orient="horz" pos="3771"/>
      </p:guideLst>
    </p:cSldViewPr>
  </p:slideViewPr>
  <p:outlineViewPr>
    <p:cViewPr>
      <p:scale>
        <a:sx n="33" d="100"/>
        <a:sy n="33" d="100"/>
      </p:scale>
      <p:origin x="0" y="-1584"/>
    </p:cViewPr>
  </p:outlineViewPr>
  <p:notesTextViewPr>
    <p:cViewPr>
      <p:scale>
        <a:sx n="1" d="1"/>
        <a:sy n="1" d="1"/>
      </p:scale>
      <p:origin x="0" y="0"/>
    </p:cViewPr>
  </p:notesTextViewPr>
  <p:notesViewPr>
    <p:cSldViewPr snapToGrid="0">
      <p:cViewPr varScale="1">
        <p:scale>
          <a:sx n="79" d="100"/>
          <a:sy n="79" d="100"/>
        </p:scale>
        <p:origin x="3996"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36"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24/01/2025</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vl1pPr>
          </a:lstStyle>
          <a:p>
            <a:fld id="{1D6B66C6-1E92-0F4E-A300-9D4ED1F0C23F}" type="datetimeFigureOut">
              <a:rPr lang="en-GB" smtClean="0"/>
              <a:t>24/01/2025</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vl1pPr>
          </a:lstStyle>
          <a:p>
            <a:fld id="{548901C6-1DA1-FB44-ABEE-06A0FEB7738E}" type="slidenum">
              <a:rPr lang="en-GB" smtClean="0"/>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a:p>
        </p:txBody>
      </p:sp>
      <p:sp>
        <p:nvSpPr>
          <p:cNvPr id="6" name="Slide Image Placeholder 5">
            <a:extLst>
              <a:ext uri="{FF2B5EF4-FFF2-40B4-BE49-F238E27FC236}">
                <a16:creationId xmlns:a16="http://schemas.microsoft.com/office/drawing/2014/main" id="{AD44FB48-49B0-7E89-0E2D-8439C28D5793}"/>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5BE40A9F-2253-31B1-0ECE-C206E1B4E9FA}"/>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363896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CE8B745E-BE14-31AD-F321-A13B6867ADD7}"/>
              </a:ext>
            </a:extLst>
          </p:cNvPr>
          <p:cNvSpPr>
            <a:spLocks noGrp="1" noRot="1" noChangeAspect="1"/>
          </p:cNvSpPr>
          <p:nvPr>
            <p:ph type="sldImg"/>
          </p:nvPr>
        </p:nvSpPr>
        <p:spPr/>
      </p:sp>
      <p:sp>
        <p:nvSpPr>
          <p:cNvPr id="5" name="Notes Placeholder 4">
            <a:extLst>
              <a:ext uri="{FF2B5EF4-FFF2-40B4-BE49-F238E27FC236}">
                <a16:creationId xmlns:a16="http://schemas.microsoft.com/office/drawing/2014/main" id="{18514E36-3EF0-05DC-D53B-7C3AB86A060A}"/>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7926546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TSQL allows for multiple table expression types.</a:t>
            </a:r>
          </a:p>
          <a:p>
            <a:endParaRPr lang="en-GB" dirty="0"/>
          </a:p>
          <a:p>
            <a:r>
              <a:rPr lang="en-GB" dirty="0"/>
              <a:t>Table expressions can be used to divide the complicated query into more easily understood parts.  </a:t>
            </a:r>
          </a:p>
          <a:p>
            <a:r>
              <a:rPr lang="en-GB" dirty="0"/>
              <a:t>This means that if you come back to query in the future you will be able to understand each part of the query or be able to update and change it easily.</a:t>
            </a:r>
          </a:p>
          <a:p>
            <a:r>
              <a:rPr lang="en-GB" dirty="0"/>
              <a:t>The types of table expression covered in this module are:</a:t>
            </a:r>
          </a:p>
          <a:p>
            <a:endParaRPr lang="en-GB" dirty="0"/>
          </a:p>
          <a:p>
            <a:r>
              <a:rPr lang="en-GB" dirty="0"/>
              <a:t>Views</a:t>
            </a:r>
          </a:p>
          <a:p>
            <a:r>
              <a:rPr lang="en-GB" dirty="0"/>
              <a:t>Table-valued functions</a:t>
            </a:r>
          </a:p>
          <a:p>
            <a:r>
              <a:rPr lang="en-GB" dirty="0"/>
              <a:t>Derived tables</a:t>
            </a:r>
          </a:p>
          <a:p>
            <a:r>
              <a:rPr lang="en-GB" dirty="0"/>
              <a:t>Common table expressions</a:t>
            </a:r>
          </a:p>
          <a:p>
            <a:r>
              <a:rPr lang="en-GB" dirty="0"/>
              <a:t>Temporary tables</a:t>
            </a:r>
          </a:p>
          <a:p>
            <a:r>
              <a:rPr lang="en-GB" dirty="0"/>
              <a:t>Table variables</a:t>
            </a:r>
          </a:p>
          <a:p>
            <a:endParaRPr lang="en-GB" dirty="0"/>
          </a:p>
          <a:p>
            <a:r>
              <a:rPr lang="en-GB" dirty="0"/>
              <a:t>Each of the table expressions listed above has advantages and disadvantages within TSQL.  At the end of the module, a comparison table will be shown.</a:t>
            </a:r>
          </a:p>
          <a:p>
            <a:endParaRPr lang="en-GB" dirty="0"/>
          </a:p>
          <a:p>
            <a:endParaRPr lang="en-US"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
        <p:nvSpPr>
          <p:cNvPr id="7" name="Slide Image Placeholder 6">
            <a:extLst>
              <a:ext uri="{FF2B5EF4-FFF2-40B4-BE49-F238E27FC236}">
                <a16:creationId xmlns:a16="http://schemas.microsoft.com/office/drawing/2014/main" id="{10657E55-B075-D295-1CFD-176E748CD250}"/>
              </a:ext>
            </a:extLst>
          </p:cNvPr>
          <p:cNvSpPr>
            <a:spLocks noGrp="1" noRot="1" noChangeAspect="1"/>
          </p:cNvSpPr>
          <p:nvPr>
            <p:ph type="sldImg"/>
          </p:nvPr>
        </p:nvSpPr>
        <p:spPr/>
      </p:sp>
    </p:spTree>
    <p:extLst>
      <p:ext uri="{BB962C8B-B14F-4D97-AF65-F5344CB8AC3E}">
        <p14:creationId xmlns:p14="http://schemas.microsoft.com/office/powerpoint/2010/main" val="4294131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A view is a select query which has been pre-created and stored within the database.  The view will not give up any performance advantages over the original query.  You can simplify the use of a difficult query for other users where they do not have to provide the full query again but can refer to the view by name. (Administrators may use view to provide a level of security above the underlying tables.)  </a:t>
            </a:r>
          </a:p>
          <a:p>
            <a:endParaRPr lang="en-GB" dirty="0"/>
          </a:p>
          <a:p>
            <a:r>
              <a:rPr lang="en-GB" dirty="0"/>
              <a:t>As the views are called within select queries, by default, views cannot be ordered by clause.  This is to avoid an expensive sort operation.  An exception to this would be in conjunction with TOP, OFFSET or FOR XML queries as the order within a view dictates the rows returned within the view.  For instance, if TOP was used without an order by the view, it may not return the correct rows.</a:t>
            </a:r>
          </a:p>
          <a:p>
            <a:endParaRPr lang="en-GB" dirty="0"/>
          </a:p>
          <a:p>
            <a:r>
              <a:rPr lang="en-GB" dirty="0"/>
              <a:t>Query below would return 50 rows.  As no ORDER BY clause is included in the query, it may return any 50 rows from the table.</a:t>
            </a:r>
          </a:p>
          <a:p>
            <a:endParaRPr lang="en-GB" dirty="0"/>
          </a:p>
          <a:p>
            <a:r>
              <a:rPr lang="en-GB" dirty="0"/>
              <a:t>CREATE VIEW dbo.Top50Rows AS</a:t>
            </a:r>
          </a:p>
          <a:p>
            <a:r>
              <a:rPr lang="en-GB" dirty="0"/>
              <a:t>SELECT TOP 50 *</a:t>
            </a:r>
          </a:p>
          <a:p>
            <a:r>
              <a:rPr lang="en-GB" dirty="0"/>
              <a:t>    FROM </a:t>
            </a:r>
            <a:r>
              <a:rPr lang="en-GB" dirty="0" err="1"/>
              <a:t>dbo.Products</a:t>
            </a:r>
            <a:endParaRPr lang="en-GB" dirty="0"/>
          </a:p>
          <a:p>
            <a:endParaRPr lang="en-GB" dirty="0"/>
          </a:p>
          <a:p>
            <a:r>
              <a:rPr lang="en-GB" dirty="0"/>
              <a:t>Query below would return 50 rows with the highest </a:t>
            </a:r>
            <a:r>
              <a:rPr lang="en-GB" dirty="0" err="1"/>
              <a:t>ListPrice</a:t>
            </a:r>
            <a:r>
              <a:rPr lang="en-GB" dirty="0"/>
              <a:t>.</a:t>
            </a:r>
          </a:p>
          <a:p>
            <a:endParaRPr lang="en-GB" dirty="0"/>
          </a:p>
          <a:p>
            <a:r>
              <a:rPr lang="en-GB" dirty="0"/>
              <a:t>CREATE VIEW dbo.Top50Rows AS</a:t>
            </a:r>
          </a:p>
          <a:p>
            <a:r>
              <a:rPr lang="en-GB" dirty="0"/>
              <a:t>SELECT TOP 50 *</a:t>
            </a:r>
          </a:p>
          <a:p>
            <a:r>
              <a:rPr lang="en-GB" dirty="0"/>
              <a:t>    FROM </a:t>
            </a:r>
            <a:r>
              <a:rPr lang="en-GB" dirty="0" err="1"/>
              <a:t>dbo.Products</a:t>
            </a:r>
            <a:endParaRPr lang="en-GB" dirty="0"/>
          </a:p>
          <a:p>
            <a:r>
              <a:rPr lang="en-GB" dirty="0"/>
              <a:t>    ORDER BY </a:t>
            </a:r>
            <a:r>
              <a:rPr lang="en-GB" dirty="0" err="1"/>
              <a:t>UnitPrice</a:t>
            </a:r>
            <a:r>
              <a:rPr lang="en-GB" dirty="0"/>
              <a:t> DESC</a:t>
            </a:r>
          </a:p>
          <a:p>
            <a:endParaRPr lang="en-GB" dirty="0"/>
          </a:p>
          <a:p>
            <a:r>
              <a:rPr lang="en-GB" dirty="0"/>
              <a:t>(Order by can only be put in a query referencing a view – tables are stored in an unordered fashion)</a:t>
            </a:r>
          </a:p>
          <a:p>
            <a:endParaRPr lang="en-US"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
        <p:nvSpPr>
          <p:cNvPr id="7" name="Slide Image Placeholder 6">
            <a:extLst>
              <a:ext uri="{FF2B5EF4-FFF2-40B4-BE49-F238E27FC236}">
                <a16:creationId xmlns:a16="http://schemas.microsoft.com/office/drawing/2014/main" id="{78A7EBE9-BD9D-F6BD-DE59-93D4030A2916}"/>
              </a:ext>
            </a:extLst>
          </p:cNvPr>
          <p:cNvSpPr>
            <a:spLocks noGrp="1" noRot="1" noChangeAspect="1"/>
          </p:cNvSpPr>
          <p:nvPr>
            <p:ph type="sldImg"/>
          </p:nvPr>
        </p:nvSpPr>
        <p:spPr/>
      </p:sp>
    </p:spTree>
    <p:extLst>
      <p:ext uri="{BB962C8B-B14F-4D97-AF65-F5344CB8AC3E}">
        <p14:creationId xmlns:p14="http://schemas.microsoft.com/office/powerpoint/2010/main" val="4106233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In the example a view called </a:t>
            </a:r>
            <a:r>
              <a:rPr lang="en-GB" noProof="0" dirty="0" err="1"/>
              <a:t>dbo.SaleableProducts</a:t>
            </a:r>
            <a:r>
              <a:rPr lang="en-GB" noProof="0" dirty="0"/>
              <a:t> is created.  The view joins the </a:t>
            </a:r>
            <a:r>
              <a:rPr lang="en-GB" noProof="0" dirty="0" err="1"/>
              <a:t>Production.Product</a:t>
            </a:r>
            <a:r>
              <a:rPr lang="en-GB" noProof="0" dirty="0"/>
              <a:t> and </a:t>
            </a:r>
            <a:r>
              <a:rPr lang="en-GB" noProof="0" dirty="0" err="1"/>
              <a:t>Production.ProductSubCategory</a:t>
            </a:r>
            <a:r>
              <a:rPr lang="en-GB" noProof="0" dirty="0"/>
              <a:t> tables (in the </a:t>
            </a:r>
            <a:r>
              <a:rPr lang="en-GB" noProof="0" dirty="0" err="1"/>
              <a:t>AdventureWorks</a:t>
            </a:r>
            <a:r>
              <a:rPr lang="en-GB" noProof="0" dirty="0"/>
              <a:t> database) in order to show the subcategory name, product name, list price, colour and weight of each product.</a:t>
            </a:r>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
        <p:nvSpPr>
          <p:cNvPr id="7" name="Slide Image Placeholder 6">
            <a:extLst>
              <a:ext uri="{FF2B5EF4-FFF2-40B4-BE49-F238E27FC236}">
                <a16:creationId xmlns:a16="http://schemas.microsoft.com/office/drawing/2014/main" id="{9D580D81-BD42-A2E9-5627-7E590CC1363D}"/>
              </a:ext>
            </a:extLst>
          </p:cNvPr>
          <p:cNvSpPr>
            <a:spLocks noGrp="1" noRot="1" noChangeAspect="1"/>
          </p:cNvSpPr>
          <p:nvPr>
            <p:ph type="sldImg"/>
          </p:nvPr>
        </p:nvSpPr>
        <p:spPr/>
      </p:sp>
    </p:spTree>
    <p:extLst>
      <p:ext uri="{BB962C8B-B14F-4D97-AF65-F5344CB8AC3E}">
        <p14:creationId xmlns:p14="http://schemas.microsoft.com/office/powerpoint/2010/main" val="38077507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
        <p:nvSpPr>
          <p:cNvPr id="6" name="Slide Image Placeholder 5">
            <a:extLst>
              <a:ext uri="{FF2B5EF4-FFF2-40B4-BE49-F238E27FC236}">
                <a16:creationId xmlns:a16="http://schemas.microsoft.com/office/drawing/2014/main" id="{8091E0D3-F759-0A62-2AA3-2F5F186D695B}"/>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2F56CB50-D234-1F26-D1F6-C0E4955D6388}"/>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013010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User Defined Table-Valued Functions</a:t>
            </a:r>
          </a:p>
          <a:p>
            <a:r>
              <a:rPr lang="en-GB" dirty="0"/>
              <a:t>The definition is stored within the database for others to use  </a:t>
            </a:r>
          </a:p>
          <a:p>
            <a:r>
              <a:rPr lang="en-GB" dirty="0"/>
              <a:t>Similar to a view that can accept parameters and return a dataset</a:t>
            </a:r>
          </a:p>
          <a:p>
            <a:r>
              <a:rPr lang="en-GB" dirty="0"/>
              <a:t>Support input parameters of types registered within the database – this could be in-built data types (int, varchar, datetime, etc.) or user-defined data types</a:t>
            </a:r>
          </a:p>
          <a:p>
            <a:r>
              <a:rPr lang="en-GB" dirty="0"/>
              <a:t>Use two-part naming convention when referring to objects such as tables within a function definition – as it is possible to include multiple tables with the same name (but different schemas), a two-part name should be used in both views and functions when referring to table names.</a:t>
            </a:r>
          </a:p>
          <a:p>
            <a:pPr lvl="1"/>
            <a:r>
              <a:rPr lang="en-GB" dirty="0"/>
              <a:t>A two-part name is recorded as SCHEMA.TABLENAME, such as </a:t>
            </a:r>
            <a:r>
              <a:rPr lang="en-GB" dirty="0" err="1"/>
              <a:t>HumanResources.Employee</a:t>
            </a:r>
            <a:r>
              <a:rPr lang="en-GB" dirty="0"/>
              <a:t>, where the schema is </a:t>
            </a:r>
            <a:r>
              <a:rPr lang="en-GB" dirty="0" err="1"/>
              <a:t>HumanResources</a:t>
            </a:r>
            <a:r>
              <a:rPr lang="en-GB" dirty="0"/>
              <a:t> and the table name is Employee.</a:t>
            </a:r>
          </a:p>
          <a:p>
            <a:endParaRPr lang="en-US"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a:p>
        </p:txBody>
      </p:sp>
      <p:sp>
        <p:nvSpPr>
          <p:cNvPr id="7" name="Slide Image Placeholder 6">
            <a:extLst>
              <a:ext uri="{FF2B5EF4-FFF2-40B4-BE49-F238E27FC236}">
                <a16:creationId xmlns:a16="http://schemas.microsoft.com/office/drawing/2014/main" id="{5DBB512F-9FAD-0EB4-2800-D300318158A9}"/>
              </a:ext>
            </a:extLst>
          </p:cNvPr>
          <p:cNvSpPr>
            <a:spLocks noGrp="1" noRot="1" noChangeAspect="1"/>
          </p:cNvSpPr>
          <p:nvPr>
            <p:ph type="sldImg"/>
          </p:nvPr>
        </p:nvSpPr>
        <p:spPr/>
      </p:sp>
    </p:spTree>
    <p:extLst>
      <p:ext uri="{BB962C8B-B14F-4D97-AF65-F5344CB8AC3E}">
        <p14:creationId xmlns:p14="http://schemas.microsoft.com/office/powerpoint/2010/main" val="2394806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Two types of user defined function can return tables:</a:t>
            </a:r>
          </a:p>
          <a:p>
            <a:r>
              <a:rPr lang="en-GB" dirty="0"/>
              <a:t>In-line, where a single select query is executed based on the parameters</a:t>
            </a:r>
          </a:p>
          <a:p>
            <a:r>
              <a:rPr lang="en-GB" dirty="0"/>
              <a:t>Multi-line, (a more complex query) where the dataset is created using multiple statements and the structure of the table is pre-defined in the function header</a:t>
            </a:r>
          </a:p>
          <a:p>
            <a:endParaRPr lang="en-GB" dirty="0"/>
          </a:p>
          <a:p>
            <a:r>
              <a:rPr lang="en-GB" b="0" i="0" dirty="0">
                <a:solidFill>
                  <a:srgbClr val="202124"/>
                </a:solidFill>
                <a:effectLst/>
                <a:latin typeface="Google Sans"/>
              </a:rPr>
              <a:t>Data Definition Language</a:t>
            </a:r>
          </a:p>
          <a:p>
            <a:r>
              <a:rPr lang="en-GB" b="0" i="0" dirty="0">
                <a:solidFill>
                  <a:srgbClr val="202124"/>
                </a:solidFill>
                <a:effectLst/>
                <a:latin typeface="Google Sans"/>
              </a:rPr>
              <a:t>Data Manipulation Language</a:t>
            </a:r>
            <a:endParaRPr lang="en-GB" dirty="0"/>
          </a:p>
          <a:p>
            <a:pPr marL="0" marR="0" lvl="0" indent="0" algn="l" defTabSz="914377" rtl="0" eaLnBrk="1" fontAlgn="auto" latinLnBrk="0" hangingPunct="1">
              <a:lnSpc>
                <a:spcPct val="100000"/>
              </a:lnSpc>
              <a:spcBef>
                <a:spcPts val="0"/>
              </a:spcBef>
              <a:spcAft>
                <a:spcPts val="0"/>
              </a:spcAft>
              <a:buClrTx/>
              <a:buSzTx/>
              <a:buFontTx/>
              <a:buNone/>
              <a:tabLst/>
              <a:defRPr/>
            </a:pPr>
            <a:r>
              <a:rPr lang="en-GB" b="0" i="0" dirty="0">
                <a:solidFill>
                  <a:srgbClr val="202124"/>
                </a:solidFill>
                <a:effectLst/>
                <a:latin typeface="Google Sans"/>
              </a:rPr>
              <a:t>Data Control Language</a:t>
            </a:r>
          </a:p>
          <a:p>
            <a:endParaRPr lang="en-US"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a:p>
        </p:txBody>
      </p:sp>
      <p:sp>
        <p:nvSpPr>
          <p:cNvPr id="7" name="Slide Image Placeholder 6">
            <a:extLst>
              <a:ext uri="{FF2B5EF4-FFF2-40B4-BE49-F238E27FC236}">
                <a16:creationId xmlns:a16="http://schemas.microsoft.com/office/drawing/2014/main" id="{3B38DC19-D663-D898-C0D4-6E504E61FD8B}"/>
              </a:ext>
            </a:extLst>
          </p:cNvPr>
          <p:cNvSpPr>
            <a:spLocks noGrp="1" noRot="1" noChangeAspect="1"/>
          </p:cNvSpPr>
          <p:nvPr>
            <p:ph type="sldImg"/>
          </p:nvPr>
        </p:nvSpPr>
        <p:spPr/>
      </p:sp>
    </p:spTree>
    <p:extLst>
      <p:ext uri="{BB962C8B-B14F-4D97-AF65-F5344CB8AC3E}">
        <p14:creationId xmlns:p14="http://schemas.microsoft.com/office/powerpoint/2010/main" val="10897753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In the first example a function called </a:t>
            </a:r>
            <a:r>
              <a:rPr lang="en-GB" noProof="0" dirty="0" err="1"/>
              <a:t>GetProductsByColour</a:t>
            </a:r>
            <a:r>
              <a:rPr lang="en-GB" noProof="0" dirty="0"/>
              <a:t> is created.  The function takes a single parameter - @Colour – and then joins the </a:t>
            </a:r>
            <a:r>
              <a:rPr lang="en-GB" noProof="0" dirty="0" err="1"/>
              <a:t>Production.Product</a:t>
            </a:r>
            <a:r>
              <a:rPr lang="en-GB" noProof="0" dirty="0"/>
              <a:t> and </a:t>
            </a:r>
            <a:r>
              <a:rPr lang="en-GB" noProof="0" dirty="0" err="1"/>
              <a:t>Production.ProductSubcategory</a:t>
            </a:r>
            <a:r>
              <a:rPr lang="en-GB" noProof="0" dirty="0"/>
              <a:t> tables (in the </a:t>
            </a:r>
            <a:r>
              <a:rPr lang="en-GB" noProof="0" dirty="0" err="1"/>
              <a:t>AdventureWorks</a:t>
            </a:r>
            <a:r>
              <a:rPr lang="en-GB" noProof="0" dirty="0"/>
              <a:t> database) to return the subcategory name and product name of any product which has the colour specified in the @Colour parameter.</a:t>
            </a:r>
          </a:p>
          <a:p>
            <a:endParaRPr lang="en-GB" noProof="0" dirty="0"/>
          </a:p>
          <a:p>
            <a:r>
              <a:rPr lang="en-GB" noProof="0" dirty="0"/>
              <a:t>Then, the function is used in the second example to return the details of all red products.</a:t>
            </a:r>
          </a:p>
          <a:p>
            <a:endParaRPr lang="en-GB" noProof="0" dirty="0"/>
          </a:p>
          <a:p>
            <a:r>
              <a:rPr lang="en-GB" noProof="0" dirty="0"/>
              <a:t>A query can be written that passes the @color parameter as Red for example.</a:t>
            </a:r>
          </a:p>
          <a:p>
            <a:endParaRPr lang="en-GB" noProof="0" dirty="0"/>
          </a:p>
          <a:p>
            <a:r>
              <a:rPr lang="en-GB" noProof="0" dirty="0"/>
              <a:t>Variables can take parameters.</a:t>
            </a:r>
          </a:p>
          <a:p>
            <a:endParaRPr lang="en-GB" noProof="0" dirty="0"/>
          </a:p>
          <a:p>
            <a:r>
              <a:rPr lang="en-GB" noProof="0" dirty="0"/>
              <a:t>In ILTVF – you don’t specify the structure of the table in MLTVF you do.</a:t>
            </a: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a:p>
        </p:txBody>
      </p:sp>
      <p:sp>
        <p:nvSpPr>
          <p:cNvPr id="7" name="Slide Image Placeholder 6">
            <a:extLst>
              <a:ext uri="{FF2B5EF4-FFF2-40B4-BE49-F238E27FC236}">
                <a16:creationId xmlns:a16="http://schemas.microsoft.com/office/drawing/2014/main" id="{A0C05F4A-9503-EDE1-B2B1-338523B37D55}"/>
              </a:ext>
            </a:extLst>
          </p:cNvPr>
          <p:cNvSpPr>
            <a:spLocks noGrp="1" noRot="1" noChangeAspect="1"/>
          </p:cNvSpPr>
          <p:nvPr>
            <p:ph type="sldImg"/>
          </p:nvPr>
        </p:nvSpPr>
        <p:spPr/>
      </p:sp>
    </p:spTree>
    <p:extLst>
      <p:ext uri="{BB962C8B-B14F-4D97-AF65-F5344CB8AC3E}">
        <p14:creationId xmlns:p14="http://schemas.microsoft.com/office/powerpoint/2010/main" val="3265400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a:p>
        </p:txBody>
      </p:sp>
      <p:sp>
        <p:nvSpPr>
          <p:cNvPr id="6" name="Slide Image Placeholder 5">
            <a:extLst>
              <a:ext uri="{FF2B5EF4-FFF2-40B4-BE49-F238E27FC236}">
                <a16:creationId xmlns:a16="http://schemas.microsoft.com/office/drawing/2014/main" id="{21B8C787-F13B-6131-7E92-3D481FE340B3}"/>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053DFFB3-B7BF-7D26-C9DF-4FD9AC7A97C8}"/>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2890687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a:p>
        </p:txBody>
      </p:sp>
      <p:sp>
        <p:nvSpPr>
          <p:cNvPr id="6" name="Slide Image Placeholder 5">
            <a:extLst>
              <a:ext uri="{FF2B5EF4-FFF2-40B4-BE49-F238E27FC236}">
                <a16:creationId xmlns:a16="http://schemas.microsoft.com/office/drawing/2014/main" id="{7C95A617-F05A-0917-05D4-13C002B931A0}"/>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66F5BE07-EE4D-BEDF-392D-A6DC3109CEC5}"/>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948725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Derived Tables</a:t>
            </a:r>
          </a:p>
          <a:p>
            <a:r>
              <a:rPr lang="en-GB" dirty="0"/>
              <a:t>Derived tables are named queries created within an outer SELECT statement</a:t>
            </a:r>
          </a:p>
          <a:p>
            <a:endParaRPr lang="en-GB" dirty="0"/>
          </a:p>
          <a:p>
            <a:r>
              <a:rPr lang="en-GB" dirty="0"/>
              <a:t>SELECT *</a:t>
            </a:r>
          </a:p>
          <a:p>
            <a:r>
              <a:rPr lang="en-GB" dirty="0"/>
              <a:t>    FROM (</a:t>
            </a:r>
          </a:p>
          <a:p>
            <a:r>
              <a:rPr lang="en-GB" dirty="0"/>
              <a:t>        SELECT &lt;columns&gt;</a:t>
            </a:r>
          </a:p>
          <a:p>
            <a:r>
              <a:rPr lang="en-GB" dirty="0"/>
              <a:t>        FROM &lt;table&gt;</a:t>
            </a:r>
          </a:p>
          <a:p>
            <a:r>
              <a:rPr lang="en-GB" dirty="0"/>
              <a:t>        ….. ) AS </a:t>
            </a:r>
            <a:r>
              <a:rPr lang="en-GB" dirty="0" err="1"/>
              <a:t>DerivedTableAlias</a:t>
            </a:r>
            <a:endParaRPr lang="en-GB" dirty="0"/>
          </a:p>
          <a:p>
            <a:r>
              <a:rPr lang="en-GB" dirty="0"/>
              <a:t>        </a:t>
            </a:r>
          </a:p>
          <a:p>
            <a:r>
              <a:rPr lang="en-GB" dirty="0"/>
              <a:t>Derived tables are processed with the outer query and are not stored in the database</a:t>
            </a:r>
          </a:p>
          <a:p>
            <a:r>
              <a:rPr lang="en-GB" dirty="0"/>
              <a:t>When processed, and unpacked into query against underlying referenced objects, the optimizer will calculate the most efficient way to execute the complete query</a:t>
            </a:r>
          </a:p>
          <a:p>
            <a:r>
              <a:rPr lang="en-GB" dirty="0"/>
              <a:t>Allows you to write more modular queries, where the derived table (inner query) may be executed separately from the outer query</a:t>
            </a:r>
          </a:p>
          <a:p>
            <a:pPr lvl="1"/>
            <a:r>
              <a:rPr lang="en-GB" dirty="0"/>
              <a:t>An exception to this would be a correlated query where columns are passed from the outer query into the inner query</a:t>
            </a:r>
          </a:p>
          <a:p>
            <a:r>
              <a:rPr lang="en-GB" dirty="0"/>
              <a:t>Scope of a derived table is the query in which it is defined and cannot be referred to in any other query</a:t>
            </a:r>
          </a:p>
          <a:p>
            <a:endParaRPr lang="en-GB" dirty="0"/>
          </a:p>
          <a:p>
            <a:r>
              <a:rPr lang="en-GB" dirty="0"/>
              <a:t>An outer query is the outer part of a subquery.</a:t>
            </a:r>
          </a:p>
          <a:p>
            <a:endParaRPr lang="en-US"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a:p>
        </p:txBody>
      </p:sp>
      <p:sp>
        <p:nvSpPr>
          <p:cNvPr id="7" name="Slide Image Placeholder 6">
            <a:extLst>
              <a:ext uri="{FF2B5EF4-FFF2-40B4-BE49-F238E27FC236}">
                <a16:creationId xmlns:a16="http://schemas.microsoft.com/office/drawing/2014/main" id="{40D85F3C-B4A4-AF6D-08B7-DD6334AC4C3C}"/>
              </a:ext>
            </a:extLst>
          </p:cNvPr>
          <p:cNvSpPr>
            <a:spLocks noGrp="1" noRot="1" noChangeAspect="1"/>
          </p:cNvSpPr>
          <p:nvPr>
            <p:ph type="sldImg"/>
          </p:nvPr>
        </p:nvSpPr>
        <p:spPr/>
      </p:sp>
    </p:spTree>
    <p:extLst>
      <p:ext uri="{BB962C8B-B14F-4D97-AF65-F5344CB8AC3E}">
        <p14:creationId xmlns:p14="http://schemas.microsoft.com/office/powerpoint/2010/main" val="10081646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a:p>
        </p:txBody>
      </p:sp>
      <p:sp>
        <p:nvSpPr>
          <p:cNvPr id="6" name="Slide Image Placeholder 5">
            <a:extLst>
              <a:ext uri="{FF2B5EF4-FFF2-40B4-BE49-F238E27FC236}">
                <a16:creationId xmlns:a16="http://schemas.microsoft.com/office/drawing/2014/main" id="{C8C98CB4-AF3B-873A-627B-17F6C5A39933}"/>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D270B64D-B4B6-187D-0BB5-CE2414CA656D}"/>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078499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The examples both show queries using derived tables.  In the first example the </a:t>
            </a:r>
            <a:r>
              <a:rPr lang="en-US" dirty="0" err="1"/>
              <a:t>AvgPrice</a:t>
            </a:r>
            <a:r>
              <a:rPr lang="en-US" dirty="0"/>
              <a:t> column name is passed as part of the inner query, whilst in the second it is passed as part of the outer query.</a:t>
            </a:r>
          </a:p>
          <a:p>
            <a:r>
              <a:rPr lang="en-US" dirty="0"/>
              <a:t>Sub Query(Inner query is in brackets and is often aggregated)</a:t>
            </a:r>
          </a:p>
          <a:p>
            <a:endParaRPr lang="en-US" dirty="0"/>
          </a:p>
          <a:p>
            <a:r>
              <a:rPr lang="en-GB" b="0" i="0" dirty="0">
                <a:solidFill>
                  <a:srgbClr val="0C0D0E"/>
                </a:solidFill>
                <a:effectLst/>
                <a:latin typeface="-apple-system"/>
              </a:rPr>
              <a:t>There are numerous cases where you might need to join to an aggregate or similar, and a derived table is really the only way to handle that:</a:t>
            </a:r>
          </a:p>
          <a:p>
            <a:endParaRPr lang="en-GB" b="0" i="0" dirty="0">
              <a:solidFill>
                <a:srgbClr val="0C0D0E"/>
              </a:solidFill>
              <a:effectLst/>
              <a:latin typeface="-apple-system"/>
            </a:endParaRPr>
          </a:p>
          <a:p>
            <a:r>
              <a:rPr lang="en-GB" b="0" i="0" dirty="0">
                <a:solidFill>
                  <a:srgbClr val="0C0D0E"/>
                </a:solidFill>
                <a:effectLst/>
                <a:latin typeface="-apple-system"/>
              </a:rPr>
              <a:t> one of the things you can't do without a derived table or CTE is put an aggregate function in a WHERE clause. This won't work:</a:t>
            </a:r>
            <a:endParaRPr lang="en-US"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a:p>
        </p:txBody>
      </p:sp>
      <p:sp>
        <p:nvSpPr>
          <p:cNvPr id="7" name="Slide Image Placeholder 6">
            <a:extLst>
              <a:ext uri="{FF2B5EF4-FFF2-40B4-BE49-F238E27FC236}">
                <a16:creationId xmlns:a16="http://schemas.microsoft.com/office/drawing/2014/main" id="{C1BBBDD5-19AE-70F5-2437-9931E6832E5E}"/>
              </a:ext>
            </a:extLst>
          </p:cNvPr>
          <p:cNvSpPr>
            <a:spLocks noGrp="1" noRot="1" noChangeAspect="1"/>
          </p:cNvSpPr>
          <p:nvPr>
            <p:ph type="sldImg"/>
          </p:nvPr>
        </p:nvSpPr>
        <p:spPr/>
      </p:sp>
    </p:spTree>
    <p:extLst>
      <p:ext uri="{BB962C8B-B14F-4D97-AF65-F5344CB8AC3E}">
        <p14:creationId xmlns:p14="http://schemas.microsoft.com/office/powerpoint/2010/main" val="41776726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The example shows a derived table subquery which returns each </a:t>
            </a:r>
            <a:r>
              <a:rPr lang="en-US" dirty="0" err="1"/>
              <a:t>ProductSubcategoryID</a:t>
            </a:r>
            <a:r>
              <a:rPr lang="en-US" dirty="0"/>
              <a:t> and the average </a:t>
            </a:r>
            <a:r>
              <a:rPr lang="en-US" dirty="0" err="1"/>
              <a:t>ListPrice</a:t>
            </a:r>
            <a:r>
              <a:rPr lang="en-US" dirty="0"/>
              <a:t> value per subcategory in the </a:t>
            </a:r>
            <a:r>
              <a:rPr lang="en-US" dirty="0" err="1"/>
              <a:t>Production.Product</a:t>
            </a:r>
            <a:r>
              <a:rPr lang="en-US" dirty="0"/>
              <a:t> table.  The outer query joins the derived table to the </a:t>
            </a:r>
            <a:r>
              <a:rPr lang="en-US" dirty="0" err="1"/>
              <a:t>Production.Product</a:t>
            </a:r>
            <a:r>
              <a:rPr lang="en-US" dirty="0"/>
              <a:t> table in order to return each product ID, name, list price, and the average price in its category, but only for products which have a price greater than the average price in its category.</a:t>
            </a:r>
          </a:p>
          <a:p>
            <a:endParaRPr lang="en-US" b="1" dirty="0"/>
          </a:p>
          <a:p>
            <a:r>
              <a:rPr lang="en-US" b="1" dirty="0"/>
              <a:t>Also you can use aggregated results from a derived table in a where clause</a:t>
            </a:r>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a:p>
        </p:txBody>
      </p:sp>
      <p:sp>
        <p:nvSpPr>
          <p:cNvPr id="7" name="Slide Image Placeholder 6">
            <a:extLst>
              <a:ext uri="{FF2B5EF4-FFF2-40B4-BE49-F238E27FC236}">
                <a16:creationId xmlns:a16="http://schemas.microsoft.com/office/drawing/2014/main" id="{20A0CCCC-FA77-13D8-3DEE-A87B14ED1E9F}"/>
              </a:ext>
            </a:extLst>
          </p:cNvPr>
          <p:cNvSpPr>
            <a:spLocks noGrp="1" noRot="1" noChangeAspect="1"/>
          </p:cNvSpPr>
          <p:nvPr>
            <p:ph type="sldImg"/>
          </p:nvPr>
        </p:nvSpPr>
        <p:spPr/>
      </p:sp>
    </p:spTree>
    <p:extLst>
      <p:ext uri="{BB962C8B-B14F-4D97-AF65-F5344CB8AC3E}">
        <p14:creationId xmlns:p14="http://schemas.microsoft.com/office/powerpoint/2010/main" val="14153158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a:p>
        </p:txBody>
      </p:sp>
      <p:sp>
        <p:nvSpPr>
          <p:cNvPr id="6" name="Slide Image Placeholder 5">
            <a:extLst>
              <a:ext uri="{FF2B5EF4-FFF2-40B4-BE49-F238E27FC236}">
                <a16:creationId xmlns:a16="http://schemas.microsoft.com/office/drawing/2014/main" id="{8F31B4BA-1D3D-C8E4-877E-65CF4F48961C}"/>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2B4BBE44-9BB1-EBC3-F08D-A42A687C370D}"/>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513214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Temporary Tables</a:t>
            </a:r>
          </a:p>
          <a:p>
            <a:r>
              <a:rPr lang="en-GB" dirty="0"/>
              <a:t>Temporary tables can be used to store the results of a query for use later unlike the other table expressions</a:t>
            </a:r>
          </a:p>
          <a:p>
            <a:r>
              <a:rPr lang="en-GB" dirty="0"/>
              <a:t>Stored within </a:t>
            </a:r>
            <a:r>
              <a:rPr lang="en-GB" dirty="0" err="1"/>
              <a:t>TempDB</a:t>
            </a:r>
            <a:r>
              <a:rPr lang="en-GB" dirty="0"/>
              <a:t> for use later – this may cause performance issues if many temporary tables are created, used and removed by many users</a:t>
            </a:r>
          </a:p>
          <a:p>
            <a:r>
              <a:rPr lang="en-GB" dirty="0"/>
              <a:t>Can be: </a:t>
            </a:r>
          </a:p>
          <a:p>
            <a:pPr lvl="1"/>
            <a:r>
              <a:rPr lang="en-GB" dirty="0"/>
              <a:t>local (#) – only available to the creator, and is dropped automatically when their session ends or is manually dropped</a:t>
            </a:r>
          </a:p>
          <a:p>
            <a:pPr lvl="2"/>
            <a:r>
              <a:rPr lang="en-GB" dirty="0"/>
              <a:t>In the </a:t>
            </a:r>
            <a:r>
              <a:rPr lang="en-GB" dirty="0" err="1"/>
              <a:t>TempDB</a:t>
            </a:r>
            <a:r>
              <a:rPr lang="en-GB" dirty="0"/>
              <a:t> database, the name will have a </a:t>
            </a:r>
            <a:r>
              <a:rPr lang="en-GB" dirty="0" err="1"/>
              <a:t>uniqueidentifier</a:t>
            </a:r>
            <a:r>
              <a:rPr lang="en-GB" dirty="0"/>
              <a:t> added automatically so that multiple users can have local temporary tables with the same name</a:t>
            </a:r>
          </a:p>
          <a:p>
            <a:pPr lvl="1"/>
            <a:r>
              <a:rPr lang="en-GB" dirty="0"/>
              <a:t>global (##) – available to all the users on the instance, and is dropped when all the users who have used the table finish their sessions</a:t>
            </a:r>
          </a:p>
          <a:p>
            <a:pPr lvl="2"/>
            <a:r>
              <a:rPr lang="en-GB" dirty="0"/>
              <a:t>Each temporary table must be uniquely named</a:t>
            </a:r>
          </a:p>
          <a:p>
            <a:r>
              <a:rPr lang="en-GB" dirty="0"/>
              <a:t>Care should be taken when wanting to access temporary tables from stored procedures as these would execute in their own scope, and so would not be able to access local temporary tables</a:t>
            </a:r>
          </a:p>
          <a:p>
            <a:r>
              <a:rPr lang="en-GB" dirty="0"/>
              <a:t>Commands:</a:t>
            </a:r>
          </a:p>
          <a:p>
            <a:pPr lvl="1"/>
            <a:r>
              <a:rPr lang="en-GB" dirty="0"/>
              <a:t>CREATE – creates the temporary table</a:t>
            </a:r>
          </a:p>
          <a:p>
            <a:pPr lvl="1"/>
            <a:r>
              <a:rPr lang="en-GB" dirty="0"/>
              <a:t>ALTER – updates the design of the table</a:t>
            </a:r>
          </a:p>
          <a:p>
            <a:pPr lvl="1"/>
            <a:r>
              <a:rPr lang="en-GB" dirty="0"/>
              <a:t>DROP – deletes the table</a:t>
            </a:r>
          </a:p>
          <a:p>
            <a:endParaRPr lang="en-US"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17</a:t>
            </a:fld>
            <a:endParaRPr lang="en-GB"/>
          </a:p>
        </p:txBody>
      </p:sp>
      <p:sp>
        <p:nvSpPr>
          <p:cNvPr id="7" name="Slide Image Placeholder 6">
            <a:extLst>
              <a:ext uri="{FF2B5EF4-FFF2-40B4-BE49-F238E27FC236}">
                <a16:creationId xmlns:a16="http://schemas.microsoft.com/office/drawing/2014/main" id="{DB77941A-05FF-08A7-F5B6-70721F819DC8}"/>
              </a:ext>
            </a:extLst>
          </p:cNvPr>
          <p:cNvSpPr>
            <a:spLocks noGrp="1" noRot="1" noChangeAspect="1"/>
          </p:cNvSpPr>
          <p:nvPr>
            <p:ph type="sldImg"/>
          </p:nvPr>
        </p:nvSpPr>
        <p:spPr/>
      </p:sp>
    </p:spTree>
    <p:extLst>
      <p:ext uri="{BB962C8B-B14F-4D97-AF65-F5344CB8AC3E}">
        <p14:creationId xmlns:p14="http://schemas.microsoft.com/office/powerpoint/2010/main" val="5347751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18</a:t>
            </a:fld>
            <a:endParaRPr lang="en-GB"/>
          </a:p>
        </p:txBody>
      </p:sp>
      <p:sp>
        <p:nvSpPr>
          <p:cNvPr id="6" name="Slide Image Placeholder 5">
            <a:extLst>
              <a:ext uri="{FF2B5EF4-FFF2-40B4-BE49-F238E27FC236}">
                <a16:creationId xmlns:a16="http://schemas.microsoft.com/office/drawing/2014/main" id="{3CC93584-520D-2F78-DCC2-2D6A1BCA94D1}"/>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BC5E0230-F57F-F271-D52F-B924A25E31FC}"/>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0555791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Here, a local temporary table called #Averages is created, with two columns: </a:t>
            </a:r>
            <a:r>
              <a:rPr lang="en-GB" dirty="0" err="1"/>
              <a:t>SubcategoryID</a:t>
            </a:r>
            <a:r>
              <a:rPr lang="en-GB" dirty="0"/>
              <a:t> and </a:t>
            </a:r>
            <a:r>
              <a:rPr lang="en-GB" dirty="0" err="1"/>
              <a:t>AverageListPrice</a:t>
            </a:r>
            <a:r>
              <a:rPr lang="en-GB" dirty="0"/>
              <a:t>.  An INSERT INTO statement is then performed, loading the #Averages table with each </a:t>
            </a:r>
            <a:r>
              <a:rPr lang="en-GB" dirty="0" err="1"/>
              <a:t>subcategoryID</a:t>
            </a:r>
            <a:r>
              <a:rPr lang="en-GB" dirty="0"/>
              <a:t> and the average </a:t>
            </a:r>
            <a:r>
              <a:rPr lang="en-GB" dirty="0" err="1"/>
              <a:t>listprice</a:t>
            </a:r>
            <a:r>
              <a:rPr lang="en-GB" dirty="0"/>
              <a:t> per category from the </a:t>
            </a:r>
            <a:r>
              <a:rPr lang="en-GB" dirty="0" err="1"/>
              <a:t>Production.Products</a:t>
            </a:r>
            <a:r>
              <a:rPr lang="en-GB" dirty="0"/>
              <a:t> table.  The contents of the #Averages table are then returned, before the table is explicitly dropped.</a:t>
            </a:r>
          </a:p>
          <a:p>
            <a:endParaRPr lang="en-GB" dirty="0"/>
          </a:p>
          <a:p>
            <a:r>
              <a:rPr lang="en-GB" b="1" dirty="0"/>
              <a:t>To make it global ##</a:t>
            </a:r>
          </a:p>
        </p:txBody>
      </p:sp>
      <p:sp>
        <p:nvSpPr>
          <p:cNvPr id="4" name="Slide Number Placeholder 3"/>
          <p:cNvSpPr>
            <a:spLocks noGrp="1"/>
          </p:cNvSpPr>
          <p:nvPr>
            <p:ph type="sldNum" sz="quarter" idx="5"/>
          </p:nvPr>
        </p:nvSpPr>
        <p:spPr/>
        <p:txBody>
          <a:bodyPr/>
          <a:lstStyle/>
          <a:p>
            <a:fld id="{548901C6-1DA1-FB44-ABEE-06A0FEB7738E}" type="slidenum">
              <a:rPr lang="en-GB" smtClean="0"/>
              <a:pPr/>
              <a:t>19</a:t>
            </a:fld>
            <a:endParaRPr lang="en-GB"/>
          </a:p>
        </p:txBody>
      </p:sp>
      <p:sp>
        <p:nvSpPr>
          <p:cNvPr id="7" name="Slide Image Placeholder 6">
            <a:extLst>
              <a:ext uri="{FF2B5EF4-FFF2-40B4-BE49-F238E27FC236}">
                <a16:creationId xmlns:a16="http://schemas.microsoft.com/office/drawing/2014/main" id="{D309CF1C-0045-10C9-04AF-B34B066B08B5}"/>
              </a:ext>
            </a:extLst>
          </p:cNvPr>
          <p:cNvSpPr>
            <a:spLocks noGrp="1" noRot="1" noChangeAspect="1"/>
          </p:cNvSpPr>
          <p:nvPr>
            <p:ph type="sldImg"/>
          </p:nvPr>
        </p:nvSpPr>
        <p:spPr/>
      </p:sp>
    </p:spTree>
    <p:extLst>
      <p:ext uri="{BB962C8B-B14F-4D97-AF65-F5344CB8AC3E}">
        <p14:creationId xmlns:p14="http://schemas.microsoft.com/office/powerpoint/2010/main" val="3694102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20</a:t>
            </a:fld>
            <a:endParaRPr lang="en-GB"/>
          </a:p>
        </p:txBody>
      </p:sp>
      <p:sp>
        <p:nvSpPr>
          <p:cNvPr id="6" name="Slide Image Placeholder 5">
            <a:extLst>
              <a:ext uri="{FF2B5EF4-FFF2-40B4-BE49-F238E27FC236}">
                <a16:creationId xmlns:a16="http://schemas.microsoft.com/office/drawing/2014/main" id="{C7E77C27-E6C5-BBFB-6FAF-E7BC0B099AB5}"/>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0EF7B1BA-AE85-13C0-C39B-29E0E81D8A67}"/>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1056400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21</a:t>
            </a:fld>
            <a:endParaRPr lang="en-GB"/>
          </a:p>
        </p:txBody>
      </p:sp>
      <p:sp>
        <p:nvSpPr>
          <p:cNvPr id="6" name="Slide Image Placeholder 5">
            <a:extLst>
              <a:ext uri="{FF2B5EF4-FFF2-40B4-BE49-F238E27FC236}">
                <a16:creationId xmlns:a16="http://schemas.microsoft.com/office/drawing/2014/main" id="{08F07B3B-F0AD-AC23-CC9F-F077E937C27F}"/>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93700945-6F24-2A14-959D-59D119BA5749}"/>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7769924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C3B063-F6BB-C2B1-0398-9B3F8A2AE5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C52AFF-28DD-2B72-03C2-E96C6F101FD5}"/>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726277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15.sv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6" name="Text Placeholder 7"/>
          <p:cNvSpPr>
            <a:spLocks noGrp="1"/>
          </p:cNvSpPr>
          <p:nvPr>
            <p:ph type="body" sz="quarter" idx="11" hasCustomPrompt="1"/>
          </p:nvPr>
        </p:nvSpPr>
        <p:spPr>
          <a:xfrm>
            <a:off x="376237" y="1240838"/>
            <a:ext cx="11431587" cy="5237751"/>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marL="88898" indent="0">
              <a:lnSpc>
                <a:spcPct val="100000"/>
              </a:lnSpc>
              <a:buFont typeface="Arial" panose="020B0604020202020204" pitchFamily="34" charset="0"/>
              <a:buNone/>
              <a:defRPr sz="1800" b="0"/>
            </a:lvl3pPr>
            <a:lvl4pPr marL="88898" indent="0">
              <a:lnSpc>
                <a:spcPct val="100000"/>
              </a:lnSpc>
              <a:buFont typeface="Arial" panose="020B0604020202020204" pitchFamily="34" charset="0"/>
              <a:buNone/>
              <a:defRPr sz="1800" b="0"/>
            </a:lvl4pPr>
            <a:lvl5pPr marL="355591" indent="-266693">
              <a:lnSpc>
                <a:spcPct val="100000"/>
              </a:lnSpc>
              <a:buFont typeface="Arial" panose="020B0604020202020204" pitchFamily="34" charset="0"/>
              <a:buChar char="•"/>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529662652"/>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5" name="Text Placeholder 2">
            <a:extLst>
              <a:ext uri="{FF2B5EF4-FFF2-40B4-BE49-F238E27FC236}">
                <a16:creationId xmlns:a16="http://schemas.microsoft.com/office/drawing/2014/main" id="{503A14FE-D075-C54D-A7E3-E22DBF933384}"/>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759301388"/>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167298" y="2921079"/>
            <a:ext cx="2124159" cy="2749952"/>
          </a:xfrm>
        </p:spPr>
        <p:txBody>
          <a:bodyPr/>
          <a:lstStyle>
            <a:lvl1pPr marL="0" indent="0">
              <a:lnSpc>
                <a:spcPct val="100000"/>
              </a:lnSpc>
              <a:buFont typeface="Arial" panose="020B0604020202020204" pitchFamily="34" charset="0"/>
              <a:buNone/>
              <a:defRPr sz="1800" b="0"/>
            </a:lvl1pPr>
            <a:lvl2pPr marL="0" indent="0">
              <a:buFont typeface="Arial" panose="020B0604020202020204" pitchFamily="34" charset="0"/>
              <a:buNone/>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4" name="Text Placeholder 4"/>
          <p:cNvSpPr>
            <a:spLocks noGrp="1"/>
          </p:cNvSpPr>
          <p:nvPr>
            <p:ph type="body" sz="quarter" idx="16" hasCustomPrompt="1"/>
          </p:nvPr>
        </p:nvSpPr>
        <p:spPr>
          <a:xfrm>
            <a:off x="3747517" y="2921079"/>
            <a:ext cx="2068065"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6" name="Text Placeholder 4"/>
          <p:cNvSpPr>
            <a:spLocks noGrp="1"/>
          </p:cNvSpPr>
          <p:nvPr>
            <p:ph type="body" sz="quarter" idx="17" hasCustomPrompt="1"/>
          </p:nvPr>
        </p:nvSpPr>
        <p:spPr>
          <a:xfrm>
            <a:off x="6257866" y="2921079"/>
            <a:ext cx="2130523"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7" name="Picture Placeholder 21"/>
          <p:cNvSpPr>
            <a:spLocks noGrp="1"/>
          </p:cNvSpPr>
          <p:nvPr>
            <p:ph type="pic" sz="quarter" idx="18" hasCustomPrompt="1"/>
          </p:nvPr>
        </p:nvSpPr>
        <p:spPr>
          <a:xfrm>
            <a:off x="1167299" y="1240564"/>
            <a:ext cx="1437932" cy="1437931"/>
          </a:xfrm>
        </p:spPr>
        <p:txBody>
          <a:bodyPr/>
          <a:lstStyle>
            <a:lvl1pPr marL="0" indent="0">
              <a:buNone/>
              <a:defRPr/>
            </a:lvl1pPr>
          </a:lstStyle>
          <a:p>
            <a:r>
              <a:rPr lang="en-GB"/>
              <a:t>icon</a:t>
            </a:r>
          </a:p>
        </p:txBody>
      </p:sp>
      <p:sp>
        <p:nvSpPr>
          <p:cNvPr id="8" name="Picture Placeholder 21"/>
          <p:cNvSpPr>
            <a:spLocks noGrp="1"/>
          </p:cNvSpPr>
          <p:nvPr>
            <p:ph type="pic" sz="quarter" idx="19" hasCustomPrompt="1"/>
          </p:nvPr>
        </p:nvSpPr>
        <p:spPr>
          <a:xfrm>
            <a:off x="3747517" y="1233488"/>
            <a:ext cx="1437932" cy="1437931"/>
          </a:xfrm>
        </p:spPr>
        <p:txBody>
          <a:bodyPr/>
          <a:lstStyle>
            <a:lvl1pPr marL="0" indent="0">
              <a:buNone/>
              <a:defRPr/>
            </a:lvl1pPr>
          </a:lstStyle>
          <a:p>
            <a:r>
              <a:rPr lang="en-GB"/>
              <a:t>icon</a:t>
            </a:r>
          </a:p>
        </p:txBody>
      </p:sp>
      <p:sp>
        <p:nvSpPr>
          <p:cNvPr id="9" name="Picture Placeholder 21"/>
          <p:cNvSpPr>
            <a:spLocks noGrp="1"/>
          </p:cNvSpPr>
          <p:nvPr>
            <p:ph type="pic" sz="quarter" idx="20" hasCustomPrompt="1"/>
          </p:nvPr>
        </p:nvSpPr>
        <p:spPr>
          <a:xfrm>
            <a:off x="6257867" y="1240564"/>
            <a:ext cx="1437932" cy="1437931"/>
          </a:xfrm>
        </p:spPr>
        <p:txBody>
          <a:bodyPr/>
          <a:lstStyle>
            <a:lvl1pPr marL="0" indent="0">
              <a:buNone/>
              <a:defRPr/>
            </a:lvl1pPr>
          </a:lstStyle>
          <a:p>
            <a:r>
              <a:rPr lang="en-GB"/>
              <a:t>icon</a:t>
            </a:r>
          </a:p>
        </p:txBody>
      </p:sp>
      <p:sp>
        <p:nvSpPr>
          <p:cNvPr id="10" name="Text Placeholder 4"/>
          <p:cNvSpPr>
            <a:spLocks noGrp="1"/>
          </p:cNvSpPr>
          <p:nvPr>
            <p:ph type="body" sz="quarter" idx="21" hasCustomPrompt="1"/>
          </p:nvPr>
        </p:nvSpPr>
        <p:spPr>
          <a:xfrm>
            <a:off x="8744941" y="2936069"/>
            <a:ext cx="2183449"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11" name="Picture Placeholder 21"/>
          <p:cNvSpPr>
            <a:spLocks noGrp="1"/>
          </p:cNvSpPr>
          <p:nvPr>
            <p:ph type="pic" sz="quarter" idx="22" hasCustomPrompt="1"/>
          </p:nvPr>
        </p:nvSpPr>
        <p:spPr>
          <a:xfrm>
            <a:off x="8744942" y="1255555"/>
            <a:ext cx="1437932" cy="1437931"/>
          </a:xfrm>
        </p:spPr>
        <p:txBody>
          <a:bodyPr/>
          <a:lstStyle>
            <a:lvl1pPr marL="0" indent="0">
              <a:buNone/>
              <a:defRPr/>
            </a:lvl1pPr>
          </a:lstStyle>
          <a:p>
            <a:r>
              <a:rPr lang="en-GB"/>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4" name="Text Placeholder 2">
            <a:extLst>
              <a:ext uri="{FF2B5EF4-FFF2-40B4-BE49-F238E27FC236}">
                <a16:creationId xmlns:a16="http://schemas.microsoft.com/office/drawing/2014/main" id="{92C408C0-1A1B-4D4D-B79A-2D37D6F3CB19}"/>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29773864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167876"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613794"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Text Placeholder 7"/>
          <p:cNvSpPr>
            <a:spLocks noGrp="1"/>
          </p:cNvSpPr>
          <p:nvPr>
            <p:ph type="body" sz="quarter" idx="14" hasCustomPrompt="1"/>
          </p:nvPr>
        </p:nvSpPr>
        <p:spPr>
          <a:xfrm>
            <a:off x="6059713" y="1246664"/>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Text Placeholder 7"/>
          <p:cNvSpPr>
            <a:spLocks noGrp="1"/>
          </p:cNvSpPr>
          <p:nvPr>
            <p:ph type="body" sz="quarter" idx="15" hasCustomPrompt="1"/>
          </p:nvPr>
        </p:nvSpPr>
        <p:spPr>
          <a:xfrm>
            <a:off x="8505633" y="1246663"/>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DC41670F-D9DB-3140-AAEA-4430FBF2D30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42437395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6186490" y="1246663"/>
            <a:ext cx="5612791"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82589" y="1246661"/>
            <a:ext cx="5621337"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FE1C86EE-79CD-A844-BC58-36532ABD5C56}"/>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66748776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 and Text">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91181" y="1240839"/>
            <a:ext cx="5612745" cy="5237749"/>
          </a:xfrm>
          <a:prstGeom prst="rect">
            <a:avLst/>
          </a:prstGeom>
        </p:spPr>
        <p:txBody>
          <a:bodyPr/>
          <a:lstStyle>
            <a:lvl1pPr marL="0" indent="0">
              <a:buNone/>
              <a:defRPr/>
            </a:lvl1pPr>
          </a:lstStyle>
          <a:p>
            <a:r>
              <a:rPr lang="en-US"/>
              <a:t>Click icon to add picture</a:t>
            </a:r>
          </a:p>
        </p:txBody>
      </p:sp>
      <p:sp>
        <p:nvSpPr>
          <p:cNvPr id="10" name="Text Placeholder 7"/>
          <p:cNvSpPr>
            <a:spLocks noGrp="1"/>
          </p:cNvSpPr>
          <p:nvPr>
            <p:ph type="body" sz="quarter" idx="11" hasCustomPrompt="1"/>
          </p:nvPr>
        </p:nvSpPr>
        <p:spPr>
          <a:xfrm>
            <a:off x="6186489" y="1239313"/>
            <a:ext cx="5621337" cy="5239275"/>
          </a:xfrm>
        </p:spPr>
        <p:txBody>
          <a:bodyPr/>
          <a:lstStyle>
            <a:lvl1pPr marL="0" indent="0">
              <a:lnSpc>
                <a:spcPct val="100000"/>
              </a:lnSpc>
              <a:buFont typeface="Arial" panose="020B0604020202020204" pitchFamily="34" charset="0"/>
              <a:buNone/>
              <a:defRPr sz="1800" b="0"/>
            </a:lvl1pPr>
            <a:lvl2pPr marL="171446" marR="0" indent="-171446" algn="l" defTabSz="914377" rtl="0" eaLnBrk="1" fontAlgn="auto" latinLnBrk="0" hangingPunct="1">
              <a:lnSpc>
                <a:spcPct val="100000"/>
              </a:lnSpc>
              <a:spcBef>
                <a:spcPts val="0"/>
              </a:spcBef>
              <a:spcAft>
                <a:spcPts val="651"/>
              </a:spcAft>
              <a:buClrTx/>
              <a:buSzPct val="125000"/>
              <a:buFont typeface="Arial" panose="020B0604020202020204" pitchFamily="34" charset="0"/>
              <a:buChar char="•"/>
              <a:tabLst/>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BC6158FE-928A-7845-B66A-66F0FE0F7F9C}"/>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3864364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82062" y="1239312"/>
            <a:ext cx="5621863" cy="5239275"/>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199185" y="1246663"/>
            <a:ext cx="5608641" cy="5231924"/>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3FBF726-3A82-7143-ACCB-5046CC509D9D}"/>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86077348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376238" y="3968576"/>
            <a:ext cx="5627687" cy="2520000"/>
          </a:xfrm>
        </p:spPr>
        <p:txBody>
          <a:bodyPr/>
          <a:lstStyle>
            <a:lvl1pPr marL="0" indent="0">
              <a:lnSpc>
                <a:spcPct val="100000"/>
              </a:lnSpc>
              <a:buFont typeface="Arial" panose="020B0604020202020204" pitchFamily="34" charset="0"/>
              <a:buNone/>
              <a:defRPr sz="1800" b="0"/>
            </a:lvl1pPr>
            <a:lvl2pPr marL="171446" indent="-171446">
              <a:buFont typeface="Arial" panose="020B0604020202020204" pitchFamily="34" charset="0"/>
              <a:buChar char="•"/>
              <a:defRPr sz="1800"/>
            </a:lvl2pPr>
            <a:lvl3pPr marL="0" indent="0">
              <a:buNone/>
              <a:defRPr sz="1800"/>
            </a:lvl3pPr>
            <a:lvl4pPr>
              <a:defRPr sz="1800"/>
            </a:lvl4pPr>
            <a:lvl5pPr>
              <a:defRPr sz="1800"/>
            </a:lvl5pPr>
          </a:lstStyle>
          <a:p>
            <a:pPr lvl="0"/>
            <a:r>
              <a:rPr lang="en-US"/>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76249" y="1233490"/>
            <a:ext cx="5627676" cy="2576511"/>
          </a:xfrm>
          <a:prstGeom prst="rect">
            <a:avLst/>
          </a:prstGeom>
        </p:spPr>
        <p:txBody>
          <a:bodyPr/>
          <a:lstStyle>
            <a:lvl1pPr marL="0" indent="0">
              <a:buNone/>
              <a:defRPr baseline="0"/>
            </a:lvl1pPr>
          </a:lstStyle>
          <a:p>
            <a:r>
              <a:rPr lang="en-US"/>
              <a:t>Click icon to add picture</a:t>
            </a:r>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6180195" y="1233489"/>
            <a:ext cx="5627631" cy="2576511"/>
          </a:xfrm>
          <a:prstGeom prst="rect">
            <a:avLst/>
          </a:prstGeom>
        </p:spPr>
        <p:txBody>
          <a:bodyPr/>
          <a:lstStyle>
            <a:lvl1pPr marL="0" indent="0">
              <a:buNone/>
              <a:defRPr baseline="0"/>
            </a:lvl1pPr>
          </a:lstStyle>
          <a:p>
            <a:r>
              <a:rPr lang="en-US"/>
              <a:t>Click icon to add picture</a:t>
            </a:r>
          </a:p>
        </p:txBody>
      </p:sp>
      <p:sp>
        <p:nvSpPr>
          <p:cNvPr id="8" name="Text Placeholder 7"/>
          <p:cNvSpPr>
            <a:spLocks noGrp="1"/>
          </p:cNvSpPr>
          <p:nvPr>
            <p:ph type="body" sz="quarter" idx="11" hasCustomPrompt="1"/>
          </p:nvPr>
        </p:nvSpPr>
        <p:spPr>
          <a:xfrm>
            <a:off x="6180195" y="3968576"/>
            <a:ext cx="5627631" cy="2520000"/>
          </a:xfrm>
        </p:spPr>
        <p:txBody>
          <a:bodyPr/>
          <a:lstStyle>
            <a:lvl1pPr marL="0" indent="0">
              <a:lnSpc>
                <a:spcPct val="100000"/>
              </a:lnSpc>
              <a:buFont typeface="Arial" panose="020B0604020202020204" pitchFamily="34" charset="0"/>
              <a:buNone/>
              <a:defRPr b="0"/>
            </a:lvl1pPr>
            <a:lvl2pPr marL="171446" indent="-171446">
              <a:buFont typeface="Arial" panose="020B0604020202020204" pitchFamily="34" charset="0"/>
              <a:buChar char="•"/>
              <a:defRPr/>
            </a:lvl2pPr>
          </a:lstStyle>
          <a:p>
            <a:pPr lvl="0"/>
            <a:r>
              <a:rPr lang="en-US"/>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0270B6DD-EFD0-B148-AC2D-17D9B4352A1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34283489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406779689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210361083"/>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635528580"/>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3532507367"/>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993500073"/>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Header - Red">
    <p:spTree>
      <p:nvGrpSpPr>
        <p:cNvPr id="1" name=""/>
        <p:cNvGrpSpPr/>
        <p:nvPr/>
      </p:nvGrpSpPr>
      <p:grpSpPr>
        <a:xfrm>
          <a:off x="0" y="0"/>
          <a:ext cx="0" cy="0"/>
          <a:chOff x="0" y="0"/>
          <a:chExt cx="0" cy="0"/>
        </a:xfrm>
      </p:grpSpPr>
      <p:sp>
        <p:nvSpPr>
          <p:cNvPr id="3" name="Rectangle 2"/>
          <p:cNvSpPr/>
          <p:nvPr/>
        </p:nvSpPr>
        <p:spPr>
          <a:xfrm>
            <a:off x="0" y="0"/>
            <a:ext cx="12192000" cy="6858000"/>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9" y="493"/>
            <a:ext cx="12192649" cy="6857507"/>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1952" y="377825"/>
            <a:ext cx="2133602" cy="1365505"/>
          </a:xfrm>
          <a:prstGeom prst="rect">
            <a:avLst/>
          </a:prstGeom>
        </p:spPr>
      </p:pic>
      <p:sp>
        <p:nvSpPr>
          <p:cNvPr id="10" name="Title 1">
            <a:extLst>
              <a:ext uri="{FF2B5EF4-FFF2-40B4-BE49-F238E27FC236}">
                <a16:creationId xmlns:a16="http://schemas.microsoft.com/office/drawing/2014/main" id="{2B541408-9F20-4E79-B69D-8A8151C2DD05}"/>
              </a:ext>
            </a:extLst>
          </p:cNvPr>
          <p:cNvSpPr>
            <a:spLocks noGrp="1"/>
          </p:cNvSpPr>
          <p:nvPr>
            <p:ph type="ctrTitle"/>
          </p:nvPr>
        </p:nvSpPr>
        <p:spPr>
          <a:xfrm>
            <a:off x="548369" y="2265730"/>
            <a:ext cx="5627171" cy="2211677"/>
          </a:xfrm>
        </p:spPr>
        <p:txBody>
          <a:bodyPr anchor="t" anchorCtr="0">
            <a:noAutofit/>
          </a:bodyPr>
          <a:lstStyle>
            <a:lvl1pPr algn="l">
              <a:lnSpc>
                <a:spcPct val="80000"/>
              </a:lnSpc>
              <a:defRPr sz="5600" cap="all" baseline="0">
                <a:solidFill>
                  <a:schemeClr val="bg1"/>
                </a:solidFill>
              </a:defRPr>
            </a:lvl1pPr>
          </a:lstStyle>
          <a:p>
            <a:r>
              <a:rPr lang="en-US" noProof="0"/>
              <a:t>Click to edit Master title style</a:t>
            </a:r>
            <a:endParaRPr lang="en-GB" noProof="0" dirty="0"/>
          </a:p>
        </p:txBody>
      </p:sp>
    </p:spTree>
    <p:extLst>
      <p:ext uri="{BB962C8B-B14F-4D97-AF65-F5344CB8AC3E}">
        <p14:creationId xmlns:p14="http://schemas.microsoft.com/office/powerpoint/2010/main" val="2564512730"/>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Content - 1ARROW">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r="9709"/>
          <a:stretch/>
        </p:blipFill>
        <p:spPr>
          <a:xfrm>
            <a:off x="6590289" y="11113"/>
            <a:ext cx="5601711" cy="6860864"/>
          </a:xfrm>
          <a:prstGeom prst="rect">
            <a:avLst/>
          </a:prstGeom>
        </p:spPr>
      </p:pic>
      <p:sp>
        <p:nvSpPr>
          <p:cNvPr id="5" name="Text Placeholder 2"/>
          <p:cNvSpPr>
            <a:spLocks noGrp="1"/>
          </p:cNvSpPr>
          <p:nvPr>
            <p:ph type="body" sz="quarter" idx="12" hasCustomPrompt="1"/>
          </p:nvPr>
        </p:nvSpPr>
        <p:spPr>
          <a:xfrm>
            <a:off x="1357921" y="1240172"/>
            <a:ext cx="9483118" cy="520262"/>
          </a:xfrm>
        </p:spPr>
        <p:txBody>
          <a:bodyPr/>
          <a:lstStyle>
            <a:lvl1pPr marL="0" indent="0">
              <a:lnSpc>
                <a:spcPct val="90000"/>
              </a:lnSpc>
              <a:spcAft>
                <a:spcPts val="0"/>
              </a:spcAft>
              <a:buFont typeface="Arial" panose="020B0604020202020204" pitchFamily="34" charset="0"/>
              <a:buNone/>
              <a:defRPr sz="40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Page title to sit here</a:t>
            </a:r>
          </a:p>
        </p:txBody>
      </p:sp>
      <p:sp>
        <p:nvSpPr>
          <p:cNvPr id="6" name="Text Placeholder 7"/>
          <p:cNvSpPr>
            <a:spLocks noGrp="1"/>
          </p:cNvSpPr>
          <p:nvPr>
            <p:ph type="body" sz="quarter" idx="11"/>
          </p:nvPr>
        </p:nvSpPr>
        <p:spPr>
          <a:xfrm>
            <a:off x="1357921" y="2102264"/>
            <a:ext cx="9483117" cy="4376323"/>
          </a:xfrm>
        </p:spPr>
        <p:txBody>
          <a:bodyPr/>
          <a:lstStyle>
            <a:lvl1pPr marL="0" indent="0">
              <a:buFont typeface="Arial" panose="020B0604020202020204" pitchFamily="34" charset="0"/>
              <a:buNone/>
              <a:defRPr/>
            </a:lvl1pPr>
            <a:lvl2pPr marL="171450" indent="-171450">
              <a:buFont typeface="Arial" panose="020B0604020202020204"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9" name="Slide Number Placeholder 5">
            <a:extLst>
              <a:ext uri="{FF2B5EF4-FFF2-40B4-BE49-F238E27FC236}">
                <a16:creationId xmlns:a16="http://schemas.microsoft.com/office/drawing/2014/main" id="{8A975D01-89DD-456F-80CA-73FF7FB9E1B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934844288"/>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01 Section Divider">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pic>
        <p:nvPicPr>
          <p:cNvPr id="10" name="Graphic 31">
            <a:extLst>
              <a:ext uri="{FF2B5EF4-FFF2-40B4-BE49-F238E27FC236}">
                <a16:creationId xmlns:a16="http://schemas.microsoft.com/office/drawing/2014/main" id="{1AABA4C8-3AF1-D94B-A8D4-5A6363015C9B}"/>
              </a:ext>
            </a:extLst>
          </p:cNvPr>
          <p:cNvPicPr>
            <a:picLocks noChangeAspect="1"/>
          </p:cNvPicPr>
          <p:nvPr/>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1" name="Title 1">
            <a:extLst>
              <a:ext uri="{FF2B5EF4-FFF2-40B4-BE49-F238E27FC236}">
                <a16:creationId xmlns:a16="http://schemas.microsoft.com/office/drawing/2014/main" id="{EBBB6D40-B4C9-8B4A-B2A6-126F64906376}"/>
              </a:ext>
            </a:extLst>
          </p:cNvPr>
          <p:cNvSpPr>
            <a:spLocks noGrp="1"/>
          </p:cNvSpPr>
          <p:nvPr>
            <p:ph type="ctrTitle"/>
          </p:nvPr>
        </p:nvSpPr>
        <p:spPr>
          <a:xfrm>
            <a:off x="384784" y="3089654"/>
            <a:ext cx="707527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4058920986"/>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4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59613" y="1556247"/>
            <a:ext cx="6814270" cy="2277604"/>
          </a:xfrm>
        </p:spPr>
        <p:txBody>
          <a:bodyPr anchor="b" anchorCtr="0">
            <a:noAutofit/>
          </a:bodyPr>
          <a:lstStyle>
            <a:lvl1pPr algn="l">
              <a:lnSpc>
                <a:spcPct val="90000"/>
              </a:lnSpc>
              <a:defRPr sz="54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7" name="Graphic 31">
            <a:extLst>
              <a:ext uri="{FF2B5EF4-FFF2-40B4-BE49-F238E27FC236}">
                <a16:creationId xmlns:a16="http://schemas.microsoft.com/office/drawing/2014/main" id="{5548F746-665E-408B-B0D4-EA7E82C51CF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800880035"/>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02 Section Divider">
    <p:bg>
      <p:bgPr>
        <a:solidFill>
          <a:schemeClr val="accent6"/>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3" name="Title 1">
            <a:extLst>
              <a:ext uri="{FF2B5EF4-FFF2-40B4-BE49-F238E27FC236}">
                <a16:creationId xmlns:a16="http://schemas.microsoft.com/office/drawing/2014/main" id="{EBBB6D40-B4C9-8B4A-B2A6-126F64906376}"/>
              </a:ext>
            </a:extLst>
          </p:cNvPr>
          <p:cNvSpPr>
            <a:spLocks noGrp="1"/>
          </p:cNvSpPr>
          <p:nvPr>
            <p:ph type="ctrTitle"/>
          </p:nvPr>
        </p:nvSpPr>
        <p:spPr>
          <a:xfrm>
            <a:off x="376238" y="1897166"/>
            <a:ext cx="7011390"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 y="1897166"/>
            <a:ext cx="11479292" cy="4960834"/>
          </a:xfrm>
          <a:prstGeom prst="rect">
            <a:avLst/>
          </a:prstGeom>
        </p:spPr>
      </p:pic>
    </p:spTree>
    <p:extLst>
      <p:ext uri="{BB962C8B-B14F-4D97-AF65-F5344CB8AC3E}">
        <p14:creationId xmlns:p14="http://schemas.microsoft.com/office/powerpoint/2010/main" val="3587707749"/>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03 Section Divider">
    <p:bg>
      <p:bgPr>
        <a:solidFill>
          <a:schemeClr val="accent3"/>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42453"/>
          <a:stretch/>
        </p:blipFill>
        <p:spPr>
          <a:xfrm>
            <a:off x="-1" y="2138695"/>
            <a:ext cx="11137643" cy="4973375"/>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6783308"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2031412884"/>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04 Section Divider">
    <p:bg>
      <p:bgPr>
        <a:solidFill>
          <a:schemeClr val="accent4"/>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700059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7" name="Picture 6"/>
          <p:cNvPicPr>
            <a:picLocks noChangeAspect="1"/>
          </p:cNvPicPr>
          <p:nvPr/>
        </p:nvPicPr>
        <p:blipFill rotWithShape="1">
          <a:blip r:embed="rId3">
            <a:biLevel thresh="25000"/>
            <a:extLst>
              <a:ext uri="{28A0092B-C50C-407E-A947-70E740481C1C}">
                <a14:useLocalDpi xmlns:a14="http://schemas.microsoft.com/office/drawing/2010/main" val="0"/>
              </a:ext>
            </a:extLst>
          </a:blip>
          <a:srcRect l="2277"/>
          <a:stretch/>
        </p:blipFill>
        <p:spPr>
          <a:xfrm>
            <a:off x="0" y="2294314"/>
            <a:ext cx="9545652" cy="4066446"/>
          </a:xfrm>
          <a:prstGeom prst="rect">
            <a:avLst/>
          </a:prstGeom>
        </p:spPr>
      </p:pic>
    </p:spTree>
    <p:extLst>
      <p:ext uri="{BB962C8B-B14F-4D97-AF65-F5344CB8AC3E}">
        <p14:creationId xmlns:p14="http://schemas.microsoft.com/office/powerpoint/2010/main" val="3761833545"/>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cSld name="3_02 Section Divider">
    <p:bg>
      <p:bgPr>
        <a:solidFill>
          <a:srgbClr val="004050"/>
        </a:solidFill>
        <a:effectLst/>
      </p:bgPr>
    </p:bg>
    <p:spTree>
      <p:nvGrpSpPr>
        <p:cNvPr id="1" name=""/>
        <p:cNvGrpSpPr/>
        <p:nvPr/>
      </p:nvGrpSpPr>
      <p:grpSpPr>
        <a:xfrm>
          <a:off x="0" y="0"/>
          <a:ext cx="0" cy="0"/>
          <a:chOff x="0" y="0"/>
          <a:chExt cx="0" cy="0"/>
        </a:xfrm>
      </p:grpSpPr>
      <p:sp>
        <p:nvSpPr>
          <p:cNvPr id="3" name="Rectangle 2"/>
          <p:cNvSpPr/>
          <p:nvPr/>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Freeform 4">
            <a:extLst>
              <a:ext uri="{FF2B5EF4-FFF2-40B4-BE49-F238E27FC236}">
                <a16:creationId xmlns:a16="http://schemas.microsoft.com/office/drawing/2014/main" id="{A0DD6AED-2202-DD48-A2D6-60CCC5F07320}"/>
              </a:ext>
            </a:extLst>
          </p:cNvPr>
          <p:cNvSpPr/>
          <p:nvPr/>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004050"/>
          </a:solidFill>
          <a:ln w="6350" cap="flat">
            <a:noFill/>
            <a:prstDash val="solid"/>
            <a:miter/>
          </a:ln>
        </p:spPr>
        <p:txBody>
          <a:bodyPr rtlCol="0" anchor="ctr"/>
          <a:lstStyle/>
          <a:p>
            <a:endParaRPr lang="en-GB" dirty="0"/>
          </a:p>
        </p:txBody>
      </p:sp>
      <p:sp>
        <p:nvSpPr>
          <p:cNvPr id="4" name="Rectangle 3"/>
          <p:cNvSpPr/>
          <p:nvPr/>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7071966" cy="2353439"/>
          </a:xfrm>
        </p:spPr>
        <p:txBody>
          <a:bodyPr anchor="b" anchorCtr="0">
            <a:noAutofit/>
          </a:bodyPr>
          <a:lstStyle>
            <a:lvl1pPr algn="l">
              <a:lnSpc>
                <a:spcPts val="6000"/>
              </a:lnSpc>
              <a:defRPr sz="5400" spc="60" baseline="0">
                <a:solidFill>
                  <a:srgbClr val="004050"/>
                </a:solidFill>
              </a:defRPr>
            </a:lvl1pPr>
          </a:lstStyle>
          <a:p>
            <a:r>
              <a:rPr lang="en-US" noProof="0" dirty="0"/>
              <a:t>Click to edit master title style</a:t>
            </a:r>
            <a:endParaRPr lang="en-GB" noProof="0" dirty="0"/>
          </a:p>
        </p:txBody>
      </p:sp>
      <p:pic>
        <p:nvPicPr>
          <p:cNvPr id="6" name="Graphic 31">
            <a:extLst>
              <a:ext uri="{FF2B5EF4-FFF2-40B4-BE49-F238E27FC236}">
                <a16:creationId xmlns:a16="http://schemas.microsoft.com/office/drawing/2014/main" id="{B724B3C1-1C9A-478C-8A84-BF65A52018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122276426"/>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Activity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653548AA-2EF5-4301-B743-9688BED3B31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528599252"/>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1_Activity 1">
    <p:bg>
      <p:bgPr>
        <a:solidFill>
          <a:srgbClr val="F3622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1412F92A-2AA3-4AE7-9685-27769A9522A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206759436"/>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2_Activity 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5" name="Slide Number Placeholder 5">
            <a:extLst>
              <a:ext uri="{FF2B5EF4-FFF2-40B4-BE49-F238E27FC236}">
                <a16:creationId xmlns:a16="http://schemas.microsoft.com/office/drawing/2014/main" id="{F0ACF9E5-B24F-48AB-A388-369B61722EB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422121384"/>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3_Activity 1">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EF226655-D805-4B87-813B-F781D2DAFE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554667742"/>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4_Activity 1">
    <p:bg>
      <p:bgPr>
        <a:solidFill>
          <a:srgbClr val="20D3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tx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tx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6" name="Slide Number Placeholder 5">
            <a:extLst>
              <a:ext uri="{FF2B5EF4-FFF2-40B4-BE49-F238E27FC236}">
                <a16:creationId xmlns:a16="http://schemas.microsoft.com/office/drawing/2014/main" id="{5A6219D4-D160-4AED-AB5B-A5ED5A7543E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742265875"/>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9_Title Slide">
    <p:spTree>
      <p:nvGrpSpPr>
        <p:cNvPr id="1" name=""/>
        <p:cNvGrpSpPr/>
        <p:nvPr/>
      </p:nvGrpSpPr>
      <p:grpSpPr>
        <a:xfrm>
          <a:off x="0" y="0"/>
          <a:ext cx="0" cy="0"/>
          <a:chOff x="0" y="0"/>
          <a:chExt cx="0" cy="0"/>
        </a:xfrm>
      </p:grpSpPr>
      <p:pic>
        <p:nvPicPr>
          <p:cNvPr id="13"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
        <p:nvSpPr>
          <p:cNvPr id="3" name="Title Placeholder 1">
            <a:extLst>
              <a:ext uri="{FF2B5EF4-FFF2-40B4-BE49-F238E27FC236}">
                <a16:creationId xmlns:a16="http://schemas.microsoft.com/office/drawing/2014/main" id="{62421104-899E-4F1E-9A2F-57175A8CFD01}"/>
              </a:ext>
            </a:extLst>
          </p:cNvPr>
          <p:cNvSpPr txBox="1">
            <a:spLocks/>
          </p:cNvSpPr>
          <p:nvPr/>
        </p:nvSpPr>
        <p:spPr>
          <a:xfrm>
            <a:off x="1198387" y="377825"/>
            <a:ext cx="9491663" cy="68761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rPr>
              <a:t>Click to edit Master title style</a:t>
            </a:r>
            <a:endParaRPr kumimoji="0" lang="en-GB"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endParaRPr>
          </a:p>
        </p:txBody>
      </p:sp>
      <p:sp>
        <p:nvSpPr>
          <p:cNvPr id="4" name="Slide Number Placeholder 5">
            <a:extLst>
              <a:ext uri="{FF2B5EF4-FFF2-40B4-BE49-F238E27FC236}">
                <a16:creationId xmlns:a16="http://schemas.microsoft.com/office/drawing/2014/main" id="{8BF3B38F-9248-4518-960F-EDA7B13F7B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286597319"/>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pic>
        <p:nvPicPr>
          <p:cNvPr id="3" name="Graphic 31">
            <a:extLst>
              <a:ext uri="{FF2B5EF4-FFF2-40B4-BE49-F238E27FC236}">
                <a16:creationId xmlns:a16="http://schemas.microsoft.com/office/drawing/2014/main" id="{BF07CB53-EE82-464E-99DB-433208E1C2C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914880026"/>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cSld name="Overview or quotes 05">
    <p:spTree>
      <p:nvGrpSpPr>
        <p:cNvPr id="1" name=""/>
        <p:cNvGrpSpPr/>
        <p:nvPr/>
      </p:nvGrpSpPr>
      <p:grpSpPr>
        <a:xfrm>
          <a:off x="0" y="0"/>
          <a:ext cx="0" cy="0"/>
          <a:chOff x="0" y="0"/>
          <a:chExt cx="0" cy="0"/>
        </a:xfrm>
      </p:grpSpPr>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0E2147E7-0E00-4857-9387-8C98DB82E1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25545F83-4383-41AF-855D-23D197ADAF1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
        <p:nvSpPr>
          <p:cNvPr id="10" name="Rectangle 9">
            <a:extLst>
              <a:ext uri="{FF2B5EF4-FFF2-40B4-BE49-F238E27FC236}">
                <a16:creationId xmlns:a16="http://schemas.microsoft.com/office/drawing/2014/main" id="{332E764C-EBE6-479A-AB95-7DEDDD4099E4}"/>
              </a:ext>
            </a:extLst>
          </p:cNvPr>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2" name="Freeform 12">
            <a:extLst>
              <a:ext uri="{FF2B5EF4-FFF2-40B4-BE49-F238E27FC236}">
                <a16:creationId xmlns:a16="http://schemas.microsoft.com/office/drawing/2014/main" id="{DA43B18F-4FA4-4FCF-825F-D0DD760AF2D9}"/>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4" name="Graphic 31">
            <a:extLst>
              <a:ext uri="{FF2B5EF4-FFF2-40B4-BE49-F238E27FC236}">
                <a16:creationId xmlns:a16="http://schemas.microsoft.com/office/drawing/2014/main" id="{774B56EF-1DB1-424D-AB07-7867B0A1691D}"/>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879582263"/>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cSld name="Overview or quotes 04">
    <p:spTree>
      <p:nvGrpSpPr>
        <p:cNvPr id="1" name=""/>
        <p:cNvGrpSpPr/>
        <p:nvPr/>
      </p:nvGrpSpPr>
      <p:grpSpPr>
        <a:xfrm>
          <a:off x="0" y="0"/>
          <a:ext cx="0" cy="0"/>
          <a:chOff x="0" y="0"/>
          <a:chExt cx="0" cy="0"/>
        </a:xfrm>
      </p:grpSpPr>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700893CE-9599-46E1-8C4B-E49F55C460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0" name="Text Placeholder 2">
            <a:extLst>
              <a:ext uri="{FF2B5EF4-FFF2-40B4-BE49-F238E27FC236}">
                <a16:creationId xmlns:a16="http://schemas.microsoft.com/office/drawing/2014/main" id="{FD6CBE0F-9A3C-4223-BCB1-72E6DB41D09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
        <p:nvSpPr>
          <p:cNvPr id="12" name="Rectangle 11">
            <a:extLst>
              <a:ext uri="{FF2B5EF4-FFF2-40B4-BE49-F238E27FC236}">
                <a16:creationId xmlns:a16="http://schemas.microsoft.com/office/drawing/2014/main" id="{B454E918-A1A0-4CCA-80A8-0FE5BCB17418}"/>
              </a:ext>
            </a:extLst>
          </p:cNvPr>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3" name="Graphic 31">
            <a:extLst>
              <a:ext uri="{FF2B5EF4-FFF2-40B4-BE49-F238E27FC236}">
                <a16:creationId xmlns:a16="http://schemas.microsoft.com/office/drawing/2014/main" id="{ECA5113F-B0A2-4DDC-8A18-B30EA7B75808}"/>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14" name="Freeform 8">
            <a:extLst>
              <a:ext uri="{FF2B5EF4-FFF2-40B4-BE49-F238E27FC236}">
                <a16:creationId xmlns:a16="http://schemas.microsoft.com/office/drawing/2014/main" id="{13E17205-9701-4E13-8B98-549E60AC39E7}"/>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962535997"/>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cSld name="Overview or quotes 06">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0" name="Slide Number Placeholder 5">
            <a:extLst>
              <a:ext uri="{FF2B5EF4-FFF2-40B4-BE49-F238E27FC236}">
                <a16:creationId xmlns:a16="http://schemas.microsoft.com/office/drawing/2014/main" id="{6FCB4367-DFEB-41EE-BB5F-1DE76BE845E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A7D55C08-C6A4-4310-AEEF-59D10B31AC0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
        <p:nvSpPr>
          <p:cNvPr id="13" name="Rectangle 12">
            <a:extLst>
              <a:ext uri="{FF2B5EF4-FFF2-40B4-BE49-F238E27FC236}">
                <a16:creationId xmlns:a16="http://schemas.microsoft.com/office/drawing/2014/main" id="{3F6FBBE3-FEF6-41AE-996E-10C0B8104628}"/>
              </a:ext>
            </a:extLst>
          </p:cNvPr>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Graphic 31">
            <a:extLst>
              <a:ext uri="{FF2B5EF4-FFF2-40B4-BE49-F238E27FC236}">
                <a16:creationId xmlns:a16="http://schemas.microsoft.com/office/drawing/2014/main" id="{79E7F3CB-5062-4EB0-9E6B-4CED1A3A9682}"/>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5" name="Group 14">
            <a:extLst>
              <a:ext uri="{FF2B5EF4-FFF2-40B4-BE49-F238E27FC236}">
                <a16:creationId xmlns:a16="http://schemas.microsoft.com/office/drawing/2014/main" id="{311E6DC0-BDAC-4AD6-B497-0A7EE212114E}"/>
              </a:ext>
            </a:extLst>
          </p:cNvPr>
          <p:cNvGrpSpPr/>
          <p:nvPr userDrawn="1"/>
        </p:nvGrpSpPr>
        <p:grpSpPr>
          <a:xfrm>
            <a:off x="-562704" y="4391077"/>
            <a:ext cx="5338709" cy="2177830"/>
            <a:chOff x="-2229" y="2361812"/>
            <a:chExt cx="11067619" cy="4514835"/>
          </a:xfrm>
          <a:solidFill>
            <a:schemeClr val="accent2"/>
          </a:solidFill>
        </p:grpSpPr>
        <p:sp>
          <p:nvSpPr>
            <p:cNvPr id="16" name="Freeform 18">
              <a:extLst>
                <a:ext uri="{FF2B5EF4-FFF2-40B4-BE49-F238E27FC236}">
                  <a16:creationId xmlns:a16="http://schemas.microsoft.com/office/drawing/2014/main" id="{221310EC-DFF4-4016-8E56-C5EAD8EA9293}"/>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2" name="Freeform 19">
              <a:extLst>
                <a:ext uri="{FF2B5EF4-FFF2-40B4-BE49-F238E27FC236}">
                  <a16:creationId xmlns:a16="http://schemas.microsoft.com/office/drawing/2014/main" id="{9EF7EAD9-FB5A-4FAA-A100-549A2AEF320F}"/>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3" name="Freeform 20">
              <a:extLst>
                <a:ext uri="{FF2B5EF4-FFF2-40B4-BE49-F238E27FC236}">
                  <a16:creationId xmlns:a16="http://schemas.microsoft.com/office/drawing/2014/main" id="{C6910765-1E93-431A-A9CB-06E85DFAE28B}"/>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10106586"/>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cSld name="Overview or quotes 07">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27896B65-6406-4653-B1DC-F69E4603314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B4F529A1-8E27-48C0-8395-0D2C24C23CA9}"/>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
        <p:nvSpPr>
          <p:cNvPr id="10" name="Rectangle 9">
            <a:extLst>
              <a:ext uri="{FF2B5EF4-FFF2-40B4-BE49-F238E27FC236}">
                <a16:creationId xmlns:a16="http://schemas.microsoft.com/office/drawing/2014/main" id="{5DBF53ED-46ED-498F-8B58-616C58B6233E}"/>
              </a:ext>
            </a:extLst>
          </p:cNvPr>
          <p:cNvSpPr/>
          <p:nvPr userDrawn="1"/>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10">
            <a:extLst>
              <a:ext uri="{FF2B5EF4-FFF2-40B4-BE49-F238E27FC236}">
                <a16:creationId xmlns:a16="http://schemas.microsoft.com/office/drawing/2014/main" id="{13964C7A-F08F-42DE-8E0C-DC5B783164BB}"/>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pic>
        <p:nvPicPr>
          <p:cNvPr id="14" name="Graphic 31">
            <a:extLst>
              <a:ext uri="{FF2B5EF4-FFF2-40B4-BE49-F238E27FC236}">
                <a16:creationId xmlns:a16="http://schemas.microsoft.com/office/drawing/2014/main" id="{72144FA6-E245-4187-97D8-03A0BF5686F6}"/>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886181326"/>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cSld name="Arrow Left 03">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EE319D53-01A0-4E2F-9BD9-B4007288929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9C0A6909-69F0-4B1F-BE18-928EC76D3979}"/>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pic>
        <p:nvPicPr>
          <p:cNvPr id="10" name="Graphic 31">
            <a:extLst>
              <a:ext uri="{FF2B5EF4-FFF2-40B4-BE49-F238E27FC236}">
                <a16:creationId xmlns:a16="http://schemas.microsoft.com/office/drawing/2014/main" id="{002B15D0-86EF-4F67-9717-789C55D5EC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0">
            <a:extLst>
              <a:ext uri="{FF2B5EF4-FFF2-40B4-BE49-F238E27FC236}">
                <a16:creationId xmlns:a16="http://schemas.microsoft.com/office/drawing/2014/main" id="{438D79E1-2D45-44BD-A78B-8B392709FF14}"/>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1862559231"/>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Activity 01">
    <p:bg>
      <p:bgPr>
        <a:solidFill>
          <a:srgbClr val="0FEEB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p:nvPr userDrawn="1"/>
        </p:nvSpPr>
        <p:spPr>
          <a:xfrm>
            <a:off x="3094978" y="246301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70840252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Title slide 1">
    <p:bg>
      <p:bgPr>
        <a:solidFill>
          <a:srgbClr val="09EDB8"/>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919999"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1914129"/>
            <a:ext cx="3919999" cy="2277604"/>
          </a:xfrm>
        </p:spPr>
        <p:txBody>
          <a:bodyPr anchor="b" anchorCtr="0">
            <a:noAutofit/>
          </a:bodyPr>
          <a:lstStyle>
            <a:lvl1pPr algn="l">
              <a:lnSpc>
                <a:spcPct val="100000"/>
              </a:lnSpc>
              <a:defRPr sz="3600" cap="all" baseline="0">
                <a:latin typeface="Montserrat Black" panose="00000A00000000000000" pitchFamily="2" charset="0"/>
              </a:defRPr>
            </a:lvl1pPr>
          </a:lstStyle>
          <a:p>
            <a:r>
              <a:rPr lang="en-US" noProof="0" dirty="0"/>
              <a:t>CLICK TO EDIT TITLE</a:t>
            </a:r>
            <a:endParaRPr lang="en-GB" noProof="0" dirty="0"/>
          </a:p>
        </p:txBody>
      </p:sp>
      <p:grpSp>
        <p:nvGrpSpPr>
          <p:cNvPr id="16" name="Group 15"/>
          <p:cNvGrpSpPr/>
          <p:nvPr userDrawn="1"/>
        </p:nvGrpSpPr>
        <p:grpSpPr>
          <a:xfrm>
            <a:off x="509568"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
        <p:nvSpPr>
          <p:cNvPr id="11" name="Rectangle 10">
            <a:extLst>
              <a:ext uri="{FF2B5EF4-FFF2-40B4-BE49-F238E27FC236}">
                <a16:creationId xmlns:a16="http://schemas.microsoft.com/office/drawing/2014/main" id="{2FEF35C1-44BF-B94B-A048-96124C64D190}"/>
              </a:ext>
            </a:extLst>
          </p:cNvPr>
          <p:cNvSpPr/>
          <p:nvPr userDrawn="1"/>
        </p:nvSpPr>
        <p:spPr>
          <a:xfrm>
            <a:off x="0" y="4310243"/>
            <a:ext cx="4407461" cy="227469"/>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2" name="Rectangle 11">
            <a:extLst>
              <a:ext uri="{FF2B5EF4-FFF2-40B4-BE49-F238E27FC236}">
                <a16:creationId xmlns:a16="http://schemas.microsoft.com/office/drawing/2014/main" id="{78654564-8AAA-2B4B-A7F2-A093E969C4FB}"/>
              </a:ext>
            </a:extLst>
          </p:cNvPr>
          <p:cNvSpPr/>
          <p:nvPr userDrawn="1"/>
        </p:nvSpPr>
        <p:spPr>
          <a:xfrm>
            <a:off x="0" y="4903556"/>
            <a:ext cx="4407461" cy="227469"/>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Tree>
    <p:extLst>
      <p:ext uri="{BB962C8B-B14F-4D97-AF65-F5344CB8AC3E}">
        <p14:creationId xmlns:p14="http://schemas.microsoft.com/office/powerpoint/2010/main" val="327968974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26" Type="http://schemas.openxmlformats.org/officeDocument/2006/relationships/slideLayout" Target="../slideLayouts/slideLayout35.xml"/><Relationship Id="rId3" Type="http://schemas.openxmlformats.org/officeDocument/2006/relationships/slideLayout" Target="../slideLayouts/slideLayout12.xml"/><Relationship Id="rId21" Type="http://schemas.openxmlformats.org/officeDocument/2006/relationships/slideLayout" Target="../slideLayouts/slideLayout30.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5" Type="http://schemas.openxmlformats.org/officeDocument/2006/relationships/slideLayout" Target="../slideLayouts/slideLayout34.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slideLayout" Target="../slideLayouts/slideLayout29.xml"/><Relationship Id="rId29" Type="http://schemas.openxmlformats.org/officeDocument/2006/relationships/image" Target="../media/image4.svg"/><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24" Type="http://schemas.openxmlformats.org/officeDocument/2006/relationships/slideLayout" Target="../slideLayouts/slideLayout33.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slideLayout" Target="../slideLayouts/slideLayout32.xml"/><Relationship Id="rId28" Type="http://schemas.openxmlformats.org/officeDocument/2006/relationships/image" Target="../media/image1.png"/><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slideLayout" Target="../slideLayouts/slideLayout31.xml"/><Relationship Id="rId27" Type="http://schemas.openxmlformats.org/officeDocument/2006/relationships/theme" Target="../theme/theme2.xml"/><Relationship Id="rId30"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1212112" y="369218"/>
            <a:ext cx="10595713" cy="68761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AF93FCE7-DBB4-9F4D-BD6A-3D02A5FEEA26}"/>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857744936"/>
      </p:ext>
    </p:extLst>
  </p:cSld>
  <p:clrMap bg1="lt1" tx1="dk1" bg2="lt2" tx2="dk2" accent1="accent1" accent2="accent2" accent3="accent3" accent4="accent4" accent5="accent5" accent6="accent6" hlink="hlink" folHlink="folHlink"/>
  <p:sldLayoutIdLst>
    <p:sldLayoutId id="2147484204" r:id="rId1"/>
    <p:sldLayoutId id="2147484205" r:id="rId2"/>
    <p:sldLayoutId id="2147484206" r:id="rId3"/>
    <p:sldLayoutId id="2147484207" r:id="rId4"/>
    <p:sldLayoutId id="2147484208" r:id="rId5"/>
    <p:sldLayoutId id="2147484209" r:id="rId6"/>
    <p:sldLayoutId id="2147484210" r:id="rId7"/>
    <p:sldLayoutId id="2147484216" r:id="rId8"/>
    <p:sldLayoutId id="2147484217" r:id="rId9"/>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1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1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1349374" y="1138012"/>
            <a:ext cx="9491663" cy="687614"/>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1350676" y="1944209"/>
            <a:ext cx="9490362" cy="4232753"/>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4" name="Graphic 31">
            <a:extLst>
              <a:ext uri="{FF2B5EF4-FFF2-40B4-BE49-F238E27FC236}">
                <a16:creationId xmlns:a16="http://schemas.microsoft.com/office/drawing/2014/main" id="{E04B9394-820E-45B1-AED1-10AA3CC584A2}"/>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F25BFF78-5EE7-4B04-B46B-A0F8EF1FD0A7}"/>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868374710"/>
      </p:ext>
    </p:extLst>
  </p:cSld>
  <p:clrMap bg1="lt1" tx1="dk1" bg2="lt2" tx2="dk2" accent1="accent1" accent2="accent2" accent3="accent3" accent4="accent4" accent5="accent5" accent6="accent6" hlink="hlink" folHlink="folHlink"/>
  <p:sldLayoutIdLst>
    <p:sldLayoutId id="2147484553" r:id="rId1"/>
    <p:sldLayoutId id="2147484554" r:id="rId2"/>
    <p:sldLayoutId id="2147484555" r:id="rId3"/>
    <p:sldLayoutId id="2147484556" r:id="rId4"/>
    <p:sldLayoutId id="2147484557" r:id="rId5"/>
    <p:sldLayoutId id="2147484558" r:id="rId6"/>
    <p:sldLayoutId id="2147484559" r:id="rId7"/>
    <p:sldLayoutId id="2147484560" r:id="rId8"/>
    <p:sldLayoutId id="2147484561" r:id="rId9"/>
    <p:sldLayoutId id="2147484562" r:id="rId10"/>
    <p:sldLayoutId id="2147484563" r:id="rId11"/>
    <p:sldLayoutId id="2147484564" r:id="rId12"/>
    <p:sldLayoutId id="2147484565" r:id="rId13"/>
    <p:sldLayoutId id="2147484566" r:id="rId14"/>
    <p:sldLayoutId id="2147484567" r:id="rId15"/>
    <p:sldLayoutId id="2147484568" r:id="rId16"/>
    <p:sldLayoutId id="2147484569" r:id="rId17"/>
    <p:sldLayoutId id="2147484570" r:id="rId18"/>
    <p:sldLayoutId id="2147484571" r:id="rId19"/>
    <p:sldLayoutId id="2147484572" r:id="rId20"/>
    <p:sldLayoutId id="2147484573" r:id="rId21"/>
    <p:sldLayoutId id="2147484574" r:id="rId22"/>
    <p:sldLayoutId id="2147484575" r:id="rId23"/>
    <p:sldLayoutId id="2147484576" r:id="rId24"/>
    <p:sldLayoutId id="2147484577" r:id="rId25"/>
    <p:sldLayoutId id="2147484549" r:id="rId26"/>
  </p:sldLayoutIdLst>
  <p:hf hd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30"/>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30"/>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30"/>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30"/>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30"/>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p15:clr>
            <a:srgbClr val="F26B43"/>
          </p15:clr>
        </p15:guide>
        <p15:guide id="5" pos="850">
          <p15:clr>
            <a:srgbClr val="F26B43"/>
          </p15:clr>
        </p15:guide>
        <p15:guide id="8" pos="1954">
          <p15:clr>
            <a:srgbClr val="F26B43"/>
          </p15:clr>
        </p15:guide>
        <p15:guide id="11" pos="2678">
          <p15:clr>
            <a:srgbClr val="F26B43"/>
          </p15:clr>
        </p15:guide>
        <p15:guide id="14" pos="3782">
          <p15:clr>
            <a:srgbClr val="F26B43"/>
          </p15:clr>
        </p15:guide>
        <p15:guide id="17" pos="4506">
          <p15:clr>
            <a:srgbClr val="F26B43"/>
          </p15:clr>
        </p15:guide>
        <p15:guide id="20" pos="5610">
          <p15:clr>
            <a:srgbClr val="F26B43"/>
          </p15:clr>
        </p15:guide>
        <p15:guide id="23" pos="6334">
          <p15:clr>
            <a:srgbClr val="F26B43"/>
          </p15:clr>
        </p15:guide>
        <p15:guide id="26" pos="7438">
          <p15:clr>
            <a:srgbClr val="F26B43"/>
          </p15:clr>
        </p15:guide>
        <p15:guide id="29" orient="horz" pos="239" userDrawn="1">
          <p15:clr>
            <a:srgbClr val="F26B43"/>
          </p15:clr>
        </p15:guide>
        <p15:guide id="30" orient="horz" pos="4081" userDrawn="1">
          <p15:clr>
            <a:srgbClr val="F26B43"/>
          </p15:clr>
        </p15:guide>
        <p15:guide id="31" pos="237" userDrawn="1">
          <p15:clr>
            <a:srgbClr val="F26B43"/>
          </p15:clr>
        </p15:guide>
        <p15:guide id="32" pos="732" userDrawn="1">
          <p15:clr>
            <a:srgbClr val="F26B43"/>
          </p15:clr>
        </p15:guide>
        <p15:guide id="33" pos="851" userDrawn="1">
          <p15:clr>
            <a:srgbClr val="F26B43"/>
          </p15:clr>
        </p15:guide>
        <p15:guide id="34" pos="1345" userDrawn="1">
          <p15:clr>
            <a:srgbClr val="F26B43"/>
          </p15:clr>
        </p15:guide>
        <p15:guide id="35" pos="1460" userDrawn="1">
          <p15:clr>
            <a:srgbClr val="F26B43"/>
          </p15:clr>
        </p15:guide>
        <p15:guide id="36" pos="1955" userDrawn="1">
          <p15:clr>
            <a:srgbClr val="F26B43"/>
          </p15:clr>
        </p15:guide>
        <p15:guide id="37" pos="2069" userDrawn="1">
          <p15:clr>
            <a:srgbClr val="F26B43"/>
          </p15:clr>
        </p15:guide>
        <p15:guide id="38" pos="2564" userDrawn="1">
          <p15:clr>
            <a:srgbClr val="F26B43"/>
          </p15:clr>
        </p15:guide>
        <p15:guide id="39" pos="2683" userDrawn="1">
          <p15:clr>
            <a:srgbClr val="F26B43"/>
          </p15:clr>
        </p15:guide>
        <p15:guide id="40" pos="3173" userDrawn="1">
          <p15:clr>
            <a:srgbClr val="F26B43"/>
          </p15:clr>
        </p15:guide>
        <p15:guide id="41" pos="3288" userDrawn="1">
          <p15:clr>
            <a:srgbClr val="F26B43"/>
          </p15:clr>
        </p15:guide>
        <p15:guide id="42" pos="3783" userDrawn="1">
          <p15:clr>
            <a:srgbClr val="F26B43"/>
          </p15:clr>
        </p15:guide>
        <p15:guide id="43" pos="3897" userDrawn="1">
          <p15:clr>
            <a:srgbClr val="F26B43"/>
          </p15:clr>
        </p15:guide>
        <p15:guide id="44" pos="4392" userDrawn="1">
          <p15:clr>
            <a:srgbClr val="F26B43"/>
          </p15:clr>
        </p15:guide>
        <p15:guide id="45" pos="4507" userDrawn="1">
          <p15:clr>
            <a:srgbClr val="F26B43"/>
          </p15:clr>
        </p15:guide>
        <p15:guide id="46" pos="5001" userDrawn="1">
          <p15:clr>
            <a:srgbClr val="F26B43"/>
          </p15:clr>
        </p15:guide>
        <p15:guide id="47" pos="5115" userDrawn="1">
          <p15:clr>
            <a:srgbClr val="F26B43"/>
          </p15:clr>
        </p15:guide>
        <p15:guide id="48" pos="5611" userDrawn="1">
          <p15:clr>
            <a:srgbClr val="F26B43"/>
          </p15:clr>
        </p15:guide>
        <p15:guide id="49" pos="5725" userDrawn="1">
          <p15:clr>
            <a:srgbClr val="F26B43"/>
          </p15:clr>
        </p15:guide>
        <p15:guide id="50" pos="6220" userDrawn="1">
          <p15:clr>
            <a:srgbClr val="F26B43"/>
          </p15:clr>
        </p15:guide>
        <p15:guide id="51" pos="6335" userDrawn="1">
          <p15:clr>
            <a:srgbClr val="F26B43"/>
          </p15:clr>
        </p15:guide>
        <p15:guide id="52" pos="6829" userDrawn="1">
          <p15:clr>
            <a:srgbClr val="F26B43"/>
          </p15:clr>
        </p15:guide>
        <p15:guide id="53" pos="6943" userDrawn="1">
          <p15:clr>
            <a:srgbClr val="F26B43"/>
          </p15:clr>
        </p15:guide>
        <p15:guide id="54" pos="7439" userDrawn="1">
          <p15:clr>
            <a:srgbClr val="F26B43"/>
          </p15:clr>
        </p15:guide>
        <p15:guide id="55" pos="3840" userDrawn="1">
          <p15:clr>
            <a:srgbClr val="9FCC3B"/>
          </p15:clr>
        </p15:guide>
        <p15:guide id="56"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GB" sz="5400" dirty="0"/>
              <a:t>Module 1:</a:t>
            </a:r>
            <a:br>
              <a:rPr lang="en-GB" sz="5400" dirty="0"/>
            </a:br>
            <a:r>
              <a:rPr lang="en-GB" sz="5400" dirty="0"/>
              <a:t>Table Expressions</a:t>
            </a:r>
            <a:endParaRPr lang="en-US" sz="5400" dirty="0"/>
          </a:p>
        </p:txBody>
      </p:sp>
      <p:sp>
        <p:nvSpPr>
          <p:cNvPr id="2" name="TextBox 2">
            <a:extLst>
              <a:ext uri="{FF2B5EF4-FFF2-40B4-BE49-F238E27FC236}">
                <a16:creationId xmlns:a16="http://schemas.microsoft.com/office/drawing/2014/main" id="{F33CB094-6F10-BBB3-4ECD-CAD64FD083DC}"/>
              </a:ext>
            </a:extLst>
          </p:cNvPr>
          <p:cNvSpPr txBox="1"/>
          <p:nvPr/>
        </p:nvSpPr>
        <p:spPr>
          <a:xfrm>
            <a:off x="10591915" y="6388686"/>
            <a:ext cx="1471684" cy="330958"/>
          </a:xfrm>
          <a:prstGeom prst="rect">
            <a:avLst/>
          </a:prstGeom>
        </p:spPr>
        <p:txBody>
          <a:bodyPr vert="horz" wrap="none" lIns="0" tIns="0" rIns="0" bIns="0" rtlCol="0" anchor="t" anchorCtr="0">
            <a:norm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l"/>
            <a:r>
              <a:rPr lang="en-GB"/>
              <a:t>Version 1.6</a:t>
            </a:r>
            <a:endParaRPr lang="en-GB" dirty="0"/>
          </a:p>
        </p:txBody>
      </p:sp>
    </p:spTree>
    <p:extLst>
      <p:ext uri="{BB962C8B-B14F-4D97-AF65-F5344CB8AC3E}">
        <p14:creationId xmlns:p14="http://schemas.microsoft.com/office/powerpoint/2010/main" val="3128033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77E1A75-3FA4-E949-8276-01BD93691047}"/>
              </a:ext>
            </a:extLst>
          </p:cNvPr>
          <p:cNvSpPr>
            <a:spLocks noGrp="1"/>
          </p:cNvSpPr>
          <p:nvPr>
            <p:ph type="body" sz="quarter" idx="10"/>
          </p:nvPr>
        </p:nvSpPr>
        <p:spPr/>
        <p:txBody>
          <a:bodyPr/>
          <a:lstStyle/>
          <a:p>
            <a:r>
              <a:rPr lang="en-GB" dirty="0"/>
              <a:t>Table Expressions</a:t>
            </a:r>
            <a:endParaRPr lang="en-US" dirty="0"/>
          </a:p>
        </p:txBody>
      </p:sp>
      <p:sp>
        <p:nvSpPr>
          <p:cNvPr id="6" name="Text Placeholder 5">
            <a:extLst>
              <a:ext uri="{FF2B5EF4-FFF2-40B4-BE49-F238E27FC236}">
                <a16:creationId xmlns:a16="http://schemas.microsoft.com/office/drawing/2014/main" id="{8DC8BD13-E3CB-EC42-AA88-E78FA6ED1C65}"/>
              </a:ext>
            </a:extLst>
          </p:cNvPr>
          <p:cNvSpPr>
            <a:spLocks noGrp="1"/>
          </p:cNvSpPr>
          <p:nvPr>
            <p:ph type="body" sz="quarter" idx="11"/>
          </p:nvPr>
        </p:nvSpPr>
        <p:spPr/>
        <p:txBody>
          <a:bodyPr/>
          <a:lstStyle/>
          <a:p>
            <a:pPr marL="285750" indent="-285750">
              <a:lnSpc>
                <a:spcPct val="200000"/>
              </a:lnSpc>
              <a:buFont typeface="Arial" panose="020B0604020202020204" pitchFamily="34" charset="0"/>
              <a:buChar char="•"/>
            </a:pPr>
            <a:r>
              <a:rPr lang="en-GB" dirty="0"/>
              <a:t>Views</a:t>
            </a:r>
          </a:p>
          <a:p>
            <a:pPr marL="285750" indent="-285750">
              <a:lnSpc>
                <a:spcPct val="200000"/>
              </a:lnSpc>
              <a:buFont typeface="Arial" panose="020B0604020202020204" pitchFamily="34" charset="0"/>
              <a:buChar char="•"/>
            </a:pPr>
            <a:r>
              <a:rPr lang="en-GB" dirty="0"/>
              <a:t>Table-valued functions</a:t>
            </a:r>
          </a:p>
          <a:p>
            <a:pPr marL="285750" indent="-285750">
              <a:lnSpc>
                <a:spcPct val="200000"/>
              </a:lnSpc>
              <a:buFont typeface="Arial" panose="020B0604020202020204" pitchFamily="34" charset="0"/>
              <a:buChar char="•"/>
            </a:pPr>
            <a:r>
              <a:rPr lang="en-GB" dirty="0"/>
              <a:t>Derived tables</a:t>
            </a:r>
          </a:p>
          <a:p>
            <a:pPr marL="285750" indent="-285750">
              <a:lnSpc>
                <a:spcPct val="200000"/>
              </a:lnSpc>
              <a:buFont typeface="Arial" panose="020B0604020202020204" pitchFamily="34" charset="0"/>
              <a:buChar char="•"/>
            </a:pPr>
            <a:r>
              <a:rPr lang="en-GB" dirty="0"/>
              <a:t>Temporary tables</a:t>
            </a:r>
          </a:p>
          <a:p>
            <a:pPr marL="285750" indent="-285750">
              <a:lnSpc>
                <a:spcPct val="200000"/>
              </a:lnSpc>
              <a:buFont typeface="Arial" panose="020B0604020202020204" pitchFamily="34" charset="0"/>
              <a:buChar char="•"/>
            </a:pPr>
            <a:r>
              <a:rPr lang="en-GB" dirty="0"/>
              <a:t>Comparison</a:t>
            </a:r>
          </a:p>
          <a:p>
            <a:endParaRPr lang="en-US" dirty="0"/>
          </a:p>
        </p:txBody>
      </p:sp>
    </p:spTree>
    <p:extLst>
      <p:ext uri="{BB962C8B-B14F-4D97-AF65-F5344CB8AC3E}">
        <p14:creationId xmlns:p14="http://schemas.microsoft.com/office/powerpoint/2010/main" val="4158447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0"/>
          </p:nvPr>
        </p:nvSpPr>
        <p:spPr/>
        <p:txBody>
          <a:bodyPr/>
          <a:lstStyle/>
          <a:p>
            <a:r>
              <a:rPr lang="en-GB" dirty="0"/>
              <a:t>Table Expressions</a:t>
            </a:r>
            <a:endParaRPr lang="en-US" dirty="0"/>
          </a:p>
          <a:p>
            <a:endParaRPr lang="en-US" dirty="0"/>
          </a:p>
        </p:txBody>
      </p:sp>
      <p:sp>
        <p:nvSpPr>
          <p:cNvPr id="7" name="Text Placeholder 6">
            <a:extLst>
              <a:ext uri="{FF2B5EF4-FFF2-40B4-BE49-F238E27FC236}">
                <a16:creationId xmlns:a16="http://schemas.microsoft.com/office/drawing/2014/main" id="{73AE2473-B55B-004F-A33B-B971D81DAD17}"/>
              </a:ext>
            </a:extLst>
          </p:cNvPr>
          <p:cNvSpPr>
            <a:spLocks noGrp="1"/>
          </p:cNvSpPr>
          <p:nvPr>
            <p:ph type="body" sz="quarter" idx="11"/>
          </p:nvPr>
        </p:nvSpPr>
        <p:spPr/>
        <p:txBody>
          <a:bodyPr/>
          <a:lstStyle/>
          <a:p>
            <a:pPr marL="285750" indent="-285750">
              <a:buFont typeface="Arial" panose="020B0604020202020204" pitchFamily="34" charset="0"/>
              <a:buChar char="•"/>
            </a:pPr>
            <a:r>
              <a:rPr lang="en-GB" dirty="0"/>
              <a:t>Can be used to simplify the TSQL code by dividing the query into more easily understood parts.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Temporary tables and table variables are not table expressions but can be used to perform the same purpose.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624836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0"/>
          </p:nvPr>
        </p:nvSpPr>
        <p:spPr/>
        <p:txBody>
          <a:bodyPr/>
          <a:lstStyle/>
          <a:p>
            <a:r>
              <a:rPr lang="en-GB" dirty="0"/>
              <a:t>Views</a:t>
            </a:r>
            <a:endParaRPr lang="en-US" dirty="0"/>
          </a:p>
          <a:p>
            <a:endParaRPr lang="en-US" dirty="0"/>
          </a:p>
        </p:txBody>
      </p:sp>
      <p:sp>
        <p:nvSpPr>
          <p:cNvPr id="7" name="Text Placeholder 6">
            <a:extLst>
              <a:ext uri="{FF2B5EF4-FFF2-40B4-BE49-F238E27FC236}">
                <a16:creationId xmlns:a16="http://schemas.microsoft.com/office/drawing/2014/main" id="{73AE2473-B55B-004F-A33B-B971D81DAD17}"/>
              </a:ext>
            </a:extLst>
          </p:cNvPr>
          <p:cNvSpPr>
            <a:spLocks noGrp="1"/>
          </p:cNvSpPr>
          <p:nvPr>
            <p:ph type="body" sz="quarter" idx="11"/>
          </p:nvPr>
        </p:nvSpPr>
        <p:spPr/>
        <p:txBody>
          <a:bodyPr/>
          <a:lstStyle/>
          <a:p>
            <a:pPr marL="285750" indent="-285750">
              <a:buFont typeface="Arial" panose="020B0604020202020204" pitchFamily="34" charset="0"/>
              <a:buChar char="•"/>
            </a:pPr>
            <a:r>
              <a:rPr lang="en-GB" dirty="0"/>
              <a:t>Views are defined using a single SELECT statement.</a:t>
            </a:r>
          </a:p>
          <a:p>
            <a:pPr marL="285750" indent="-285750">
              <a:buFont typeface="Arial" panose="020B0604020202020204" pitchFamily="34" charset="0"/>
              <a:buChar char="•"/>
            </a:pPr>
            <a:endParaRPr lang="en-GB" sz="800" dirty="0"/>
          </a:p>
          <a:p>
            <a:pPr marL="285750" indent="-285750">
              <a:buFont typeface="Arial" panose="020B0604020202020204" pitchFamily="34" charset="0"/>
              <a:buChar char="•"/>
            </a:pPr>
            <a:r>
              <a:rPr lang="en-GB" dirty="0"/>
              <a:t>A view’s definition is stored within the database for future use.</a:t>
            </a:r>
          </a:p>
          <a:p>
            <a:pPr marL="285750" indent="-285750">
              <a:buFont typeface="Arial" panose="020B0604020202020204" pitchFamily="34" charset="0"/>
              <a:buChar char="•"/>
            </a:pPr>
            <a:endParaRPr lang="en-GB" sz="800" dirty="0"/>
          </a:p>
          <a:p>
            <a:pPr marL="285750" indent="-285750">
              <a:buFont typeface="Arial" panose="020B0604020202020204" pitchFamily="34" charset="0"/>
              <a:buChar char="•"/>
            </a:pPr>
            <a:r>
              <a:rPr lang="en-GB" dirty="0"/>
              <a:t>A view can simplify the statements written by others where the same logic is reused.</a:t>
            </a:r>
          </a:p>
          <a:p>
            <a:pPr marL="285750" indent="-285750">
              <a:buFont typeface="Arial" panose="020B0604020202020204" pitchFamily="34" charset="0"/>
              <a:buChar char="•"/>
            </a:pPr>
            <a:endParaRPr lang="en-GB" sz="800" dirty="0"/>
          </a:p>
          <a:p>
            <a:pPr marL="285750" indent="-285750">
              <a:buFont typeface="Arial" panose="020B0604020202020204" pitchFamily="34" charset="0"/>
              <a:buChar char="•"/>
            </a:pPr>
            <a:r>
              <a:rPr lang="en-GB" dirty="0"/>
              <a:t>Administrators may use views to add security by not allowing access to the tables directly.</a:t>
            </a:r>
          </a:p>
          <a:p>
            <a:pPr marL="285750" indent="-285750">
              <a:buFont typeface="Arial" panose="020B0604020202020204" pitchFamily="34" charset="0"/>
              <a:buChar char="•"/>
            </a:pPr>
            <a:endParaRPr lang="en-GB" sz="800" dirty="0"/>
          </a:p>
          <a:p>
            <a:pPr marL="285750" indent="-285750">
              <a:buFont typeface="Arial" panose="020B0604020202020204" pitchFamily="34" charset="0"/>
              <a:buChar char="•"/>
            </a:pPr>
            <a:r>
              <a:rPr lang="en-GB" dirty="0"/>
              <a:t>ORDER BY is only permitted in a view if TOP, OFFSET/FETCH or FOR XML is used.</a:t>
            </a:r>
          </a:p>
          <a:p>
            <a:endParaRPr lang="en-US" dirty="0"/>
          </a:p>
        </p:txBody>
      </p:sp>
    </p:spTree>
    <p:extLst>
      <p:ext uri="{BB962C8B-B14F-4D97-AF65-F5344CB8AC3E}">
        <p14:creationId xmlns:p14="http://schemas.microsoft.com/office/powerpoint/2010/main" val="266208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ED4E7D4-C09E-5D4E-B450-9C9FD5783146}"/>
              </a:ext>
            </a:extLst>
          </p:cNvPr>
          <p:cNvSpPr>
            <a:spLocks noGrp="1"/>
          </p:cNvSpPr>
          <p:nvPr>
            <p:ph type="body" sz="quarter" idx="12"/>
          </p:nvPr>
        </p:nvSpPr>
        <p:spPr/>
        <p:txBody>
          <a:bodyPr/>
          <a:lstStyle/>
          <a:p>
            <a:r>
              <a:rPr lang="en-GB" dirty="0"/>
              <a:t>CREATING VIEWS</a:t>
            </a:r>
            <a:endParaRPr lang="en-US" dirty="0"/>
          </a:p>
        </p:txBody>
      </p:sp>
      <p:sp>
        <p:nvSpPr>
          <p:cNvPr id="3" name="Text Placeholder 2">
            <a:extLst>
              <a:ext uri="{FF2B5EF4-FFF2-40B4-BE49-F238E27FC236}">
                <a16:creationId xmlns:a16="http://schemas.microsoft.com/office/drawing/2014/main" id="{DA9CDB6C-B1DA-3648-B53D-C115F747B3EA}"/>
              </a:ext>
            </a:extLst>
          </p:cNvPr>
          <p:cNvSpPr>
            <a:spLocks noGrp="1"/>
          </p:cNvSpPr>
          <p:nvPr>
            <p:ph type="body" sz="quarter" idx="1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8E225283-2703-A845-974A-CC79A6393C60}"/>
              </a:ext>
            </a:extLst>
          </p:cNvPr>
          <p:cNvSpPr>
            <a:spLocks noGrp="1"/>
          </p:cNvSpPr>
          <p:nvPr>
            <p:ph type="sldNum" sz="quarter" idx="4"/>
          </p:nvPr>
        </p:nvSpPr>
        <p:spPr/>
        <p:txBody>
          <a:bodyPr/>
          <a:lstStyle/>
          <a:p>
            <a:fld id="{EF892D59-8F09-EF4B-AD6D-DA609442F868}" type="slidenum">
              <a:rPr lang="en-GB" smtClean="0"/>
              <a:pPr/>
              <a:t>5</a:t>
            </a:fld>
            <a:endParaRPr lang="en-GB"/>
          </a:p>
        </p:txBody>
      </p:sp>
      <p:sp>
        <p:nvSpPr>
          <p:cNvPr id="6" name="Content Placeholder 5">
            <a:extLst>
              <a:ext uri="{FF2B5EF4-FFF2-40B4-BE49-F238E27FC236}">
                <a16:creationId xmlns:a16="http://schemas.microsoft.com/office/drawing/2014/main" id="{2D3EDCCD-F1AB-FE40-94F6-5AACD0AE52C2}"/>
              </a:ext>
            </a:extLst>
          </p:cNvPr>
          <p:cNvSpPr txBox="1">
            <a:spLocks/>
          </p:cNvSpPr>
          <p:nvPr/>
        </p:nvSpPr>
        <p:spPr>
          <a:xfrm>
            <a:off x="372210" y="1175414"/>
            <a:ext cx="11435615" cy="5303175"/>
          </a:xfrm>
          <a:prstGeom prst="rect">
            <a:avLst/>
          </a:prstGeom>
        </p:spPr>
        <p:txBody>
          <a:bodyPr/>
          <a:lst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p>
          <a:p>
            <a:r>
              <a:rPr lang="en-GB" dirty="0"/>
              <a:t>Command outline:</a:t>
            </a:r>
          </a:p>
          <a:p>
            <a:endParaRPr lang="en-GB" dirty="0"/>
          </a:p>
          <a:p>
            <a:endParaRPr lang="en-GB" dirty="0"/>
          </a:p>
          <a:p>
            <a:endParaRPr lang="en-GB" dirty="0"/>
          </a:p>
          <a:p>
            <a:endParaRPr lang="en-GB" sz="800" dirty="0"/>
          </a:p>
          <a:p>
            <a:r>
              <a:rPr lang="en-GB" dirty="0"/>
              <a:t>Demonstration:</a:t>
            </a:r>
          </a:p>
          <a:p>
            <a:endParaRPr lang="en-GB" dirty="0"/>
          </a:p>
          <a:p>
            <a:endParaRPr lang="en-GB" dirty="0"/>
          </a:p>
          <a:p>
            <a:endParaRPr lang="en-GB" dirty="0"/>
          </a:p>
          <a:p>
            <a:endParaRPr lang="en-GB" sz="1600" dirty="0"/>
          </a:p>
          <a:p>
            <a:r>
              <a:rPr lang="en-GB" dirty="0"/>
              <a:t>Use:</a:t>
            </a:r>
          </a:p>
          <a:p>
            <a:endParaRPr lang="en-GB" dirty="0"/>
          </a:p>
        </p:txBody>
      </p:sp>
      <p:sp>
        <p:nvSpPr>
          <p:cNvPr id="5" name="TextBox 4">
            <a:extLst>
              <a:ext uri="{FF2B5EF4-FFF2-40B4-BE49-F238E27FC236}">
                <a16:creationId xmlns:a16="http://schemas.microsoft.com/office/drawing/2014/main" id="{77B94004-4249-7D40-9E28-F6628D84B9F6}"/>
              </a:ext>
            </a:extLst>
          </p:cNvPr>
          <p:cNvSpPr txBox="1"/>
          <p:nvPr/>
        </p:nvSpPr>
        <p:spPr>
          <a:xfrm>
            <a:off x="3037114" y="2432957"/>
            <a:ext cx="0" cy="0"/>
          </a:xfrm>
          <a:prstGeom prst="rect">
            <a:avLst/>
          </a:prstGeom>
        </p:spPr>
        <p:txBody>
          <a:bodyPr vert="horz" wrap="none" lIns="0" tIns="0" rIns="0" bIns="0" rtlCol="0" anchor="t" anchorCtr="0">
            <a:normAutofit fontScale="25000" lnSpcReduction="20000"/>
          </a:bodyPr>
          <a:lstStyle/>
          <a:p>
            <a:pPr algn="l"/>
            <a:endParaRPr lang="en-US" dirty="0"/>
          </a:p>
        </p:txBody>
      </p:sp>
      <p:sp>
        <p:nvSpPr>
          <p:cNvPr id="10" name="Rectangle 9">
            <a:extLst>
              <a:ext uri="{FF2B5EF4-FFF2-40B4-BE49-F238E27FC236}">
                <a16:creationId xmlns:a16="http://schemas.microsoft.com/office/drawing/2014/main" id="{9AD1A5F8-25A1-4A83-B1CB-2D1C69F01BBE}"/>
              </a:ext>
            </a:extLst>
          </p:cNvPr>
          <p:cNvSpPr/>
          <p:nvPr/>
        </p:nvSpPr>
        <p:spPr bwMode="auto">
          <a:xfrm>
            <a:off x="3162978" y="1675051"/>
            <a:ext cx="4126224" cy="984885"/>
          </a:xfrm>
          <a:prstGeom prst="rect">
            <a:avLst/>
          </a:prstGeom>
          <a:solidFill>
            <a:schemeClr val="tx2">
              <a:lumMod val="20000"/>
              <a:lumOff val="80000"/>
            </a:schemeClr>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400" eaLnBrk="0" fontAlgn="base" hangingPunct="0">
              <a:spcAft>
                <a:spcPts val="600"/>
              </a:spcAft>
            </a:pPr>
            <a:r>
              <a:rPr lang="en-GB" sz="1600" dirty="0">
                <a:latin typeface="Arial" charset="0"/>
              </a:rPr>
              <a:t>CREATE VIEW &lt;viewname&gt; AS</a:t>
            </a:r>
          </a:p>
          <a:p>
            <a:pPr defTabSz="914400" eaLnBrk="0" fontAlgn="base" hangingPunct="0">
              <a:spcAft>
                <a:spcPts val="600"/>
              </a:spcAft>
              <a:tabLst>
                <a:tab pos="355600" algn="l"/>
              </a:tabLst>
            </a:pPr>
            <a:r>
              <a:rPr lang="en-GB" sz="1600" dirty="0">
                <a:latin typeface="Arial" charset="0"/>
              </a:rPr>
              <a:t>	SELECT &lt;columns&gt;</a:t>
            </a:r>
          </a:p>
          <a:p>
            <a:pPr defTabSz="914400" eaLnBrk="0" fontAlgn="base" hangingPunct="0">
              <a:spcAft>
                <a:spcPts val="600"/>
              </a:spcAft>
              <a:tabLst>
                <a:tab pos="355600" algn="l"/>
              </a:tabLst>
            </a:pPr>
            <a:r>
              <a:rPr lang="en-GB" sz="1600" dirty="0">
                <a:latin typeface="Arial" charset="0"/>
              </a:rPr>
              <a:t>	FROM &lt;table(s) including joins&gt;</a:t>
            </a:r>
          </a:p>
        </p:txBody>
      </p:sp>
      <p:sp>
        <p:nvSpPr>
          <p:cNvPr id="11" name="Rectangle 10">
            <a:extLst>
              <a:ext uri="{FF2B5EF4-FFF2-40B4-BE49-F238E27FC236}">
                <a16:creationId xmlns:a16="http://schemas.microsoft.com/office/drawing/2014/main" id="{A0FE647C-4F5E-4A5D-AB19-56167C68CFDE}"/>
              </a:ext>
            </a:extLst>
          </p:cNvPr>
          <p:cNvSpPr/>
          <p:nvPr/>
        </p:nvSpPr>
        <p:spPr bwMode="auto">
          <a:xfrm>
            <a:off x="3162978" y="3011393"/>
            <a:ext cx="7910004" cy="1631216"/>
          </a:xfrm>
          <a:prstGeom prst="rect">
            <a:avLst/>
          </a:prstGeom>
          <a:solidFill>
            <a:schemeClr val="tx2">
              <a:lumMod val="20000"/>
              <a:lumOff val="80000"/>
            </a:schemeClr>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896938" eaLnBrk="0" fontAlgn="base" hangingPunct="0">
              <a:spcAft>
                <a:spcPts val="600"/>
              </a:spcAft>
              <a:tabLst>
                <a:tab pos="355600" algn="l"/>
                <a:tab pos="719138" algn="l"/>
                <a:tab pos="1074738" algn="l"/>
              </a:tabLst>
            </a:pPr>
            <a:r>
              <a:rPr lang="en-GB" sz="1600" dirty="0">
                <a:latin typeface="Arial" charset="0"/>
              </a:rPr>
              <a:t>CREATE VIEW dbo.SaleableProducts AS</a:t>
            </a:r>
          </a:p>
          <a:p>
            <a:pPr defTabSz="896938" eaLnBrk="0" fontAlgn="base" hangingPunct="0">
              <a:spcAft>
                <a:spcPts val="600"/>
              </a:spcAft>
              <a:tabLst>
                <a:tab pos="355600" algn="l"/>
                <a:tab pos="719138" algn="l"/>
                <a:tab pos="1074738" algn="l"/>
              </a:tabLst>
            </a:pPr>
            <a:r>
              <a:rPr lang="en-GB" sz="1600" dirty="0">
                <a:latin typeface="Arial" charset="0"/>
              </a:rPr>
              <a:t>	SELECT PSC.name AS Subcategory, Name, ListPrice, Color, Weight</a:t>
            </a:r>
          </a:p>
          <a:p>
            <a:pPr defTabSz="896938" eaLnBrk="0" fontAlgn="base" hangingPunct="0">
              <a:spcAft>
                <a:spcPts val="600"/>
              </a:spcAft>
              <a:tabLst>
                <a:tab pos="355600" algn="l"/>
                <a:tab pos="719138" algn="l"/>
                <a:tab pos="1074738" algn="l"/>
              </a:tabLst>
            </a:pPr>
            <a:r>
              <a:rPr lang="en-GB" sz="1600" dirty="0">
                <a:latin typeface="Arial" charset="0"/>
              </a:rPr>
              <a:t>	FROM Production.Product AS P</a:t>
            </a:r>
          </a:p>
          <a:p>
            <a:pPr defTabSz="896938" eaLnBrk="0" fontAlgn="base" hangingPunct="0">
              <a:spcAft>
                <a:spcPts val="600"/>
              </a:spcAft>
              <a:tabLst>
                <a:tab pos="355600" algn="l"/>
                <a:tab pos="719138" algn="l"/>
                <a:tab pos="1074738" algn="l"/>
              </a:tabLst>
            </a:pPr>
            <a:r>
              <a:rPr lang="en-GB" sz="1600" dirty="0">
                <a:latin typeface="Arial" charset="0"/>
              </a:rPr>
              <a:t>		INNER JOIN Production.ProductSubcategory AS PSC</a:t>
            </a:r>
          </a:p>
          <a:p>
            <a:pPr defTabSz="896938" eaLnBrk="0" fontAlgn="base" hangingPunct="0">
              <a:spcAft>
                <a:spcPts val="600"/>
              </a:spcAft>
              <a:tabLst>
                <a:tab pos="355600" algn="l"/>
                <a:tab pos="719138" algn="l"/>
                <a:tab pos="1074738" algn="l"/>
              </a:tabLst>
            </a:pPr>
            <a:r>
              <a:rPr lang="en-GB" sz="1600" dirty="0">
                <a:latin typeface="Arial" charset="0"/>
              </a:rPr>
              <a:t>			ON P.ProductSubcategoryID = PSC.ProductSubcategoryID</a:t>
            </a:r>
          </a:p>
        </p:txBody>
      </p:sp>
      <p:sp>
        <p:nvSpPr>
          <p:cNvPr id="12" name="Rectangle 11">
            <a:extLst>
              <a:ext uri="{FF2B5EF4-FFF2-40B4-BE49-F238E27FC236}">
                <a16:creationId xmlns:a16="http://schemas.microsoft.com/office/drawing/2014/main" id="{178B2BAF-8075-4262-9819-CA701088D914}"/>
              </a:ext>
            </a:extLst>
          </p:cNvPr>
          <p:cNvSpPr/>
          <p:nvPr/>
        </p:nvSpPr>
        <p:spPr bwMode="auto">
          <a:xfrm>
            <a:off x="3162978" y="5064760"/>
            <a:ext cx="4234416" cy="338554"/>
          </a:xfrm>
          <a:prstGeom prst="rect">
            <a:avLst/>
          </a:prstGeom>
          <a:solidFill>
            <a:schemeClr val="tx2">
              <a:lumMod val="20000"/>
              <a:lumOff val="80000"/>
            </a:schemeClr>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400" eaLnBrk="0" fontAlgn="base" hangingPunct="0">
              <a:spcAft>
                <a:spcPts val="600"/>
              </a:spcAft>
            </a:pPr>
            <a:r>
              <a:rPr lang="en-GB" sz="1600" dirty="0">
                <a:latin typeface="Arial" charset="0"/>
              </a:rPr>
              <a:t>SELECT * FROM dbo.SaleableProducts</a:t>
            </a:r>
          </a:p>
        </p:txBody>
      </p:sp>
    </p:spTree>
    <p:extLst>
      <p:ext uri="{BB962C8B-B14F-4D97-AF65-F5344CB8AC3E}">
        <p14:creationId xmlns:p14="http://schemas.microsoft.com/office/powerpoint/2010/main" val="7079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1145077-01DD-4271-7AAC-B2080626F1C5}"/>
              </a:ext>
            </a:extLst>
          </p:cNvPr>
          <p:cNvSpPr>
            <a:spLocks noGrp="1"/>
          </p:cNvSpPr>
          <p:nvPr>
            <p:ph type="ctrTitle"/>
          </p:nvPr>
        </p:nvSpPr>
        <p:spPr/>
        <p:txBody>
          <a:bodyPr/>
          <a:lstStyle/>
          <a:p>
            <a:r>
              <a:rPr lang="en-GB" dirty="0"/>
              <a:t>Module 1 </a:t>
            </a:r>
            <a:br>
              <a:rPr lang="en-GB" dirty="0"/>
            </a:br>
            <a:r>
              <a:rPr lang="en-GB" dirty="0"/>
              <a:t>Exercise 1 – Views</a:t>
            </a:r>
          </a:p>
        </p:txBody>
      </p:sp>
      <p:sp>
        <p:nvSpPr>
          <p:cNvPr id="6" name="Text Placeholder 5">
            <a:extLst>
              <a:ext uri="{FF2B5EF4-FFF2-40B4-BE49-F238E27FC236}">
                <a16:creationId xmlns:a16="http://schemas.microsoft.com/office/drawing/2014/main" id="{DD05C6DB-1105-1E7C-6613-1A2B81198E20}"/>
              </a:ext>
            </a:extLst>
          </p:cNvPr>
          <p:cNvSpPr>
            <a:spLocks noGrp="1"/>
          </p:cNvSpPr>
          <p:nvPr>
            <p:ph type="body" sz="quarter" idx="10"/>
          </p:nvPr>
        </p:nvSpPr>
        <p:spPr/>
        <p:txBody>
          <a:bodyPr/>
          <a:lstStyle/>
          <a:p>
            <a:pPr>
              <a:buFont typeface="Arial" panose="020B0604020202020204" pitchFamily="34" charset="0"/>
              <a:buChar char="•"/>
            </a:pPr>
            <a:r>
              <a:rPr lang="en-GB" dirty="0"/>
              <a:t>Please complete exercise 1 of the Module 1 lab</a:t>
            </a:r>
          </a:p>
          <a:p>
            <a:pPr>
              <a:buFont typeface="Arial" panose="020B0604020202020204" pitchFamily="34" charset="0"/>
              <a:buChar char="•"/>
            </a:pPr>
            <a:r>
              <a:rPr lang="en-GB" dirty="0"/>
              <a:t>Stop at the end of task 2 </a:t>
            </a:r>
          </a:p>
        </p:txBody>
      </p:sp>
      <p:sp>
        <p:nvSpPr>
          <p:cNvPr id="3" name="Slide Number Placeholder 2">
            <a:extLst>
              <a:ext uri="{FF2B5EF4-FFF2-40B4-BE49-F238E27FC236}">
                <a16:creationId xmlns:a16="http://schemas.microsoft.com/office/drawing/2014/main" id="{E13E8852-F4BB-BFE6-8AD2-4F1DD4048F0C}"/>
              </a:ext>
            </a:extLst>
          </p:cNvPr>
          <p:cNvSpPr>
            <a:spLocks noGrp="1"/>
          </p:cNvSpPr>
          <p:nvPr>
            <p:ph type="sldNum" sz="quarter" idx="4"/>
          </p:nvPr>
        </p:nvSpPr>
        <p:spPr/>
        <p:txBody>
          <a:bodyPr/>
          <a:lstStyle/>
          <a:p>
            <a:fld id="{EF892D59-8F09-EF4B-AD6D-DA609442F868}" type="slidenum">
              <a:rPr lang="en-GB" smtClean="0"/>
              <a:pPr/>
              <a:t>6</a:t>
            </a:fld>
            <a:endParaRPr lang="en-GB"/>
          </a:p>
        </p:txBody>
      </p:sp>
    </p:spTree>
    <p:extLst>
      <p:ext uri="{BB962C8B-B14F-4D97-AF65-F5344CB8AC3E}">
        <p14:creationId xmlns:p14="http://schemas.microsoft.com/office/powerpoint/2010/main" val="3741065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1B88E1F-2C3A-A24B-B381-CD5671B0B218}"/>
              </a:ext>
            </a:extLst>
          </p:cNvPr>
          <p:cNvSpPr>
            <a:spLocks noGrp="1"/>
          </p:cNvSpPr>
          <p:nvPr>
            <p:ph type="body" sz="quarter" idx="10"/>
          </p:nvPr>
        </p:nvSpPr>
        <p:spPr/>
        <p:txBody>
          <a:bodyPr/>
          <a:lstStyle/>
          <a:p>
            <a:r>
              <a:rPr lang="en-GB" dirty="0"/>
              <a:t>Table-Valued Functions (TVF)</a:t>
            </a:r>
            <a:endParaRPr lang="en-US" dirty="0"/>
          </a:p>
        </p:txBody>
      </p:sp>
      <p:sp>
        <p:nvSpPr>
          <p:cNvPr id="2" name="Slide Number Placeholder 1">
            <a:extLst>
              <a:ext uri="{FF2B5EF4-FFF2-40B4-BE49-F238E27FC236}">
                <a16:creationId xmlns:a16="http://schemas.microsoft.com/office/drawing/2014/main" id="{9A495923-579B-8F47-840B-3F6C4A56DE24}"/>
              </a:ext>
            </a:extLst>
          </p:cNvPr>
          <p:cNvSpPr>
            <a:spLocks noGrp="1"/>
          </p:cNvSpPr>
          <p:nvPr>
            <p:ph type="sldNum" sz="quarter" idx="4"/>
          </p:nvPr>
        </p:nvSpPr>
        <p:spPr/>
        <p:txBody>
          <a:bodyPr/>
          <a:lstStyle/>
          <a:p>
            <a:fld id="{EF892D59-8F09-EF4B-AD6D-DA609442F868}" type="slidenum">
              <a:rPr lang="en-GB" smtClean="0"/>
              <a:pPr/>
              <a:t>7</a:t>
            </a:fld>
            <a:endParaRPr lang="en-GB"/>
          </a:p>
        </p:txBody>
      </p:sp>
      <p:sp>
        <p:nvSpPr>
          <p:cNvPr id="4" name="Text Placeholder 3">
            <a:extLst>
              <a:ext uri="{FF2B5EF4-FFF2-40B4-BE49-F238E27FC236}">
                <a16:creationId xmlns:a16="http://schemas.microsoft.com/office/drawing/2014/main" id="{05E19106-8406-9F46-AB90-E1E869CEB430}"/>
              </a:ext>
            </a:extLst>
          </p:cNvPr>
          <p:cNvSpPr>
            <a:spLocks noGrp="1"/>
          </p:cNvSpPr>
          <p:nvPr>
            <p:ph type="body" sz="quarter" idx="11"/>
          </p:nvPr>
        </p:nvSpPr>
        <p:spPr/>
        <p:txBody>
          <a:bodyPr/>
          <a:lstStyle/>
          <a:p>
            <a:r>
              <a:rPr lang="en-GB" sz="2000" b="1" dirty="0"/>
              <a:t>User defined table-valued functions</a:t>
            </a:r>
          </a:p>
          <a:p>
            <a:pPr marL="285750" indent="-285750">
              <a:lnSpc>
                <a:spcPct val="100000"/>
              </a:lnSpc>
              <a:spcAft>
                <a:spcPts val="0"/>
              </a:spcAft>
              <a:buFont typeface="Arial" panose="020B0604020202020204" pitchFamily="34" charset="0"/>
              <a:buChar char="•"/>
            </a:pPr>
            <a:endParaRPr lang="en-GB" dirty="0"/>
          </a:p>
          <a:p>
            <a:pPr lvl="1">
              <a:lnSpc>
                <a:spcPct val="100000"/>
              </a:lnSpc>
              <a:spcAft>
                <a:spcPts val="0"/>
              </a:spcAft>
              <a:buFont typeface="Arial" panose="020B0604020202020204" pitchFamily="34" charset="0"/>
              <a:buChar char="•"/>
            </a:pPr>
            <a:r>
              <a:rPr lang="en-GB" sz="1800" dirty="0"/>
              <a:t>The definition is stored within the database for others to use.</a:t>
            </a:r>
          </a:p>
          <a:p>
            <a:pPr lvl="1">
              <a:lnSpc>
                <a:spcPct val="100000"/>
              </a:lnSpc>
              <a:spcAft>
                <a:spcPts val="0"/>
              </a:spcAft>
              <a:buFont typeface="Arial" panose="020B0604020202020204" pitchFamily="34" charset="0"/>
              <a:buChar char="•"/>
            </a:pPr>
            <a:endParaRPr lang="en-GB" sz="1800" dirty="0"/>
          </a:p>
          <a:p>
            <a:pPr lvl="1">
              <a:lnSpc>
                <a:spcPct val="100000"/>
              </a:lnSpc>
              <a:spcAft>
                <a:spcPts val="0"/>
              </a:spcAft>
              <a:buFont typeface="Arial" panose="020B0604020202020204" pitchFamily="34" charset="0"/>
              <a:buChar char="•"/>
            </a:pPr>
            <a:r>
              <a:rPr lang="en-GB" sz="1800" dirty="0"/>
              <a:t>Support input parameters.</a:t>
            </a:r>
          </a:p>
          <a:p>
            <a:pPr marL="180000" lvl="1" indent="0">
              <a:lnSpc>
                <a:spcPct val="100000"/>
              </a:lnSpc>
              <a:spcAft>
                <a:spcPts val="0"/>
              </a:spcAft>
              <a:buNone/>
            </a:pPr>
            <a:endParaRPr lang="en-GB" sz="1800" dirty="0"/>
          </a:p>
          <a:p>
            <a:pPr lvl="1">
              <a:lnSpc>
                <a:spcPct val="100000"/>
              </a:lnSpc>
              <a:spcAft>
                <a:spcPts val="0"/>
              </a:spcAft>
              <a:buFont typeface="Arial" panose="020B0604020202020204" pitchFamily="34" charset="0"/>
              <a:buChar char="•"/>
            </a:pPr>
            <a:r>
              <a:rPr lang="en-GB" sz="1800" dirty="0"/>
              <a:t>Used like a view.</a:t>
            </a:r>
          </a:p>
          <a:p>
            <a:pPr lvl="1">
              <a:lnSpc>
                <a:spcPct val="100000"/>
              </a:lnSpc>
              <a:spcAft>
                <a:spcPts val="0"/>
              </a:spcAft>
              <a:buFont typeface="Arial" panose="020B0604020202020204" pitchFamily="34" charset="0"/>
              <a:buChar char="•"/>
            </a:pPr>
            <a:endParaRPr lang="en-GB" sz="1800" dirty="0"/>
          </a:p>
          <a:p>
            <a:pPr lvl="1">
              <a:lnSpc>
                <a:spcPct val="100000"/>
              </a:lnSpc>
              <a:spcAft>
                <a:spcPts val="0"/>
              </a:spcAft>
              <a:buFont typeface="Arial" panose="020B0604020202020204" pitchFamily="34" charset="0"/>
              <a:buChar char="•"/>
            </a:pPr>
            <a:r>
              <a:rPr lang="en-GB" sz="1800" dirty="0"/>
              <a:t>Use two-part naming convention when referring to objects such as tables within a function definition.</a:t>
            </a:r>
          </a:p>
          <a:p>
            <a:endParaRPr lang="en-US" dirty="0"/>
          </a:p>
        </p:txBody>
      </p:sp>
    </p:spTree>
    <p:extLst>
      <p:ext uri="{BB962C8B-B14F-4D97-AF65-F5344CB8AC3E}">
        <p14:creationId xmlns:p14="http://schemas.microsoft.com/office/powerpoint/2010/main" val="2034225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1B88E1F-2C3A-A24B-B381-CD5671B0B218}"/>
              </a:ext>
            </a:extLst>
          </p:cNvPr>
          <p:cNvSpPr>
            <a:spLocks noGrp="1"/>
          </p:cNvSpPr>
          <p:nvPr>
            <p:ph type="body" sz="quarter" idx="10"/>
          </p:nvPr>
        </p:nvSpPr>
        <p:spPr/>
        <p:txBody>
          <a:bodyPr/>
          <a:lstStyle/>
          <a:p>
            <a:r>
              <a:rPr lang="en-GB" dirty="0"/>
              <a:t>Table-valued Functions (TVF)</a:t>
            </a:r>
            <a:endParaRPr lang="en-US" dirty="0"/>
          </a:p>
        </p:txBody>
      </p:sp>
      <p:sp>
        <p:nvSpPr>
          <p:cNvPr id="2" name="Slide Number Placeholder 1">
            <a:extLst>
              <a:ext uri="{FF2B5EF4-FFF2-40B4-BE49-F238E27FC236}">
                <a16:creationId xmlns:a16="http://schemas.microsoft.com/office/drawing/2014/main" id="{9A495923-579B-8F47-840B-3F6C4A56DE24}"/>
              </a:ext>
            </a:extLst>
          </p:cNvPr>
          <p:cNvSpPr>
            <a:spLocks noGrp="1"/>
          </p:cNvSpPr>
          <p:nvPr>
            <p:ph type="sldNum" sz="quarter" idx="4"/>
          </p:nvPr>
        </p:nvSpPr>
        <p:spPr/>
        <p:txBody>
          <a:bodyPr/>
          <a:lstStyle/>
          <a:p>
            <a:fld id="{EF892D59-8F09-EF4B-AD6D-DA609442F868}" type="slidenum">
              <a:rPr lang="en-GB" smtClean="0"/>
              <a:pPr/>
              <a:t>8</a:t>
            </a:fld>
            <a:endParaRPr lang="en-GB"/>
          </a:p>
        </p:txBody>
      </p:sp>
      <p:sp>
        <p:nvSpPr>
          <p:cNvPr id="4" name="Text Placeholder 3">
            <a:extLst>
              <a:ext uri="{FF2B5EF4-FFF2-40B4-BE49-F238E27FC236}">
                <a16:creationId xmlns:a16="http://schemas.microsoft.com/office/drawing/2014/main" id="{05E19106-8406-9F46-AB90-E1E869CEB430}"/>
              </a:ext>
            </a:extLst>
          </p:cNvPr>
          <p:cNvSpPr>
            <a:spLocks noGrp="1"/>
          </p:cNvSpPr>
          <p:nvPr>
            <p:ph type="body" sz="quarter" idx="11"/>
          </p:nvPr>
        </p:nvSpPr>
        <p:spPr/>
        <p:txBody>
          <a:bodyPr/>
          <a:lstStyle/>
          <a:p>
            <a:pPr>
              <a:lnSpc>
                <a:spcPct val="100000"/>
              </a:lnSpc>
              <a:spcAft>
                <a:spcPts val="0"/>
              </a:spcAft>
            </a:pPr>
            <a:r>
              <a:rPr lang="en-GB" sz="2000" b="1" dirty="0"/>
              <a:t>Two types of user defined function can return tables.</a:t>
            </a:r>
          </a:p>
          <a:p>
            <a:pPr>
              <a:lnSpc>
                <a:spcPct val="100000"/>
              </a:lnSpc>
              <a:spcAft>
                <a:spcPts val="0"/>
              </a:spcAft>
            </a:pPr>
            <a:endParaRPr lang="en-GB" sz="2000" b="1" dirty="0"/>
          </a:p>
          <a:p>
            <a:pPr>
              <a:lnSpc>
                <a:spcPct val="100000"/>
              </a:lnSpc>
              <a:spcAft>
                <a:spcPts val="0"/>
              </a:spcAft>
            </a:pPr>
            <a:r>
              <a:rPr lang="en-GB" sz="1800" dirty="0"/>
              <a:t>In-line:</a:t>
            </a:r>
          </a:p>
          <a:p>
            <a:pPr marL="285750" indent="-285750">
              <a:lnSpc>
                <a:spcPct val="100000"/>
              </a:lnSpc>
              <a:spcAft>
                <a:spcPts val="0"/>
              </a:spcAft>
              <a:buFont typeface="Arial" panose="020B0604020202020204" pitchFamily="34" charset="0"/>
              <a:buChar char="•"/>
            </a:pPr>
            <a:r>
              <a:rPr lang="en-GB" sz="1800" dirty="0"/>
              <a:t>A single select statement.</a:t>
            </a:r>
          </a:p>
          <a:p>
            <a:pPr marL="285750" indent="-285750">
              <a:lnSpc>
                <a:spcPct val="100000"/>
              </a:lnSpc>
              <a:spcAft>
                <a:spcPts val="0"/>
              </a:spcAft>
              <a:buFont typeface="Arial" panose="020B0604020202020204" pitchFamily="34" charset="0"/>
              <a:buChar char="•"/>
            </a:pPr>
            <a:endParaRPr lang="en-GB" dirty="0"/>
          </a:p>
          <a:p>
            <a:pPr>
              <a:lnSpc>
                <a:spcPct val="100000"/>
              </a:lnSpc>
              <a:spcAft>
                <a:spcPts val="0"/>
              </a:spcAft>
            </a:pPr>
            <a:r>
              <a:rPr lang="en-GB" sz="1800" dirty="0"/>
              <a:t>Multi-line:</a:t>
            </a:r>
          </a:p>
          <a:p>
            <a:pPr marL="285750" indent="-285750">
              <a:lnSpc>
                <a:spcPct val="100000"/>
              </a:lnSpc>
              <a:spcAft>
                <a:spcPts val="0"/>
              </a:spcAft>
              <a:buFont typeface="Arial" panose="020B0604020202020204" pitchFamily="34" charset="0"/>
              <a:buChar char="•"/>
            </a:pPr>
            <a:r>
              <a:rPr lang="en-GB" sz="1800" dirty="0"/>
              <a:t>Allows multiple lines for a more complex query.</a:t>
            </a:r>
          </a:p>
          <a:p>
            <a:pPr marL="285750" indent="-285750">
              <a:lnSpc>
                <a:spcPct val="100000"/>
              </a:lnSpc>
              <a:spcAft>
                <a:spcPts val="0"/>
              </a:spcAft>
              <a:buFont typeface="Arial" panose="020B0604020202020204" pitchFamily="34" charset="0"/>
              <a:buChar char="•"/>
            </a:pPr>
            <a:r>
              <a:rPr lang="en-GB" sz="1800" dirty="0"/>
              <a:t>Table is pre-defined with the function and uses code to add rows.</a:t>
            </a:r>
          </a:p>
          <a:p>
            <a:pPr marL="285750" indent="-285750">
              <a:lnSpc>
                <a:spcPct val="100000"/>
              </a:lnSpc>
              <a:spcAft>
                <a:spcPts val="0"/>
              </a:spcAft>
              <a:buFont typeface="Arial" panose="020B0604020202020204" pitchFamily="34" charset="0"/>
              <a:buChar char="•"/>
            </a:pPr>
            <a:r>
              <a:rPr lang="en-GB" sz="1800" dirty="0"/>
              <a:t>Use the create, alter and drop DDL statements.</a:t>
            </a:r>
          </a:p>
          <a:p>
            <a:pPr lvl="1"/>
            <a:endParaRPr lang="en-GB" dirty="0"/>
          </a:p>
          <a:p>
            <a:endParaRPr lang="en-US" dirty="0"/>
          </a:p>
        </p:txBody>
      </p:sp>
    </p:spTree>
    <p:extLst>
      <p:ext uri="{BB962C8B-B14F-4D97-AF65-F5344CB8AC3E}">
        <p14:creationId xmlns:p14="http://schemas.microsoft.com/office/powerpoint/2010/main" val="39971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ED4E7D4-C09E-5D4E-B450-9C9FD5783146}"/>
              </a:ext>
            </a:extLst>
          </p:cNvPr>
          <p:cNvSpPr>
            <a:spLocks noGrp="1"/>
          </p:cNvSpPr>
          <p:nvPr>
            <p:ph type="body" sz="quarter" idx="12"/>
          </p:nvPr>
        </p:nvSpPr>
        <p:spPr/>
        <p:txBody>
          <a:bodyPr/>
          <a:lstStyle/>
          <a:p>
            <a:r>
              <a:rPr lang="en-GB" dirty="0"/>
              <a:t>CREATING IN-LINE TVF</a:t>
            </a:r>
            <a:endParaRPr lang="en-US" dirty="0"/>
          </a:p>
        </p:txBody>
      </p:sp>
      <p:sp>
        <p:nvSpPr>
          <p:cNvPr id="3" name="Text Placeholder 2">
            <a:extLst>
              <a:ext uri="{FF2B5EF4-FFF2-40B4-BE49-F238E27FC236}">
                <a16:creationId xmlns:a16="http://schemas.microsoft.com/office/drawing/2014/main" id="{DA9CDB6C-B1DA-3648-B53D-C115F747B3EA}"/>
              </a:ext>
            </a:extLst>
          </p:cNvPr>
          <p:cNvSpPr>
            <a:spLocks noGrp="1"/>
          </p:cNvSpPr>
          <p:nvPr>
            <p:ph type="body" sz="quarter" idx="1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8E225283-2703-A845-974A-CC79A6393C60}"/>
              </a:ext>
            </a:extLst>
          </p:cNvPr>
          <p:cNvSpPr>
            <a:spLocks noGrp="1"/>
          </p:cNvSpPr>
          <p:nvPr>
            <p:ph type="sldNum" sz="quarter" idx="4"/>
          </p:nvPr>
        </p:nvSpPr>
        <p:spPr/>
        <p:txBody>
          <a:bodyPr/>
          <a:lstStyle/>
          <a:p>
            <a:fld id="{EF892D59-8F09-EF4B-AD6D-DA609442F868}" type="slidenum">
              <a:rPr lang="en-GB" smtClean="0"/>
              <a:pPr/>
              <a:t>9</a:t>
            </a:fld>
            <a:endParaRPr lang="en-GB"/>
          </a:p>
        </p:txBody>
      </p:sp>
      <p:sp>
        <p:nvSpPr>
          <p:cNvPr id="6" name="Content Placeholder 5">
            <a:extLst>
              <a:ext uri="{FF2B5EF4-FFF2-40B4-BE49-F238E27FC236}">
                <a16:creationId xmlns:a16="http://schemas.microsoft.com/office/drawing/2014/main" id="{2D3EDCCD-F1AB-FE40-94F6-5AACD0AE52C2}"/>
              </a:ext>
            </a:extLst>
          </p:cNvPr>
          <p:cNvSpPr txBox="1">
            <a:spLocks/>
          </p:cNvSpPr>
          <p:nvPr/>
        </p:nvSpPr>
        <p:spPr>
          <a:xfrm>
            <a:off x="372210" y="1175414"/>
            <a:ext cx="11435615" cy="5303175"/>
          </a:xfrm>
          <a:prstGeom prst="rect">
            <a:avLst/>
          </a:prstGeom>
        </p:spPr>
        <p:txBody>
          <a:bodyPr/>
          <a:lst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p>
          <a:p>
            <a:r>
              <a:rPr lang="en-GB" dirty="0"/>
              <a:t>Command </a:t>
            </a:r>
          </a:p>
          <a:p>
            <a:r>
              <a:rPr lang="en-GB" dirty="0"/>
              <a:t>outline:</a:t>
            </a:r>
          </a:p>
          <a:p>
            <a:endParaRPr lang="en-GB" dirty="0"/>
          </a:p>
          <a:p>
            <a:endParaRPr lang="en-GB" dirty="0"/>
          </a:p>
          <a:p>
            <a:endParaRPr lang="en-GB" sz="800" dirty="0"/>
          </a:p>
          <a:p>
            <a:r>
              <a:rPr lang="en-GB" dirty="0"/>
              <a:t>Demonstration:</a:t>
            </a:r>
          </a:p>
          <a:p>
            <a:endParaRPr lang="en-GB" dirty="0"/>
          </a:p>
          <a:p>
            <a:endParaRPr lang="en-GB" dirty="0"/>
          </a:p>
          <a:p>
            <a:endParaRPr lang="en-GB" dirty="0"/>
          </a:p>
          <a:p>
            <a:endParaRPr lang="en-GB" dirty="0"/>
          </a:p>
          <a:p>
            <a:endParaRPr lang="en-GB" dirty="0"/>
          </a:p>
          <a:p>
            <a:endParaRPr lang="en-GB" dirty="0"/>
          </a:p>
          <a:p>
            <a:r>
              <a:rPr lang="en-GB" dirty="0"/>
              <a:t>Use:</a:t>
            </a:r>
          </a:p>
          <a:p>
            <a:endParaRPr lang="en-GB" dirty="0"/>
          </a:p>
          <a:p>
            <a:endParaRPr lang="en-GB" dirty="0"/>
          </a:p>
          <a:p>
            <a:endParaRPr lang="en-GB" dirty="0"/>
          </a:p>
          <a:p>
            <a:endParaRPr lang="en-GB" dirty="0"/>
          </a:p>
        </p:txBody>
      </p:sp>
      <p:sp>
        <p:nvSpPr>
          <p:cNvPr id="11" name="Rectangle 10">
            <a:extLst>
              <a:ext uri="{FF2B5EF4-FFF2-40B4-BE49-F238E27FC236}">
                <a16:creationId xmlns:a16="http://schemas.microsoft.com/office/drawing/2014/main" id="{2547A1B8-75CF-4E5C-9BDF-94BC3DA154FD}"/>
              </a:ext>
            </a:extLst>
          </p:cNvPr>
          <p:cNvSpPr/>
          <p:nvPr/>
        </p:nvSpPr>
        <p:spPr bwMode="auto">
          <a:xfrm>
            <a:off x="2694212" y="1638191"/>
            <a:ext cx="7910004" cy="1077218"/>
          </a:xfrm>
          <a:prstGeom prst="rect">
            <a:avLst/>
          </a:prstGeom>
          <a:solidFill>
            <a:schemeClr val="tx2">
              <a:lumMod val="20000"/>
              <a:lumOff val="80000"/>
            </a:schemeClr>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400" eaLnBrk="0" fontAlgn="base" hangingPunct="0">
              <a:spcAft>
                <a:spcPct val="0"/>
              </a:spcAft>
            </a:pPr>
            <a:r>
              <a:rPr lang="en-GB" sz="1600" dirty="0">
                <a:latin typeface="Arial" charset="0"/>
              </a:rPr>
              <a:t>CREATE FUNCTION &lt;functionname&gt; (&lt;parameters&gt;)</a:t>
            </a:r>
          </a:p>
          <a:p>
            <a:pPr defTabSz="914400" eaLnBrk="0" fontAlgn="base" hangingPunct="0">
              <a:spcAft>
                <a:spcPct val="0"/>
              </a:spcAft>
            </a:pPr>
            <a:r>
              <a:rPr lang="en-GB" sz="1600" dirty="0">
                <a:latin typeface="Arial" charset="0"/>
              </a:rPr>
              <a:t>RETURNS TABLE AS</a:t>
            </a:r>
          </a:p>
          <a:p>
            <a:pPr defTabSz="914400" eaLnBrk="0" fontAlgn="base" hangingPunct="0">
              <a:spcAft>
                <a:spcPct val="0"/>
              </a:spcAft>
              <a:tabLst>
                <a:tab pos="355600" algn="l"/>
              </a:tabLst>
            </a:pPr>
            <a:r>
              <a:rPr lang="en-GB" sz="1600" dirty="0">
                <a:latin typeface="Arial" charset="0"/>
              </a:rPr>
              <a:t>	(SELECT &lt;columns&gt;</a:t>
            </a:r>
          </a:p>
          <a:p>
            <a:pPr defTabSz="914400" eaLnBrk="0" fontAlgn="base" hangingPunct="0">
              <a:spcAft>
                <a:spcPct val="0"/>
              </a:spcAft>
              <a:tabLst>
                <a:tab pos="355600" algn="l"/>
              </a:tabLst>
            </a:pPr>
            <a:r>
              <a:rPr lang="en-GB" sz="1600" dirty="0">
                <a:latin typeface="Arial" charset="0"/>
              </a:rPr>
              <a:t>	FROM &lt;table(s) including joins&gt;)</a:t>
            </a:r>
          </a:p>
        </p:txBody>
      </p:sp>
      <p:sp>
        <p:nvSpPr>
          <p:cNvPr id="13" name="Rectangle 12">
            <a:extLst>
              <a:ext uri="{FF2B5EF4-FFF2-40B4-BE49-F238E27FC236}">
                <a16:creationId xmlns:a16="http://schemas.microsoft.com/office/drawing/2014/main" id="{A17DD9D4-F8AA-48E7-A9D5-E888003E3512}"/>
              </a:ext>
            </a:extLst>
          </p:cNvPr>
          <p:cNvSpPr/>
          <p:nvPr/>
        </p:nvSpPr>
        <p:spPr bwMode="auto">
          <a:xfrm>
            <a:off x="2694212" y="3112762"/>
            <a:ext cx="7910004" cy="2308324"/>
          </a:xfrm>
          <a:prstGeom prst="rect">
            <a:avLst/>
          </a:prstGeom>
          <a:solidFill>
            <a:schemeClr val="tx2">
              <a:lumMod val="20000"/>
              <a:lumOff val="80000"/>
            </a:schemeClr>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tabLst>
                <a:tab pos="355600" algn="l"/>
                <a:tab pos="719138" algn="l"/>
                <a:tab pos="1074738" algn="l"/>
              </a:tabLst>
            </a:pPr>
            <a:r>
              <a:rPr lang="en-GB" sz="1600" dirty="0">
                <a:latin typeface="Arial" charset="0"/>
              </a:rPr>
              <a:t>CREATE FUNCTION dbo.GetProductsByColour(@Colour varchar(20))</a:t>
            </a:r>
          </a:p>
          <a:p>
            <a:pPr>
              <a:tabLst>
                <a:tab pos="355600" algn="l"/>
                <a:tab pos="719138" algn="l"/>
                <a:tab pos="1074738" algn="l"/>
              </a:tabLst>
            </a:pPr>
            <a:r>
              <a:rPr lang="en-GB" sz="1600" dirty="0">
                <a:latin typeface="Arial" charset="0"/>
              </a:rPr>
              <a:t>	RETURNS TABLE AS</a:t>
            </a:r>
          </a:p>
          <a:p>
            <a:pPr>
              <a:tabLst>
                <a:tab pos="355600" algn="l"/>
                <a:tab pos="719138" algn="l"/>
                <a:tab pos="1074738" algn="l"/>
              </a:tabLst>
            </a:pPr>
            <a:r>
              <a:rPr lang="en-GB" sz="1600" dirty="0">
                <a:latin typeface="Arial" charset="0"/>
              </a:rPr>
              <a:t>	RETURN(</a:t>
            </a:r>
          </a:p>
          <a:p>
            <a:pPr>
              <a:tabLst>
                <a:tab pos="355600" algn="l"/>
                <a:tab pos="719138" algn="l"/>
                <a:tab pos="1074738" algn="l"/>
                <a:tab pos="1438275" algn="l"/>
                <a:tab pos="1793875" algn="l"/>
                <a:tab pos="2147888" algn="l"/>
              </a:tabLst>
            </a:pPr>
            <a:r>
              <a:rPr lang="en-GB" sz="1600" dirty="0">
                <a:latin typeface="Arial" charset="0"/>
              </a:rPr>
              <a:t>		SELECT PSC.Name AS Subcategory, P.Name</a:t>
            </a:r>
          </a:p>
          <a:p>
            <a:pPr>
              <a:tabLst>
                <a:tab pos="355600" algn="l"/>
                <a:tab pos="719138" algn="l"/>
                <a:tab pos="1074738" algn="l"/>
                <a:tab pos="1438275" algn="l"/>
                <a:tab pos="1793875" algn="l"/>
                <a:tab pos="2147888" algn="l"/>
              </a:tabLst>
            </a:pPr>
            <a:r>
              <a:rPr lang="en-GB" sz="1600" dirty="0">
                <a:latin typeface="Arial" charset="0"/>
              </a:rPr>
              <a:t>			FROM Production.Product AS P</a:t>
            </a:r>
          </a:p>
          <a:p>
            <a:pPr>
              <a:tabLst>
                <a:tab pos="355600" algn="l"/>
                <a:tab pos="719138" algn="l"/>
                <a:tab pos="1074738" algn="l"/>
                <a:tab pos="1438275" algn="l"/>
                <a:tab pos="1793875" algn="l"/>
                <a:tab pos="2147888" algn="l"/>
              </a:tabLst>
            </a:pPr>
            <a:r>
              <a:rPr lang="en-GB" sz="1600" dirty="0">
                <a:latin typeface="Arial" charset="0"/>
              </a:rPr>
              <a:t>				INNER JOIN Production.ProductSubcategory AS PSC</a:t>
            </a:r>
          </a:p>
          <a:p>
            <a:pPr>
              <a:tabLst>
                <a:tab pos="355600" algn="l"/>
                <a:tab pos="719138" algn="l"/>
                <a:tab pos="1074738" algn="l"/>
                <a:tab pos="1438275" algn="l"/>
                <a:tab pos="1793875" algn="l"/>
                <a:tab pos="2147888" algn="l"/>
              </a:tabLst>
            </a:pPr>
            <a:r>
              <a:rPr lang="en-GB" sz="1600" dirty="0">
                <a:latin typeface="Arial" charset="0"/>
              </a:rPr>
              <a:t>					ON P.ProductSubcategoryID = PSC.ProductSubcategoryID</a:t>
            </a:r>
          </a:p>
          <a:p>
            <a:pPr>
              <a:tabLst>
                <a:tab pos="355600" algn="l"/>
                <a:tab pos="719138" algn="l"/>
                <a:tab pos="1074738" algn="l"/>
                <a:tab pos="1438275" algn="l"/>
                <a:tab pos="1793875" algn="l"/>
                <a:tab pos="2147888" algn="l"/>
              </a:tabLst>
            </a:pPr>
            <a:r>
              <a:rPr lang="en-GB" sz="1600" dirty="0">
                <a:latin typeface="Arial" charset="0"/>
              </a:rPr>
              <a:t>			WHERE Color = @Colour</a:t>
            </a:r>
          </a:p>
          <a:p>
            <a:pPr>
              <a:tabLst>
                <a:tab pos="355600" algn="l"/>
                <a:tab pos="719138" algn="l"/>
                <a:tab pos="1074738" algn="l"/>
              </a:tabLst>
            </a:pPr>
            <a:r>
              <a:rPr lang="en-GB" sz="1600" dirty="0">
                <a:latin typeface="Arial" charset="0"/>
              </a:rPr>
              <a:t>	)</a:t>
            </a:r>
          </a:p>
        </p:txBody>
      </p:sp>
      <p:sp>
        <p:nvSpPr>
          <p:cNvPr id="15" name="Rectangle 14">
            <a:extLst>
              <a:ext uri="{FF2B5EF4-FFF2-40B4-BE49-F238E27FC236}">
                <a16:creationId xmlns:a16="http://schemas.microsoft.com/office/drawing/2014/main" id="{E901D09A-6562-433E-8EBD-9B7C4A242270}"/>
              </a:ext>
            </a:extLst>
          </p:cNvPr>
          <p:cNvSpPr/>
          <p:nvPr/>
        </p:nvSpPr>
        <p:spPr bwMode="auto">
          <a:xfrm>
            <a:off x="2694212" y="5780560"/>
            <a:ext cx="7910004" cy="338554"/>
          </a:xfrm>
          <a:prstGeom prst="rect">
            <a:avLst/>
          </a:prstGeom>
          <a:solidFill>
            <a:schemeClr val="tx2">
              <a:lumMod val="20000"/>
              <a:lumOff val="80000"/>
            </a:schemeClr>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400" eaLnBrk="0" fontAlgn="base" hangingPunct="0">
              <a:spcAft>
                <a:spcPct val="0"/>
              </a:spcAft>
            </a:pPr>
            <a:r>
              <a:rPr lang="en-GB" sz="1600" dirty="0">
                <a:latin typeface="Arial" charset="0"/>
              </a:rPr>
              <a:t>SELECT * FROM dbo.GetProductsByColour(‘Red’)</a:t>
            </a:r>
          </a:p>
        </p:txBody>
      </p:sp>
    </p:spTree>
    <p:extLst>
      <p:ext uri="{BB962C8B-B14F-4D97-AF65-F5344CB8AC3E}">
        <p14:creationId xmlns:p14="http://schemas.microsoft.com/office/powerpoint/2010/main" val="3429761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ED4E7D4-C09E-5D4E-B450-9C9FD5783146}"/>
              </a:ext>
            </a:extLst>
          </p:cNvPr>
          <p:cNvSpPr>
            <a:spLocks noGrp="1"/>
          </p:cNvSpPr>
          <p:nvPr>
            <p:ph type="body" sz="quarter" idx="12"/>
          </p:nvPr>
        </p:nvSpPr>
        <p:spPr/>
        <p:txBody>
          <a:bodyPr/>
          <a:lstStyle/>
          <a:p>
            <a:r>
              <a:rPr lang="en-GB" dirty="0"/>
              <a:t>CREATING IN-LINE TVF</a:t>
            </a:r>
            <a:endParaRPr lang="en-US" dirty="0"/>
          </a:p>
        </p:txBody>
      </p:sp>
      <p:sp>
        <p:nvSpPr>
          <p:cNvPr id="3" name="Text Placeholder 2">
            <a:extLst>
              <a:ext uri="{FF2B5EF4-FFF2-40B4-BE49-F238E27FC236}">
                <a16:creationId xmlns:a16="http://schemas.microsoft.com/office/drawing/2014/main" id="{DA9CDB6C-B1DA-3648-B53D-C115F747B3EA}"/>
              </a:ext>
            </a:extLst>
          </p:cNvPr>
          <p:cNvSpPr>
            <a:spLocks noGrp="1"/>
          </p:cNvSpPr>
          <p:nvPr>
            <p:ph type="body" sz="quarter" idx="1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8E225283-2703-A845-974A-CC79A6393C60}"/>
              </a:ext>
            </a:extLst>
          </p:cNvPr>
          <p:cNvSpPr>
            <a:spLocks noGrp="1"/>
          </p:cNvSpPr>
          <p:nvPr>
            <p:ph type="sldNum" sz="quarter" idx="4"/>
          </p:nvPr>
        </p:nvSpPr>
        <p:spPr/>
        <p:txBody>
          <a:bodyPr/>
          <a:lstStyle/>
          <a:p>
            <a:fld id="{EF892D59-8F09-EF4B-AD6D-DA609442F868}" type="slidenum">
              <a:rPr lang="en-GB" smtClean="0"/>
              <a:pPr/>
              <a:t>10</a:t>
            </a:fld>
            <a:endParaRPr lang="en-GB"/>
          </a:p>
        </p:txBody>
      </p:sp>
      <p:sp>
        <p:nvSpPr>
          <p:cNvPr id="6" name="Content Placeholder 5">
            <a:extLst>
              <a:ext uri="{FF2B5EF4-FFF2-40B4-BE49-F238E27FC236}">
                <a16:creationId xmlns:a16="http://schemas.microsoft.com/office/drawing/2014/main" id="{2D3EDCCD-F1AB-FE40-94F6-5AACD0AE52C2}"/>
              </a:ext>
            </a:extLst>
          </p:cNvPr>
          <p:cNvSpPr txBox="1">
            <a:spLocks/>
          </p:cNvSpPr>
          <p:nvPr/>
        </p:nvSpPr>
        <p:spPr>
          <a:xfrm>
            <a:off x="372210" y="1175414"/>
            <a:ext cx="11435615" cy="5303175"/>
          </a:xfrm>
          <a:prstGeom prst="rect">
            <a:avLst/>
          </a:prstGeom>
        </p:spPr>
        <p:txBody>
          <a:bodyPr/>
          <a:lst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br>
              <a:rPr lang="en-GB" dirty="0"/>
            </a:br>
            <a:r>
              <a:rPr lang="en-GB" dirty="0"/>
              <a:t>Use:</a:t>
            </a:r>
          </a:p>
          <a:p>
            <a:endParaRPr lang="en-GB" dirty="0"/>
          </a:p>
          <a:p>
            <a:endParaRPr lang="en-GB" dirty="0"/>
          </a:p>
          <a:p>
            <a:endParaRPr lang="en-GB" sz="800" dirty="0"/>
          </a:p>
          <a:p>
            <a:endParaRPr lang="en-GB" dirty="0"/>
          </a:p>
          <a:p>
            <a:endParaRPr lang="en-GB" dirty="0"/>
          </a:p>
          <a:p>
            <a:endParaRPr lang="en-GB" dirty="0"/>
          </a:p>
          <a:p>
            <a:endParaRPr lang="en-GB" dirty="0"/>
          </a:p>
        </p:txBody>
      </p:sp>
      <p:sp>
        <p:nvSpPr>
          <p:cNvPr id="9" name="Rectangle 8">
            <a:extLst>
              <a:ext uri="{FF2B5EF4-FFF2-40B4-BE49-F238E27FC236}">
                <a16:creationId xmlns:a16="http://schemas.microsoft.com/office/drawing/2014/main" id="{05B3C6F4-6768-4F90-82E4-ED87B9404E1A}"/>
              </a:ext>
            </a:extLst>
          </p:cNvPr>
          <p:cNvSpPr/>
          <p:nvPr/>
        </p:nvSpPr>
        <p:spPr bwMode="auto">
          <a:xfrm>
            <a:off x="1212111" y="1475784"/>
            <a:ext cx="7910004" cy="830997"/>
          </a:xfrm>
          <a:prstGeom prst="rect">
            <a:avLst/>
          </a:prstGeom>
          <a:solidFill>
            <a:schemeClr val="tx2">
              <a:lumMod val="20000"/>
              <a:lumOff val="80000"/>
            </a:schemeClr>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0" fontAlgn="base" hangingPunct="0">
              <a:spcAft>
                <a:spcPct val="0"/>
              </a:spcAft>
            </a:pPr>
            <a:r>
              <a:rPr lang="en-GB" sz="1600" dirty="0">
                <a:latin typeface="Arial" charset="0"/>
              </a:rPr>
              <a:t>SELECT * FROM dbo.GetProductsByColour2(‘Blue’)  -- returns all blue products</a:t>
            </a:r>
          </a:p>
          <a:p>
            <a:pPr eaLnBrk="0" fontAlgn="base" hangingPunct="0">
              <a:spcAft>
                <a:spcPct val="0"/>
              </a:spcAft>
            </a:pPr>
            <a:endParaRPr lang="en-GB" sz="1600" dirty="0">
              <a:latin typeface="Arial" charset="0"/>
            </a:endParaRPr>
          </a:p>
          <a:p>
            <a:pPr eaLnBrk="0" fontAlgn="base" hangingPunct="0">
              <a:spcAft>
                <a:spcPct val="0"/>
              </a:spcAft>
            </a:pPr>
            <a:r>
              <a:rPr lang="en-GB" sz="1600" dirty="0">
                <a:latin typeface="Arial" charset="0"/>
              </a:rPr>
              <a:t>SELECT * FROM dbo.GetProductsByColour2(‘Blue,Black’)  -- returns empty set </a:t>
            </a:r>
          </a:p>
        </p:txBody>
      </p:sp>
    </p:spTree>
    <p:extLst>
      <p:ext uri="{BB962C8B-B14F-4D97-AF65-F5344CB8AC3E}">
        <p14:creationId xmlns:p14="http://schemas.microsoft.com/office/powerpoint/2010/main" val="3300711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1145077-01DD-4271-7AAC-B2080626F1C5}"/>
              </a:ext>
            </a:extLst>
          </p:cNvPr>
          <p:cNvSpPr>
            <a:spLocks noGrp="1"/>
          </p:cNvSpPr>
          <p:nvPr>
            <p:ph type="ctrTitle"/>
          </p:nvPr>
        </p:nvSpPr>
        <p:spPr/>
        <p:txBody>
          <a:bodyPr/>
          <a:lstStyle/>
          <a:p>
            <a:r>
              <a:rPr lang="en-GB" dirty="0"/>
              <a:t>Module 1 </a:t>
            </a:r>
            <a:br>
              <a:rPr lang="en-GB" dirty="0"/>
            </a:br>
            <a:r>
              <a:rPr lang="en-GB" dirty="0"/>
              <a:t>exercise 2 – in-line table valued functions</a:t>
            </a:r>
          </a:p>
        </p:txBody>
      </p:sp>
      <p:sp>
        <p:nvSpPr>
          <p:cNvPr id="6" name="Text Placeholder 5">
            <a:extLst>
              <a:ext uri="{FF2B5EF4-FFF2-40B4-BE49-F238E27FC236}">
                <a16:creationId xmlns:a16="http://schemas.microsoft.com/office/drawing/2014/main" id="{DD05C6DB-1105-1E7C-6613-1A2B81198E20}"/>
              </a:ext>
            </a:extLst>
          </p:cNvPr>
          <p:cNvSpPr>
            <a:spLocks noGrp="1"/>
          </p:cNvSpPr>
          <p:nvPr>
            <p:ph type="body" sz="quarter" idx="10"/>
          </p:nvPr>
        </p:nvSpPr>
        <p:spPr/>
        <p:txBody>
          <a:bodyPr/>
          <a:lstStyle/>
          <a:p>
            <a:pPr>
              <a:buFont typeface="Arial" panose="020B0604020202020204" pitchFamily="34" charset="0"/>
              <a:buChar char="•"/>
            </a:pPr>
            <a:r>
              <a:rPr lang="en-GB" dirty="0"/>
              <a:t>Please complete exercise 2 of the Module 1 lab</a:t>
            </a:r>
          </a:p>
          <a:p>
            <a:pPr>
              <a:buFont typeface="Arial" panose="020B0604020202020204" pitchFamily="34" charset="0"/>
              <a:buChar char="•"/>
            </a:pPr>
            <a:r>
              <a:rPr lang="en-GB" dirty="0"/>
              <a:t>Stop at the end of task 3</a:t>
            </a:r>
          </a:p>
        </p:txBody>
      </p:sp>
      <p:sp>
        <p:nvSpPr>
          <p:cNvPr id="3" name="Slide Number Placeholder 2">
            <a:extLst>
              <a:ext uri="{FF2B5EF4-FFF2-40B4-BE49-F238E27FC236}">
                <a16:creationId xmlns:a16="http://schemas.microsoft.com/office/drawing/2014/main" id="{E13E8852-F4BB-BFE6-8AD2-4F1DD4048F0C}"/>
              </a:ext>
            </a:extLst>
          </p:cNvPr>
          <p:cNvSpPr>
            <a:spLocks noGrp="1"/>
          </p:cNvSpPr>
          <p:nvPr>
            <p:ph type="sldNum" sz="quarter" idx="4"/>
          </p:nvPr>
        </p:nvSpPr>
        <p:spPr/>
        <p:txBody>
          <a:bodyPr/>
          <a:lstStyle/>
          <a:p>
            <a:fld id="{EF892D59-8F09-EF4B-AD6D-DA609442F868}" type="slidenum">
              <a:rPr lang="en-GB" smtClean="0"/>
              <a:pPr/>
              <a:t>11</a:t>
            </a:fld>
            <a:endParaRPr lang="en-GB"/>
          </a:p>
        </p:txBody>
      </p:sp>
    </p:spTree>
    <p:extLst>
      <p:ext uri="{BB962C8B-B14F-4D97-AF65-F5344CB8AC3E}">
        <p14:creationId xmlns:p14="http://schemas.microsoft.com/office/powerpoint/2010/main" val="2492252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A1A3FC7-EF5B-3148-85C5-BC1FFE39142A}"/>
              </a:ext>
            </a:extLst>
          </p:cNvPr>
          <p:cNvSpPr>
            <a:spLocks noGrp="1"/>
          </p:cNvSpPr>
          <p:nvPr>
            <p:ph type="body" sz="quarter" idx="10"/>
          </p:nvPr>
        </p:nvSpPr>
        <p:spPr/>
        <p:txBody>
          <a:bodyPr/>
          <a:lstStyle/>
          <a:p>
            <a:r>
              <a:rPr lang="en-GB" dirty="0"/>
              <a:t>Derived tables</a:t>
            </a:r>
            <a:endParaRPr lang="en-US" dirty="0"/>
          </a:p>
        </p:txBody>
      </p:sp>
      <p:sp>
        <p:nvSpPr>
          <p:cNvPr id="5" name="Text Placeholder 4">
            <a:extLst>
              <a:ext uri="{FF2B5EF4-FFF2-40B4-BE49-F238E27FC236}">
                <a16:creationId xmlns:a16="http://schemas.microsoft.com/office/drawing/2014/main" id="{974A1D40-F920-6D4B-B9A6-330664223382}"/>
              </a:ext>
            </a:extLst>
          </p:cNvPr>
          <p:cNvSpPr>
            <a:spLocks noGrp="1"/>
          </p:cNvSpPr>
          <p:nvPr>
            <p:ph type="body" sz="quarter" idx="11"/>
          </p:nvPr>
        </p:nvSpPr>
        <p:spPr/>
        <p:txBody>
          <a:bodyPr/>
          <a:lstStyle/>
          <a:p>
            <a:pPr marL="285750" indent="-285750">
              <a:buFont typeface="Arial" panose="020B0604020202020204" pitchFamily="34" charset="0"/>
              <a:buChar char="•"/>
            </a:pPr>
            <a:r>
              <a:rPr lang="en-GB" dirty="0"/>
              <a:t>Derived tables are named query expressions created within an outer SELECT statement.</a:t>
            </a:r>
          </a:p>
          <a:p>
            <a:pPr marL="285750" indent="-285750">
              <a:buFont typeface="Arial" panose="020B0604020202020204" pitchFamily="34" charset="0"/>
              <a:buChar char="•"/>
            </a:pPr>
            <a:r>
              <a:rPr lang="en-GB" dirty="0"/>
              <a:t>Not stored in database – represents a virtual relational table.</a:t>
            </a:r>
          </a:p>
          <a:p>
            <a:pPr marL="285750" indent="-285750">
              <a:buFont typeface="Arial" panose="020B0604020202020204" pitchFamily="34" charset="0"/>
              <a:buChar char="•"/>
            </a:pPr>
            <a:r>
              <a:rPr lang="en-GB" dirty="0"/>
              <a:t>When processed, unpacked into query against underlying referenced objects.</a:t>
            </a:r>
          </a:p>
          <a:p>
            <a:pPr marL="285750" indent="-285750">
              <a:buFont typeface="Arial" panose="020B0604020202020204" pitchFamily="34" charset="0"/>
              <a:buChar char="•"/>
            </a:pPr>
            <a:r>
              <a:rPr lang="en-GB" dirty="0"/>
              <a:t>Allow you to write more modular queries.</a:t>
            </a:r>
          </a:p>
          <a:p>
            <a:pPr marL="285750" indent="-285750">
              <a:buFont typeface="Arial" panose="020B0604020202020204" pitchFamily="34" charset="0"/>
              <a:buChar char="•"/>
            </a:pPr>
            <a:r>
              <a:rPr lang="en-GB" dirty="0"/>
              <a:t>Scope of a derived table is the query in which it is defined.</a:t>
            </a:r>
          </a:p>
          <a:p>
            <a:endParaRPr lang="en-US" dirty="0"/>
          </a:p>
        </p:txBody>
      </p:sp>
    </p:spTree>
    <p:extLst>
      <p:ext uri="{BB962C8B-B14F-4D97-AF65-F5344CB8AC3E}">
        <p14:creationId xmlns:p14="http://schemas.microsoft.com/office/powerpoint/2010/main" val="3793234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ABA1863-91A0-0940-A054-E144CAADFB9F}"/>
              </a:ext>
            </a:extLst>
          </p:cNvPr>
          <p:cNvSpPr>
            <a:spLocks noGrp="1"/>
          </p:cNvSpPr>
          <p:nvPr>
            <p:ph type="body" sz="quarter" idx="10"/>
          </p:nvPr>
        </p:nvSpPr>
        <p:spPr/>
        <p:txBody>
          <a:bodyPr/>
          <a:lstStyle/>
          <a:p>
            <a:r>
              <a:rPr lang="en-GB" dirty="0"/>
              <a:t>DERIVED TABLE RULES</a:t>
            </a:r>
            <a:endParaRPr lang="en-GB" b="1" dirty="0"/>
          </a:p>
        </p:txBody>
      </p:sp>
      <p:sp>
        <p:nvSpPr>
          <p:cNvPr id="4" name="Slide Number Placeholder 3">
            <a:extLst>
              <a:ext uri="{FF2B5EF4-FFF2-40B4-BE49-F238E27FC236}">
                <a16:creationId xmlns:a16="http://schemas.microsoft.com/office/drawing/2014/main" id="{A6268987-78C2-D147-B453-70A6A6453344}"/>
              </a:ext>
            </a:extLst>
          </p:cNvPr>
          <p:cNvSpPr>
            <a:spLocks noGrp="1"/>
          </p:cNvSpPr>
          <p:nvPr>
            <p:ph type="sldNum" sz="quarter" idx="4"/>
          </p:nvPr>
        </p:nvSpPr>
        <p:spPr/>
        <p:txBody>
          <a:bodyPr/>
          <a:lstStyle/>
          <a:p>
            <a:fld id="{EF892D59-8F09-EF4B-AD6D-DA609442F868}" type="slidenum">
              <a:rPr lang="en-GB" smtClean="0"/>
              <a:pPr/>
              <a:t>13</a:t>
            </a:fld>
            <a:endParaRPr lang="en-GB"/>
          </a:p>
        </p:txBody>
      </p:sp>
      <p:sp>
        <p:nvSpPr>
          <p:cNvPr id="2" name="Text Placeholder 1">
            <a:extLst>
              <a:ext uri="{FF2B5EF4-FFF2-40B4-BE49-F238E27FC236}">
                <a16:creationId xmlns:a16="http://schemas.microsoft.com/office/drawing/2014/main" id="{F1EB66CF-C91A-CD45-A83E-DD4A1FF844F4}"/>
              </a:ext>
            </a:extLst>
          </p:cNvPr>
          <p:cNvSpPr>
            <a:spLocks noGrp="1"/>
          </p:cNvSpPr>
          <p:nvPr>
            <p:ph type="body" sz="quarter" idx="11"/>
          </p:nvPr>
        </p:nvSpPr>
        <p:spPr/>
        <p:txBody>
          <a:bodyPr/>
          <a:lstStyle/>
          <a:p>
            <a:r>
              <a:rPr lang="en-GB" sz="2000" b="1" dirty="0"/>
              <a:t>Must:</a:t>
            </a:r>
          </a:p>
          <a:p>
            <a:endParaRPr lang="en-GB" b="1" dirty="0"/>
          </a:p>
          <a:p>
            <a:pPr lvl="1">
              <a:lnSpc>
                <a:spcPct val="100000"/>
              </a:lnSpc>
              <a:spcAft>
                <a:spcPts val="0"/>
              </a:spcAft>
              <a:buFont typeface="Arial" panose="020B0604020202020204" pitchFamily="34" charset="0"/>
              <a:buChar char="•"/>
            </a:pPr>
            <a:r>
              <a:rPr lang="en-GB" sz="1800" dirty="0"/>
              <a:t>have an alias. AS </a:t>
            </a:r>
          </a:p>
          <a:p>
            <a:pPr lvl="1">
              <a:lnSpc>
                <a:spcPct val="100000"/>
              </a:lnSpc>
              <a:spcAft>
                <a:spcPts val="0"/>
              </a:spcAft>
              <a:buFont typeface="Arial" panose="020B0604020202020204" pitchFamily="34" charset="0"/>
              <a:buChar char="•"/>
            </a:pPr>
            <a:endParaRPr lang="en-GB" sz="1800" dirty="0"/>
          </a:p>
          <a:p>
            <a:pPr lvl="1">
              <a:lnSpc>
                <a:spcPct val="100000"/>
              </a:lnSpc>
              <a:spcAft>
                <a:spcPts val="0"/>
              </a:spcAft>
              <a:buFont typeface="Arial" panose="020B0604020202020204" pitchFamily="34" charset="0"/>
              <a:buChar char="•"/>
            </a:pPr>
            <a:r>
              <a:rPr lang="en-GB" sz="1800" dirty="0"/>
              <a:t>have unique names for all columns.</a:t>
            </a:r>
          </a:p>
          <a:p>
            <a:pPr lvl="1">
              <a:lnSpc>
                <a:spcPct val="100000"/>
              </a:lnSpc>
              <a:spcAft>
                <a:spcPts val="0"/>
              </a:spcAft>
              <a:buFont typeface="Arial" panose="020B0604020202020204" pitchFamily="34" charset="0"/>
              <a:buChar char="•"/>
            </a:pPr>
            <a:endParaRPr lang="en-GB" sz="1800" dirty="0"/>
          </a:p>
          <a:p>
            <a:pPr lvl="1">
              <a:lnSpc>
                <a:spcPct val="100000"/>
              </a:lnSpc>
              <a:spcAft>
                <a:spcPts val="0"/>
              </a:spcAft>
              <a:buFont typeface="Arial" panose="020B0604020202020204" pitchFamily="34" charset="0"/>
              <a:buChar char="•"/>
            </a:pPr>
            <a:r>
              <a:rPr lang="en-GB" sz="1800" dirty="0"/>
              <a:t>not use the ORDER BY clause unless in conjunction with TOP, OFFSET / FETCH, or FOR XML.</a:t>
            </a:r>
          </a:p>
          <a:p>
            <a:pPr lvl="1">
              <a:lnSpc>
                <a:spcPct val="100000"/>
              </a:lnSpc>
              <a:spcAft>
                <a:spcPts val="0"/>
              </a:spcAft>
              <a:buFont typeface="Arial" panose="020B0604020202020204" pitchFamily="34" charset="0"/>
              <a:buChar char="•"/>
            </a:pPr>
            <a:r>
              <a:rPr lang="en-GB" sz="1800" dirty="0"/>
              <a:t>use </a:t>
            </a:r>
            <a:r>
              <a:rPr lang="en-GB" sz="1800" b="1" dirty="0"/>
              <a:t>From</a:t>
            </a:r>
            <a:r>
              <a:rPr lang="en-GB" sz="1800" dirty="0"/>
              <a:t> (Select Query)</a:t>
            </a:r>
          </a:p>
        </p:txBody>
      </p:sp>
    </p:spTree>
    <p:extLst>
      <p:ext uri="{BB962C8B-B14F-4D97-AF65-F5344CB8AC3E}">
        <p14:creationId xmlns:p14="http://schemas.microsoft.com/office/powerpoint/2010/main" val="562520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8410D1-2E59-7B40-818F-59F280DC4236}"/>
              </a:ext>
            </a:extLst>
          </p:cNvPr>
          <p:cNvSpPr>
            <a:spLocks noGrp="1"/>
          </p:cNvSpPr>
          <p:nvPr>
            <p:ph type="body" sz="quarter" idx="12"/>
          </p:nvPr>
        </p:nvSpPr>
        <p:spPr/>
        <p:txBody>
          <a:bodyPr/>
          <a:lstStyle/>
          <a:p>
            <a:r>
              <a:rPr lang="en-GB" dirty="0"/>
              <a:t>DERIVED TABLE RULES</a:t>
            </a:r>
            <a:endParaRPr lang="en-US" dirty="0"/>
          </a:p>
        </p:txBody>
      </p:sp>
      <p:sp>
        <p:nvSpPr>
          <p:cNvPr id="3" name="Text Placeholder 2">
            <a:extLst>
              <a:ext uri="{FF2B5EF4-FFF2-40B4-BE49-F238E27FC236}">
                <a16:creationId xmlns:a16="http://schemas.microsoft.com/office/drawing/2014/main" id="{036A9761-8CE7-B84C-8CD7-A62931277808}"/>
              </a:ext>
            </a:extLst>
          </p:cNvPr>
          <p:cNvSpPr>
            <a:spLocks noGrp="1"/>
          </p:cNvSpPr>
          <p:nvPr>
            <p:ph type="body" sz="quarter" idx="11"/>
          </p:nvPr>
        </p:nvSpPr>
        <p:spPr>
          <a:xfrm>
            <a:off x="376237" y="1240838"/>
            <a:ext cx="11431587" cy="5237751"/>
          </a:xfrm>
        </p:spPr>
        <p:txBody>
          <a:bodyPr/>
          <a:lstStyle/>
          <a:p>
            <a:endParaRPr lang="en-GB" sz="2000" b="1" dirty="0"/>
          </a:p>
          <a:p>
            <a:r>
              <a:rPr lang="en-GB" sz="2000" b="1" dirty="0"/>
              <a:t>Column names</a:t>
            </a:r>
          </a:p>
          <a:p>
            <a:endParaRPr lang="en-GB" sz="800" b="1" dirty="0"/>
          </a:p>
          <a:p>
            <a:pPr lvl="1"/>
            <a:r>
              <a:rPr lang="en-GB" dirty="0"/>
              <a:t>Defined as part of </a:t>
            </a:r>
          </a:p>
          <a:p>
            <a:pPr marL="0" lvl="1" indent="0">
              <a:buNone/>
            </a:pPr>
            <a:r>
              <a:rPr lang="en-GB" dirty="0"/>
              <a:t>   the inner query</a:t>
            </a:r>
          </a:p>
          <a:p>
            <a:pPr lvl="1"/>
            <a:endParaRPr lang="en-GB" dirty="0"/>
          </a:p>
          <a:p>
            <a:pPr lvl="1"/>
            <a:endParaRPr lang="en-GB" dirty="0"/>
          </a:p>
          <a:p>
            <a:pPr lvl="1"/>
            <a:endParaRPr lang="en-GB" dirty="0"/>
          </a:p>
          <a:p>
            <a:pPr lvl="1"/>
            <a:endParaRPr lang="en-GB" dirty="0"/>
          </a:p>
          <a:p>
            <a:pPr lvl="1"/>
            <a:r>
              <a:rPr lang="en-GB" dirty="0"/>
              <a:t>Defined as part of </a:t>
            </a:r>
          </a:p>
          <a:p>
            <a:pPr marL="0" lvl="1" indent="0">
              <a:buNone/>
            </a:pPr>
            <a:r>
              <a:rPr lang="en-GB" dirty="0"/>
              <a:t>   the alias definition</a:t>
            </a:r>
          </a:p>
          <a:p>
            <a:pPr lvl="1"/>
            <a:endParaRPr lang="en-GB" dirty="0"/>
          </a:p>
        </p:txBody>
      </p:sp>
      <p:sp>
        <p:nvSpPr>
          <p:cNvPr id="4" name="Slide Number Placeholder 3">
            <a:extLst>
              <a:ext uri="{FF2B5EF4-FFF2-40B4-BE49-F238E27FC236}">
                <a16:creationId xmlns:a16="http://schemas.microsoft.com/office/drawing/2014/main" id="{167D9F4C-558F-5C4F-8D8A-F1340DC85900}"/>
              </a:ext>
            </a:extLst>
          </p:cNvPr>
          <p:cNvSpPr>
            <a:spLocks noGrp="1"/>
          </p:cNvSpPr>
          <p:nvPr>
            <p:ph type="sldNum" sz="quarter" idx="4"/>
          </p:nvPr>
        </p:nvSpPr>
        <p:spPr/>
        <p:txBody>
          <a:bodyPr/>
          <a:lstStyle/>
          <a:p>
            <a:fld id="{EF892D59-8F09-EF4B-AD6D-DA609442F868}" type="slidenum">
              <a:rPr lang="en-GB" smtClean="0"/>
              <a:pPr/>
              <a:t>14</a:t>
            </a:fld>
            <a:endParaRPr lang="en-GB"/>
          </a:p>
        </p:txBody>
      </p:sp>
      <p:sp>
        <p:nvSpPr>
          <p:cNvPr id="7" name="Rectangle 6">
            <a:extLst>
              <a:ext uri="{FF2B5EF4-FFF2-40B4-BE49-F238E27FC236}">
                <a16:creationId xmlns:a16="http://schemas.microsoft.com/office/drawing/2014/main" id="{DAF61337-17A5-4B42-BD18-9D09B456014D}"/>
              </a:ext>
            </a:extLst>
          </p:cNvPr>
          <p:cNvSpPr/>
          <p:nvPr/>
        </p:nvSpPr>
        <p:spPr bwMode="auto">
          <a:xfrm>
            <a:off x="3236361" y="2285061"/>
            <a:ext cx="6033806" cy="1815882"/>
          </a:xfrm>
          <a:prstGeom prst="rect">
            <a:avLst/>
          </a:prstGeom>
          <a:solidFill>
            <a:schemeClr val="tx2">
              <a:lumMod val="20000"/>
              <a:lumOff val="80000"/>
            </a:schemeClr>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0" fontAlgn="base" hangingPunct="0">
              <a:spcAft>
                <a:spcPct val="0"/>
              </a:spcAft>
              <a:tabLst>
                <a:tab pos="355600" algn="l"/>
                <a:tab pos="719138" algn="l"/>
                <a:tab pos="1074738" algn="l"/>
                <a:tab pos="1438275" algn="l"/>
                <a:tab pos="1793875" algn="l"/>
              </a:tabLst>
            </a:pPr>
            <a:r>
              <a:rPr lang="en-GB" sz="1600" dirty="0">
                <a:latin typeface="Arial" charset="0"/>
              </a:rPr>
              <a:t>SELECT *</a:t>
            </a:r>
          </a:p>
          <a:p>
            <a:pPr eaLnBrk="0" fontAlgn="base" hangingPunct="0">
              <a:spcAft>
                <a:spcPct val="0"/>
              </a:spcAft>
              <a:tabLst>
                <a:tab pos="355600" algn="l"/>
                <a:tab pos="719138" algn="l"/>
                <a:tab pos="1074738" algn="l"/>
                <a:tab pos="1438275" algn="l"/>
                <a:tab pos="1793875" algn="l"/>
              </a:tabLst>
            </a:pPr>
            <a:r>
              <a:rPr lang="en-GB" sz="1600" dirty="0">
                <a:latin typeface="Arial" charset="0"/>
              </a:rPr>
              <a:t>	FROM (</a:t>
            </a:r>
          </a:p>
          <a:p>
            <a:pPr eaLnBrk="0" fontAlgn="base" hangingPunct="0">
              <a:spcAft>
                <a:spcPct val="0"/>
              </a:spcAft>
              <a:tabLst>
                <a:tab pos="355600" algn="l"/>
                <a:tab pos="719138" algn="l"/>
                <a:tab pos="1074738" algn="l"/>
                <a:tab pos="1438275" algn="l"/>
                <a:tab pos="1793875" algn="l"/>
              </a:tabLst>
            </a:pPr>
            <a:r>
              <a:rPr lang="en-GB" sz="1600" dirty="0">
                <a:latin typeface="Arial" charset="0"/>
              </a:rPr>
              <a:t>		SELECT ProductSubcategoryID, avg(ListPrice) </a:t>
            </a:r>
            <a:r>
              <a:rPr lang="en-GB" sz="1600" b="1" dirty="0">
                <a:latin typeface="Arial" charset="0"/>
              </a:rPr>
              <a:t>AS AvgPrice</a:t>
            </a:r>
          </a:p>
          <a:p>
            <a:pPr eaLnBrk="0" fontAlgn="base" hangingPunct="0">
              <a:spcAft>
                <a:spcPct val="0"/>
              </a:spcAft>
              <a:tabLst>
                <a:tab pos="355600" algn="l"/>
                <a:tab pos="719138" algn="l"/>
                <a:tab pos="1074738" algn="l"/>
                <a:tab pos="1438275" algn="l"/>
                <a:tab pos="1793875" algn="l"/>
              </a:tabLst>
            </a:pPr>
            <a:r>
              <a:rPr lang="en-GB" sz="1600" dirty="0">
                <a:latin typeface="Arial" charset="0"/>
              </a:rPr>
              <a:t>			FROM Production.Product</a:t>
            </a:r>
          </a:p>
          <a:p>
            <a:pPr eaLnBrk="0" fontAlgn="base" hangingPunct="0">
              <a:spcAft>
                <a:spcPct val="0"/>
              </a:spcAft>
              <a:tabLst>
                <a:tab pos="355600" algn="l"/>
                <a:tab pos="719138" algn="l"/>
                <a:tab pos="1074738" algn="l"/>
                <a:tab pos="1438275" algn="l"/>
                <a:tab pos="1793875" algn="l"/>
              </a:tabLst>
            </a:pPr>
            <a:r>
              <a:rPr lang="en-GB" sz="1600" dirty="0">
                <a:latin typeface="Arial" charset="0"/>
              </a:rPr>
              <a:t>			GROUP BY ProductSubCategoryID </a:t>
            </a:r>
          </a:p>
          <a:p>
            <a:pPr eaLnBrk="0" fontAlgn="base" hangingPunct="0">
              <a:spcAft>
                <a:spcPct val="0"/>
              </a:spcAft>
              <a:tabLst>
                <a:tab pos="355600" algn="l"/>
                <a:tab pos="719138" algn="l"/>
                <a:tab pos="1074738" algn="l"/>
                <a:tab pos="1438275" algn="l"/>
                <a:tab pos="1793875" algn="l"/>
              </a:tabLst>
            </a:pPr>
            <a:r>
              <a:rPr lang="en-GB" sz="1600" dirty="0">
                <a:latin typeface="Arial" charset="0"/>
              </a:rPr>
              <a:t>	) AS Derivedtable</a:t>
            </a:r>
          </a:p>
        </p:txBody>
      </p:sp>
      <p:sp>
        <p:nvSpPr>
          <p:cNvPr id="9" name="Rectangle 8">
            <a:extLst>
              <a:ext uri="{FF2B5EF4-FFF2-40B4-BE49-F238E27FC236}">
                <a16:creationId xmlns:a16="http://schemas.microsoft.com/office/drawing/2014/main" id="{D5E0BC7A-52CE-4862-9554-5D96B709F014}"/>
              </a:ext>
            </a:extLst>
          </p:cNvPr>
          <p:cNvSpPr/>
          <p:nvPr/>
        </p:nvSpPr>
        <p:spPr bwMode="auto">
          <a:xfrm>
            <a:off x="3236361" y="4341080"/>
            <a:ext cx="6033806" cy="1569660"/>
          </a:xfrm>
          <a:prstGeom prst="rect">
            <a:avLst/>
          </a:prstGeom>
          <a:solidFill>
            <a:schemeClr val="tx2">
              <a:lumMod val="20000"/>
              <a:lumOff val="80000"/>
            </a:schemeClr>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0" fontAlgn="base" hangingPunct="0">
              <a:spcAft>
                <a:spcPct val="0"/>
              </a:spcAft>
              <a:tabLst>
                <a:tab pos="355600" algn="l"/>
                <a:tab pos="719138" algn="l"/>
                <a:tab pos="1074738" algn="l"/>
                <a:tab pos="1438275" algn="l"/>
                <a:tab pos="1793875" algn="l"/>
              </a:tabLst>
            </a:pPr>
            <a:r>
              <a:rPr lang="en-GB" sz="1600" dirty="0">
                <a:latin typeface="Arial" charset="0"/>
              </a:rPr>
              <a:t>SELECT *</a:t>
            </a:r>
          </a:p>
          <a:p>
            <a:pPr eaLnBrk="0" fontAlgn="base" hangingPunct="0">
              <a:spcAft>
                <a:spcPct val="0"/>
              </a:spcAft>
              <a:tabLst>
                <a:tab pos="355600" algn="l"/>
                <a:tab pos="719138" algn="l"/>
                <a:tab pos="1074738" algn="l"/>
                <a:tab pos="1438275" algn="l"/>
                <a:tab pos="1793875" algn="l"/>
              </a:tabLst>
            </a:pPr>
            <a:r>
              <a:rPr lang="en-GB" sz="1600" dirty="0">
                <a:latin typeface="Arial" charset="0"/>
              </a:rPr>
              <a:t>	FROM (</a:t>
            </a:r>
          </a:p>
          <a:p>
            <a:pPr eaLnBrk="0" fontAlgn="base" hangingPunct="0">
              <a:spcAft>
                <a:spcPct val="0"/>
              </a:spcAft>
              <a:tabLst>
                <a:tab pos="355600" algn="l"/>
                <a:tab pos="719138" algn="l"/>
                <a:tab pos="1074738" algn="l"/>
                <a:tab pos="1438275" algn="l"/>
                <a:tab pos="1793875" algn="l"/>
              </a:tabLst>
            </a:pPr>
            <a:r>
              <a:rPr lang="en-GB" sz="1600" dirty="0">
                <a:latin typeface="Arial" charset="0"/>
              </a:rPr>
              <a:t>		SELECT ProductSubcategoryID, avg(ListPrice)</a:t>
            </a:r>
          </a:p>
          <a:p>
            <a:pPr eaLnBrk="0" fontAlgn="base" hangingPunct="0">
              <a:spcAft>
                <a:spcPct val="0"/>
              </a:spcAft>
              <a:tabLst>
                <a:tab pos="355600" algn="l"/>
                <a:tab pos="719138" algn="l"/>
                <a:tab pos="1074738" algn="l"/>
                <a:tab pos="1438275" algn="l"/>
                <a:tab pos="1793875" algn="l"/>
              </a:tabLst>
            </a:pPr>
            <a:r>
              <a:rPr lang="en-GB" sz="1600" dirty="0">
                <a:latin typeface="Arial" charset="0"/>
              </a:rPr>
              <a:t>			FROM Production.Product</a:t>
            </a:r>
          </a:p>
          <a:p>
            <a:pPr eaLnBrk="0" fontAlgn="base" hangingPunct="0">
              <a:spcAft>
                <a:spcPct val="0"/>
              </a:spcAft>
              <a:tabLst>
                <a:tab pos="355600" algn="l"/>
                <a:tab pos="719138" algn="l"/>
                <a:tab pos="1074738" algn="l"/>
                <a:tab pos="1438275" algn="l"/>
                <a:tab pos="1793875" algn="l"/>
              </a:tabLst>
            </a:pPr>
            <a:r>
              <a:rPr lang="en-GB" sz="1600" dirty="0">
                <a:latin typeface="Arial" charset="0"/>
              </a:rPr>
              <a:t>			GROUP BY ProductSubCategoryID </a:t>
            </a:r>
          </a:p>
          <a:p>
            <a:pPr eaLnBrk="0" fontAlgn="base" hangingPunct="0">
              <a:spcAft>
                <a:spcPct val="0"/>
              </a:spcAft>
              <a:tabLst>
                <a:tab pos="355600" algn="l"/>
                <a:tab pos="719138" algn="l"/>
                <a:tab pos="1074738" algn="l"/>
                <a:tab pos="1438275" algn="l"/>
                <a:tab pos="1793875" algn="l"/>
              </a:tabLst>
            </a:pPr>
            <a:r>
              <a:rPr lang="en-GB" sz="1600" dirty="0">
                <a:latin typeface="Arial" charset="0"/>
              </a:rPr>
              <a:t>	) AS </a:t>
            </a:r>
            <a:r>
              <a:rPr lang="en-GB" sz="1600" b="1" dirty="0">
                <a:latin typeface="Arial" charset="0"/>
              </a:rPr>
              <a:t>Derivedtable (SubcategoryID, AvgPrice)</a:t>
            </a:r>
          </a:p>
        </p:txBody>
      </p:sp>
    </p:spTree>
    <p:extLst>
      <p:ext uri="{BB962C8B-B14F-4D97-AF65-F5344CB8AC3E}">
        <p14:creationId xmlns:p14="http://schemas.microsoft.com/office/powerpoint/2010/main" val="4291668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8410D1-2E59-7B40-818F-59F280DC4236}"/>
              </a:ext>
            </a:extLst>
          </p:cNvPr>
          <p:cNvSpPr>
            <a:spLocks noGrp="1"/>
          </p:cNvSpPr>
          <p:nvPr>
            <p:ph type="body" sz="quarter" idx="12"/>
          </p:nvPr>
        </p:nvSpPr>
        <p:spPr/>
        <p:txBody>
          <a:bodyPr/>
          <a:lstStyle/>
          <a:p>
            <a:r>
              <a:rPr lang="en-GB" dirty="0"/>
              <a:t>DERIVED TABLE EXAMPLE</a:t>
            </a:r>
            <a:endParaRPr lang="en-US" dirty="0"/>
          </a:p>
        </p:txBody>
      </p:sp>
      <p:sp>
        <p:nvSpPr>
          <p:cNvPr id="3" name="Text Placeholder 2">
            <a:extLst>
              <a:ext uri="{FF2B5EF4-FFF2-40B4-BE49-F238E27FC236}">
                <a16:creationId xmlns:a16="http://schemas.microsoft.com/office/drawing/2014/main" id="{036A9761-8CE7-B84C-8CD7-A62931277808}"/>
              </a:ext>
            </a:extLst>
          </p:cNvPr>
          <p:cNvSpPr>
            <a:spLocks noGrp="1"/>
          </p:cNvSpPr>
          <p:nvPr>
            <p:ph type="body" sz="quarter" idx="11"/>
          </p:nvPr>
        </p:nvSpPr>
        <p:spPr/>
        <p:txBody>
          <a:bodyPr/>
          <a:lstStyle/>
          <a:p>
            <a:endParaRPr lang="en-GB" sz="800" b="1" dirty="0"/>
          </a:p>
          <a:p>
            <a:endParaRPr lang="en-GB" dirty="0"/>
          </a:p>
          <a:p>
            <a:endParaRPr lang="en-GB" dirty="0"/>
          </a:p>
          <a:p>
            <a:pPr marL="285750" indent="-285750">
              <a:buFont typeface="Arial" panose="020B0604020202020204" pitchFamily="34" charset="0"/>
              <a:buChar char="•"/>
            </a:pPr>
            <a:r>
              <a:rPr lang="en-GB" dirty="0"/>
              <a:t>Show all products </a:t>
            </a:r>
          </a:p>
          <a:p>
            <a:r>
              <a:rPr lang="en-GB" dirty="0"/>
              <a:t>     with above average </a:t>
            </a:r>
          </a:p>
          <a:p>
            <a:r>
              <a:rPr lang="en-GB" dirty="0"/>
              <a:t>     list price for their </a:t>
            </a:r>
          </a:p>
          <a:p>
            <a:r>
              <a:rPr lang="en-GB" dirty="0"/>
              <a:t>     subcategory</a:t>
            </a:r>
          </a:p>
          <a:p>
            <a:pPr lvl="1"/>
            <a:endParaRPr lang="en-GB" dirty="0"/>
          </a:p>
          <a:p>
            <a:pPr lvl="1"/>
            <a:endParaRPr lang="en-GB" dirty="0"/>
          </a:p>
          <a:p>
            <a:pPr lvl="1"/>
            <a:endParaRPr lang="en-GB" dirty="0"/>
          </a:p>
          <a:p>
            <a:pPr lvl="1"/>
            <a:endParaRPr lang="en-GB" dirty="0"/>
          </a:p>
          <a:p>
            <a:pPr lvl="1"/>
            <a:endParaRPr lang="en-GB" dirty="0"/>
          </a:p>
          <a:p>
            <a:pPr lvl="1"/>
            <a:endParaRPr lang="en-GB" dirty="0"/>
          </a:p>
        </p:txBody>
      </p:sp>
      <p:sp>
        <p:nvSpPr>
          <p:cNvPr id="4" name="Slide Number Placeholder 3">
            <a:extLst>
              <a:ext uri="{FF2B5EF4-FFF2-40B4-BE49-F238E27FC236}">
                <a16:creationId xmlns:a16="http://schemas.microsoft.com/office/drawing/2014/main" id="{167D9F4C-558F-5C4F-8D8A-F1340DC85900}"/>
              </a:ext>
            </a:extLst>
          </p:cNvPr>
          <p:cNvSpPr>
            <a:spLocks noGrp="1"/>
          </p:cNvSpPr>
          <p:nvPr>
            <p:ph type="sldNum" sz="quarter" idx="4"/>
          </p:nvPr>
        </p:nvSpPr>
        <p:spPr/>
        <p:txBody>
          <a:bodyPr/>
          <a:lstStyle/>
          <a:p>
            <a:fld id="{EF892D59-8F09-EF4B-AD6D-DA609442F868}" type="slidenum">
              <a:rPr lang="en-GB" smtClean="0"/>
              <a:pPr/>
              <a:t>15</a:t>
            </a:fld>
            <a:endParaRPr lang="en-GB"/>
          </a:p>
        </p:txBody>
      </p:sp>
      <p:sp>
        <p:nvSpPr>
          <p:cNvPr id="6" name="Rectangle 5">
            <a:extLst>
              <a:ext uri="{FF2B5EF4-FFF2-40B4-BE49-F238E27FC236}">
                <a16:creationId xmlns:a16="http://schemas.microsoft.com/office/drawing/2014/main" id="{AC4ADB92-767D-46B5-87A2-B25240AA7594}"/>
              </a:ext>
            </a:extLst>
          </p:cNvPr>
          <p:cNvSpPr/>
          <p:nvPr/>
        </p:nvSpPr>
        <p:spPr bwMode="auto">
          <a:xfrm>
            <a:off x="3500669" y="2117934"/>
            <a:ext cx="7910004" cy="2554545"/>
          </a:xfrm>
          <a:prstGeom prst="rect">
            <a:avLst/>
          </a:prstGeom>
          <a:solidFill>
            <a:schemeClr val="tx2">
              <a:lumMod val="20000"/>
              <a:lumOff val="80000"/>
            </a:schemeClr>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eaLnBrk="0" fontAlgn="base" hangingPunct="0">
              <a:spcAft>
                <a:spcPct val="0"/>
              </a:spcAft>
              <a:tabLst>
                <a:tab pos="355600" algn="l"/>
                <a:tab pos="719138" algn="l"/>
                <a:tab pos="1074738" algn="l"/>
                <a:tab pos="1438275" algn="l"/>
                <a:tab pos="1793875" algn="l"/>
              </a:tabLst>
            </a:pPr>
            <a:r>
              <a:rPr lang="en-GB" sz="1600" dirty="0">
                <a:latin typeface="Arial" charset="0"/>
              </a:rPr>
              <a:t>SELECT P.ProductID, P.Name, P.ListPrice, </a:t>
            </a:r>
            <a:r>
              <a:rPr lang="en-GB" sz="1600" b="1" dirty="0">
                <a:latin typeface="Arial" charset="0"/>
              </a:rPr>
              <a:t>DT.AvgPrice</a:t>
            </a:r>
          </a:p>
          <a:p>
            <a:pPr eaLnBrk="0" fontAlgn="base" hangingPunct="0">
              <a:spcAft>
                <a:spcPct val="0"/>
              </a:spcAft>
              <a:tabLst>
                <a:tab pos="355600" algn="l"/>
                <a:tab pos="719138" algn="l"/>
                <a:tab pos="1074738" algn="l"/>
                <a:tab pos="1438275" algn="l"/>
                <a:tab pos="1793875" algn="l"/>
              </a:tabLst>
            </a:pPr>
            <a:r>
              <a:rPr lang="en-GB" sz="1600" dirty="0">
                <a:latin typeface="Arial" charset="0"/>
              </a:rPr>
              <a:t>	FROM Production.Product AS P</a:t>
            </a:r>
          </a:p>
          <a:p>
            <a:pPr eaLnBrk="0" fontAlgn="base" hangingPunct="0">
              <a:spcAft>
                <a:spcPct val="0"/>
              </a:spcAft>
              <a:tabLst>
                <a:tab pos="355600" algn="l"/>
                <a:tab pos="719138" algn="l"/>
                <a:tab pos="1074738" algn="l"/>
                <a:tab pos="1438275" algn="l"/>
                <a:tab pos="1793875" algn="l"/>
              </a:tabLst>
            </a:pPr>
            <a:r>
              <a:rPr lang="en-GB" sz="1600" dirty="0">
                <a:latin typeface="Arial" charset="0"/>
              </a:rPr>
              <a:t>	INNER JOIN </a:t>
            </a:r>
          </a:p>
          <a:p>
            <a:pPr eaLnBrk="0" fontAlgn="base" hangingPunct="0">
              <a:spcAft>
                <a:spcPct val="0"/>
              </a:spcAft>
              <a:tabLst>
                <a:tab pos="355600" algn="l"/>
                <a:tab pos="719138" algn="l"/>
                <a:tab pos="1074738" algn="l"/>
                <a:tab pos="1438275" algn="l"/>
                <a:tab pos="1793875" algn="l"/>
              </a:tabLst>
            </a:pPr>
            <a:r>
              <a:rPr lang="en-GB" sz="1600" b="1" dirty="0">
                <a:latin typeface="Arial" charset="0"/>
              </a:rPr>
              <a:t>	(</a:t>
            </a:r>
          </a:p>
          <a:p>
            <a:pPr eaLnBrk="0" fontAlgn="base" hangingPunct="0">
              <a:spcAft>
                <a:spcPct val="0"/>
              </a:spcAft>
              <a:tabLst>
                <a:tab pos="355600" algn="l"/>
                <a:tab pos="719138" algn="l"/>
                <a:tab pos="1074738" algn="l"/>
                <a:tab pos="1438275" algn="l"/>
                <a:tab pos="1793875" algn="l"/>
              </a:tabLst>
            </a:pPr>
            <a:r>
              <a:rPr lang="en-GB" sz="1600" b="1" dirty="0">
                <a:latin typeface="Arial" charset="0"/>
              </a:rPr>
              <a:t>		SELECT ProductSubcategoryID, avg(ListPrice) AS AvgPrice</a:t>
            </a:r>
          </a:p>
          <a:p>
            <a:pPr eaLnBrk="0" fontAlgn="base" hangingPunct="0">
              <a:spcAft>
                <a:spcPct val="0"/>
              </a:spcAft>
              <a:tabLst>
                <a:tab pos="355600" algn="l"/>
                <a:tab pos="719138" algn="l"/>
                <a:tab pos="1074738" algn="l"/>
                <a:tab pos="1438275" algn="l"/>
                <a:tab pos="1793875" algn="l"/>
              </a:tabLst>
            </a:pPr>
            <a:r>
              <a:rPr lang="en-GB" sz="1600" b="1" dirty="0">
                <a:latin typeface="Arial" charset="0"/>
              </a:rPr>
              <a:t>			FROM Production.Product</a:t>
            </a:r>
          </a:p>
          <a:p>
            <a:pPr eaLnBrk="0" fontAlgn="base" hangingPunct="0">
              <a:spcAft>
                <a:spcPct val="0"/>
              </a:spcAft>
              <a:tabLst>
                <a:tab pos="355600" algn="l"/>
                <a:tab pos="719138" algn="l"/>
                <a:tab pos="1074738" algn="l"/>
                <a:tab pos="1438275" algn="l"/>
                <a:tab pos="1793875" algn="l"/>
              </a:tabLst>
            </a:pPr>
            <a:r>
              <a:rPr lang="en-GB" sz="1600" b="1" dirty="0">
                <a:latin typeface="Arial" charset="0"/>
              </a:rPr>
              <a:t>			GROUP BY ProductSubcategoryID </a:t>
            </a:r>
          </a:p>
          <a:p>
            <a:pPr eaLnBrk="0" fontAlgn="base" hangingPunct="0">
              <a:spcAft>
                <a:spcPct val="0"/>
              </a:spcAft>
              <a:tabLst>
                <a:tab pos="355600" algn="l"/>
                <a:tab pos="719138" algn="l"/>
                <a:tab pos="1074738" algn="l"/>
                <a:tab pos="1438275" algn="l"/>
                <a:tab pos="1793875" algn="l"/>
              </a:tabLst>
            </a:pPr>
            <a:r>
              <a:rPr lang="en-GB" sz="1600" b="1" dirty="0">
                <a:latin typeface="Arial" charset="0"/>
              </a:rPr>
              <a:t>	) AS DT</a:t>
            </a:r>
          </a:p>
          <a:p>
            <a:pPr eaLnBrk="0" fontAlgn="base" hangingPunct="0">
              <a:spcAft>
                <a:spcPct val="0"/>
              </a:spcAft>
              <a:tabLst>
                <a:tab pos="355600" algn="l"/>
                <a:tab pos="719138" algn="l"/>
                <a:tab pos="1074738" algn="l"/>
                <a:tab pos="1438275" algn="l"/>
                <a:tab pos="1793875" algn="l"/>
              </a:tabLst>
            </a:pPr>
            <a:r>
              <a:rPr lang="en-GB" sz="1600" dirty="0">
                <a:latin typeface="Arial" charset="0"/>
              </a:rPr>
              <a:t>	ON P.ProductSubcategoryID = DT.ProductSubcategoryID</a:t>
            </a:r>
          </a:p>
          <a:p>
            <a:pPr eaLnBrk="0" fontAlgn="base" hangingPunct="0">
              <a:spcAft>
                <a:spcPct val="0"/>
              </a:spcAft>
              <a:tabLst>
                <a:tab pos="355600" algn="l"/>
                <a:tab pos="719138" algn="l"/>
                <a:tab pos="1074738" algn="l"/>
                <a:tab pos="1438275" algn="l"/>
                <a:tab pos="1793875" algn="l"/>
              </a:tabLst>
            </a:pPr>
            <a:r>
              <a:rPr lang="en-GB" sz="1600" dirty="0">
                <a:latin typeface="Arial" charset="0"/>
              </a:rPr>
              <a:t>	WHERE P.ListPrice &gt;= DT.AvgPrice</a:t>
            </a:r>
          </a:p>
        </p:txBody>
      </p:sp>
    </p:spTree>
    <p:extLst>
      <p:ext uri="{BB962C8B-B14F-4D97-AF65-F5344CB8AC3E}">
        <p14:creationId xmlns:p14="http://schemas.microsoft.com/office/powerpoint/2010/main" val="1324503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1145077-01DD-4271-7AAC-B2080626F1C5}"/>
              </a:ext>
            </a:extLst>
          </p:cNvPr>
          <p:cNvSpPr>
            <a:spLocks noGrp="1"/>
          </p:cNvSpPr>
          <p:nvPr>
            <p:ph type="ctrTitle"/>
          </p:nvPr>
        </p:nvSpPr>
        <p:spPr/>
        <p:txBody>
          <a:bodyPr/>
          <a:lstStyle/>
          <a:p>
            <a:r>
              <a:rPr lang="en-GB" dirty="0"/>
              <a:t>Module 1 </a:t>
            </a:r>
            <a:br>
              <a:rPr lang="en-GB" dirty="0"/>
            </a:br>
            <a:r>
              <a:rPr lang="en-GB" dirty="0"/>
              <a:t>exercise 3 – derived tables</a:t>
            </a:r>
          </a:p>
        </p:txBody>
      </p:sp>
      <p:sp>
        <p:nvSpPr>
          <p:cNvPr id="6" name="Text Placeholder 5">
            <a:extLst>
              <a:ext uri="{FF2B5EF4-FFF2-40B4-BE49-F238E27FC236}">
                <a16:creationId xmlns:a16="http://schemas.microsoft.com/office/drawing/2014/main" id="{DD05C6DB-1105-1E7C-6613-1A2B81198E20}"/>
              </a:ext>
            </a:extLst>
          </p:cNvPr>
          <p:cNvSpPr>
            <a:spLocks noGrp="1"/>
          </p:cNvSpPr>
          <p:nvPr>
            <p:ph type="body" sz="quarter" idx="10"/>
          </p:nvPr>
        </p:nvSpPr>
        <p:spPr/>
        <p:txBody>
          <a:bodyPr/>
          <a:lstStyle/>
          <a:p>
            <a:pPr>
              <a:buFont typeface="Arial" panose="020B0604020202020204" pitchFamily="34" charset="0"/>
              <a:buChar char="•"/>
            </a:pPr>
            <a:r>
              <a:rPr lang="en-GB" dirty="0"/>
              <a:t>Please complete exercise 3 of the Module 1 lab</a:t>
            </a:r>
          </a:p>
          <a:p>
            <a:pPr>
              <a:buFont typeface="Arial" panose="020B0604020202020204" pitchFamily="34" charset="0"/>
              <a:buChar char="•"/>
            </a:pPr>
            <a:r>
              <a:rPr lang="en-GB" dirty="0"/>
              <a:t>Stop at the end of task 2</a:t>
            </a:r>
          </a:p>
        </p:txBody>
      </p:sp>
      <p:sp>
        <p:nvSpPr>
          <p:cNvPr id="3" name="Slide Number Placeholder 2">
            <a:extLst>
              <a:ext uri="{FF2B5EF4-FFF2-40B4-BE49-F238E27FC236}">
                <a16:creationId xmlns:a16="http://schemas.microsoft.com/office/drawing/2014/main" id="{E13E8852-F4BB-BFE6-8AD2-4F1DD4048F0C}"/>
              </a:ext>
            </a:extLst>
          </p:cNvPr>
          <p:cNvSpPr>
            <a:spLocks noGrp="1"/>
          </p:cNvSpPr>
          <p:nvPr>
            <p:ph type="sldNum" sz="quarter" idx="4"/>
          </p:nvPr>
        </p:nvSpPr>
        <p:spPr/>
        <p:txBody>
          <a:bodyPr/>
          <a:lstStyle/>
          <a:p>
            <a:fld id="{EF892D59-8F09-EF4B-AD6D-DA609442F868}" type="slidenum">
              <a:rPr lang="en-GB" smtClean="0"/>
              <a:pPr/>
              <a:t>16</a:t>
            </a:fld>
            <a:endParaRPr lang="en-GB"/>
          </a:p>
        </p:txBody>
      </p:sp>
    </p:spTree>
    <p:extLst>
      <p:ext uri="{BB962C8B-B14F-4D97-AF65-F5344CB8AC3E}">
        <p14:creationId xmlns:p14="http://schemas.microsoft.com/office/powerpoint/2010/main" val="3909138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84DAC0-8FF8-4B44-AE9D-C45DF12A357F}"/>
              </a:ext>
            </a:extLst>
          </p:cNvPr>
          <p:cNvSpPr>
            <a:spLocks noGrp="1"/>
          </p:cNvSpPr>
          <p:nvPr>
            <p:ph type="body" sz="quarter" idx="12"/>
          </p:nvPr>
        </p:nvSpPr>
        <p:spPr/>
        <p:txBody>
          <a:bodyPr/>
          <a:lstStyle/>
          <a:p>
            <a:r>
              <a:rPr lang="en-GB" dirty="0"/>
              <a:t>TEMPORARY TABLES</a:t>
            </a:r>
            <a:endParaRPr lang="en-US" dirty="0"/>
          </a:p>
          <a:p>
            <a:endParaRPr lang="en-US" dirty="0"/>
          </a:p>
        </p:txBody>
      </p:sp>
      <p:sp>
        <p:nvSpPr>
          <p:cNvPr id="3" name="Text Placeholder 2">
            <a:extLst>
              <a:ext uri="{FF2B5EF4-FFF2-40B4-BE49-F238E27FC236}">
                <a16:creationId xmlns:a16="http://schemas.microsoft.com/office/drawing/2014/main" id="{522A0F2C-8F4B-6945-B6B7-9120A19E431B}"/>
              </a:ext>
            </a:extLst>
          </p:cNvPr>
          <p:cNvSpPr>
            <a:spLocks noGrp="1"/>
          </p:cNvSpPr>
          <p:nvPr>
            <p:ph type="body" sz="quarter" idx="11"/>
          </p:nvPr>
        </p:nvSpPr>
        <p:spPr/>
        <p:txBody>
          <a:bodyPr/>
          <a:lstStyle/>
          <a:p>
            <a:pPr marL="285750" indent="-285750">
              <a:buFont typeface="Arial" panose="020B0604020202020204" pitchFamily="34" charset="0"/>
              <a:buChar char="•"/>
            </a:pPr>
            <a:r>
              <a:rPr lang="en-GB" dirty="0"/>
              <a:t>Temporary tables can be used to store the results of a query for use later.</a:t>
            </a:r>
          </a:p>
          <a:p>
            <a:pPr marL="171450" indent="-171450">
              <a:buFont typeface="Arial" panose="020B0604020202020204" pitchFamily="34" charset="0"/>
              <a:buChar char="•"/>
            </a:pPr>
            <a:endParaRPr lang="en-GB" sz="800" dirty="0"/>
          </a:p>
          <a:p>
            <a:pPr marL="285750" indent="-285750">
              <a:buFont typeface="Arial" panose="020B0604020202020204" pitchFamily="34" charset="0"/>
              <a:buChar char="•"/>
            </a:pPr>
            <a:r>
              <a:rPr lang="en-GB" dirty="0"/>
              <a:t>Stored within </a:t>
            </a:r>
            <a:r>
              <a:rPr lang="en-GB" dirty="0" err="1"/>
              <a:t>TempDB</a:t>
            </a:r>
            <a:r>
              <a:rPr lang="en-GB" dirty="0"/>
              <a:t> (dropped when the user connection is dropped)</a:t>
            </a:r>
          </a:p>
          <a:p>
            <a:pPr marL="285750" indent="-285750">
              <a:buFont typeface="Arial" panose="020B0604020202020204" pitchFamily="34" charset="0"/>
              <a:buChar char="•"/>
            </a:pPr>
            <a:r>
              <a:rPr lang="en-GB" dirty="0"/>
              <a:t>Use </a:t>
            </a:r>
            <a:r>
              <a:rPr lang="en-GB" b="1" dirty="0"/>
              <a:t>WITH</a:t>
            </a:r>
          </a:p>
          <a:p>
            <a:endParaRPr lang="en-GB" sz="800" dirty="0"/>
          </a:p>
          <a:p>
            <a:r>
              <a:rPr lang="en-GB" sz="2000" b="1" dirty="0"/>
              <a:t>Can be:</a:t>
            </a:r>
          </a:p>
          <a:p>
            <a:pPr marL="342900" indent="-342900">
              <a:buFont typeface="Arial" panose="020B0604020202020204" pitchFamily="34" charset="0"/>
              <a:buChar char="•"/>
            </a:pPr>
            <a:r>
              <a:rPr lang="en-GB" sz="100" b="1" dirty="0"/>
              <a:t> </a:t>
            </a:r>
          </a:p>
          <a:p>
            <a:pPr lvl="4">
              <a:buSzPct val="115000"/>
            </a:pPr>
            <a:r>
              <a:rPr lang="en-GB" b="1" dirty="0"/>
              <a:t>local (#) </a:t>
            </a:r>
            <a:r>
              <a:rPr lang="en-GB" dirty="0"/>
              <a:t>– only available to the creator, and is dropped automatically when the session ends.</a:t>
            </a:r>
          </a:p>
          <a:p>
            <a:pPr lvl="4">
              <a:buSzPct val="115000"/>
            </a:pPr>
            <a:r>
              <a:rPr lang="en-GB" b="1" dirty="0"/>
              <a:t>global (##) </a:t>
            </a:r>
            <a:r>
              <a:rPr lang="en-GB" dirty="0"/>
              <a:t>– available to all the users on the instance, and is dropped when all the users who have used the table finish their sessions.</a:t>
            </a:r>
          </a:p>
          <a:p>
            <a:pPr lvl="1"/>
            <a:endParaRPr lang="en-GB" sz="800" dirty="0"/>
          </a:p>
          <a:p>
            <a:r>
              <a:rPr lang="en-GB" sz="2000" b="1" dirty="0"/>
              <a:t>Commands:</a:t>
            </a:r>
          </a:p>
          <a:p>
            <a:endParaRPr lang="en-GB" sz="100" b="1" dirty="0"/>
          </a:p>
          <a:p>
            <a:pPr lvl="4">
              <a:buSzPct val="115000"/>
            </a:pPr>
            <a:r>
              <a:rPr lang="en-GB" b="1" dirty="0"/>
              <a:t>CREATE </a:t>
            </a:r>
            <a:r>
              <a:rPr lang="en-GB" dirty="0"/>
              <a:t>– creates the temporary table.</a:t>
            </a:r>
          </a:p>
          <a:p>
            <a:pPr lvl="4">
              <a:buSzPct val="115000"/>
            </a:pPr>
            <a:r>
              <a:rPr lang="en-GB" b="1" dirty="0"/>
              <a:t>ALTER</a:t>
            </a:r>
            <a:r>
              <a:rPr lang="en-GB" dirty="0"/>
              <a:t> – updates the design of the table.</a:t>
            </a:r>
          </a:p>
          <a:p>
            <a:pPr lvl="4">
              <a:buSzPct val="115000"/>
            </a:pPr>
            <a:r>
              <a:rPr lang="en-GB" b="1" dirty="0"/>
              <a:t>DROP</a:t>
            </a:r>
            <a:r>
              <a:rPr lang="en-GB" dirty="0"/>
              <a:t> – deletes the table.</a:t>
            </a:r>
          </a:p>
          <a:p>
            <a:endParaRPr lang="en-US" dirty="0"/>
          </a:p>
        </p:txBody>
      </p:sp>
      <p:sp>
        <p:nvSpPr>
          <p:cNvPr id="4" name="Slide Number Placeholder 3">
            <a:extLst>
              <a:ext uri="{FF2B5EF4-FFF2-40B4-BE49-F238E27FC236}">
                <a16:creationId xmlns:a16="http://schemas.microsoft.com/office/drawing/2014/main" id="{261A3702-567C-F543-8F51-D11199826390}"/>
              </a:ext>
            </a:extLst>
          </p:cNvPr>
          <p:cNvSpPr>
            <a:spLocks noGrp="1"/>
          </p:cNvSpPr>
          <p:nvPr>
            <p:ph type="sldNum" sz="quarter" idx="4"/>
          </p:nvPr>
        </p:nvSpPr>
        <p:spPr/>
        <p:txBody>
          <a:bodyPr/>
          <a:lstStyle/>
          <a:p>
            <a:fld id="{EF892D59-8F09-EF4B-AD6D-DA609442F868}" type="slidenum">
              <a:rPr lang="en-GB" smtClean="0"/>
              <a:pPr/>
              <a:t>17</a:t>
            </a:fld>
            <a:endParaRPr lang="en-GB"/>
          </a:p>
        </p:txBody>
      </p:sp>
    </p:spTree>
    <p:extLst>
      <p:ext uri="{BB962C8B-B14F-4D97-AF65-F5344CB8AC3E}">
        <p14:creationId xmlns:p14="http://schemas.microsoft.com/office/powerpoint/2010/main" val="581473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01CC4D7-805F-FD4A-BAE3-475B27F4F11B}"/>
              </a:ext>
            </a:extLst>
          </p:cNvPr>
          <p:cNvSpPr>
            <a:spLocks noGrp="1"/>
          </p:cNvSpPr>
          <p:nvPr>
            <p:ph type="body" sz="quarter" idx="12"/>
          </p:nvPr>
        </p:nvSpPr>
        <p:spPr/>
        <p:txBody>
          <a:bodyPr/>
          <a:lstStyle/>
          <a:p>
            <a:r>
              <a:rPr lang="en-GB" dirty="0"/>
              <a:t>TEMPORARY TABLES</a:t>
            </a:r>
            <a:endParaRPr lang="en-US" dirty="0"/>
          </a:p>
        </p:txBody>
      </p:sp>
      <p:sp>
        <p:nvSpPr>
          <p:cNvPr id="3" name="Text Placeholder 2">
            <a:extLst>
              <a:ext uri="{FF2B5EF4-FFF2-40B4-BE49-F238E27FC236}">
                <a16:creationId xmlns:a16="http://schemas.microsoft.com/office/drawing/2014/main" id="{34FA8D1C-C49E-154C-8081-3A02C6A1AEFB}"/>
              </a:ext>
            </a:extLst>
          </p:cNvPr>
          <p:cNvSpPr>
            <a:spLocks noGrp="1"/>
          </p:cNvSpPr>
          <p:nvPr>
            <p:ph type="body" sz="quarter" idx="11"/>
          </p:nvPr>
        </p:nvSpPr>
        <p:spPr/>
        <p:txBody>
          <a:bodyPr/>
          <a:lstStyle/>
          <a:p>
            <a:endParaRPr lang="en-GB" dirty="0"/>
          </a:p>
          <a:p>
            <a:endParaRPr lang="en-GB" dirty="0"/>
          </a:p>
          <a:p>
            <a:r>
              <a:rPr lang="en-GB" dirty="0"/>
              <a:t>Command outline:</a:t>
            </a:r>
          </a:p>
          <a:p>
            <a:endParaRPr lang="en-US" dirty="0"/>
          </a:p>
        </p:txBody>
      </p:sp>
      <p:sp>
        <p:nvSpPr>
          <p:cNvPr id="4" name="Slide Number Placeholder 3">
            <a:extLst>
              <a:ext uri="{FF2B5EF4-FFF2-40B4-BE49-F238E27FC236}">
                <a16:creationId xmlns:a16="http://schemas.microsoft.com/office/drawing/2014/main" id="{C4BA9085-5389-164A-974F-B8FBB31CD31B}"/>
              </a:ext>
            </a:extLst>
          </p:cNvPr>
          <p:cNvSpPr>
            <a:spLocks noGrp="1"/>
          </p:cNvSpPr>
          <p:nvPr>
            <p:ph type="sldNum" sz="quarter" idx="4"/>
          </p:nvPr>
        </p:nvSpPr>
        <p:spPr/>
        <p:txBody>
          <a:bodyPr/>
          <a:lstStyle/>
          <a:p>
            <a:fld id="{EF892D59-8F09-EF4B-AD6D-DA609442F868}" type="slidenum">
              <a:rPr lang="en-GB" smtClean="0"/>
              <a:pPr/>
              <a:t>18</a:t>
            </a:fld>
            <a:endParaRPr lang="en-GB"/>
          </a:p>
        </p:txBody>
      </p:sp>
      <p:sp>
        <p:nvSpPr>
          <p:cNvPr id="6" name="Rectangle 5">
            <a:extLst>
              <a:ext uri="{FF2B5EF4-FFF2-40B4-BE49-F238E27FC236}">
                <a16:creationId xmlns:a16="http://schemas.microsoft.com/office/drawing/2014/main" id="{53EE9DE0-5BC7-4840-9E94-60A63FC53693}"/>
              </a:ext>
            </a:extLst>
          </p:cNvPr>
          <p:cNvSpPr/>
          <p:nvPr/>
        </p:nvSpPr>
        <p:spPr bwMode="auto">
          <a:xfrm>
            <a:off x="3057851" y="1769096"/>
            <a:ext cx="4465693" cy="2062103"/>
          </a:xfrm>
          <a:prstGeom prst="rect">
            <a:avLst/>
          </a:prstGeom>
          <a:solidFill>
            <a:schemeClr val="tx2">
              <a:lumMod val="20000"/>
              <a:lumOff val="80000"/>
            </a:schemeClr>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Aft>
                <a:spcPct val="0"/>
              </a:spcAft>
              <a:buClrTx/>
              <a:buSzTx/>
              <a:buFontTx/>
              <a:buNone/>
              <a:tabLst/>
            </a:pPr>
            <a:r>
              <a:rPr lang="en-GB" sz="1600" dirty="0">
                <a:latin typeface="Arial" charset="0"/>
              </a:rPr>
              <a:t>CREATE TABLE (# or ##)TableName(</a:t>
            </a:r>
          </a:p>
          <a:p>
            <a:pPr marL="0" marR="0" indent="0" algn="l" defTabSz="914400" rtl="0" eaLnBrk="0" fontAlgn="base" latinLnBrk="0" hangingPunct="0">
              <a:lnSpc>
                <a:spcPct val="100000"/>
              </a:lnSpc>
              <a:spcAft>
                <a:spcPct val="0"/>
              </a:spcAft>
              <a:buClrTx/>
              <a:buSzTx/>
              <a:buFontTx/>
              <a:buNone/>
              <a:tabLst>
                <a:tab pos="355600" algn="l"/>
              </a:tabLst>
            </a:pPr>
            <a:r>
              <a:rPr lang="en-GB" sz="1600" dirty="0">
                <a:latin typeface="Arial" charset="0"/>
              </a:rPr>
              <a:t>	column definitions</a:t>
            </a:r>
          </a:p>
          <a:p>
            <a:pPr marL="0" marR="0" indent="0" algn="l" defTabSz="914400" rtl="0" eaLnBrk="0" fontAlgn="base" latinLnBrk="0" hangingPunct="0">
              <a:lnSpc>
                <a:spcPct val="100000"/>
              </a:lnSpc>
              <a:spcAft>
                <a:spcPct val="0"/>
              </a:spcAft>
              <a:buClrTx/>
              <a:buSzTx/>
              <a:buFontTx/>
              <a:buNone/>
              <a:tabLst/>
            </a:pPr>
            <a:r>
              <a:rPr lang="en-GB" sz="1600" dirty="0">
                <a:latin typeface="Arial" charset="0"/>
              </a:rPr>
              <a:t>)</a:t>
            </a:r>
          </a:p>
          <a:p>
            <a:pPr marL="0" marR="0" indent="0" algn="l" defTabSz="914400" rtl="0" eaLnBrk="0" fontAlgn="base" latinLnBrk="0" hangingPunct="0">
              <a:lnSpc>
                <a:spcPct val="100000"/>
              </a:lnSpc>
              <a:spcAft>
                <a:spcPct val="0"/>
              </a:spcAft>
              <a:buClrTx/>
              <a:buSzTx/>
              <a:buFontTx/>
              <a:buNone/>
              <a:tabLst/>
            </a:pPr>
            <a:endParaRPr lang="en-GB" sz="1600" dirty="0">
              <a:latin typeface="Arial" charset="0"/>
            </a:endParaRPr>
          </a:p>
          <a:p>
            <a:pPr marL="0" marR="0" indent="0" algn="l" defTabSz="914400" rtl="0" eaLnBrk="0" fontAlgn="base" latinLnBrk="0" hangingPunct="0">
              <a:lnSpc>
                <a:spcPct val="100000"/>
              </a:lnSpc>
              <a:spcAft>
                <a:spcPct val="0"/>
              </a:spcAft>
              <a:buClrTx/>
              <a:buSzTx/>
              <a:buFontTx/>
              <a:buNone/>
              <a:tabLst/>
            </a:pPr>
            <a:r>
              <a:rPr lang="en-GB" sz="1600" dirty="0">
                <a:latin typeface="Arial" charset="0"/>
              </a:rPr>
              <a:t>INSERT INTO (# or ##)TableName </a:t>
            </a:r>
          </a:p>
          <a:p>
            <a:pPr marL="0" marR="0" indent="0" algn="l" defTabSz="914400" rtl="0" eaLnBrk="0" fontAlgn="base" latinLnBrk="0" hangingPunct="0">
              <a:lnSpc>
                <a:spcPct val="100000"/>
              </a:lnSpc>
              <a:spcAft>
                <a:spcPct val="0"/>
              </a:spcAft>
              <a:buClrTx/>
              <a:buSzTx/>
              <a:buFontTx/>
              <a:buNone/>
              <a:tabLst>
                <a:tab pos="355600" algn="l"/>
              </a:tabLst>
            </a:pPr>
            <a:r>
              <a:rPr lang="en-GB" sz="1600" dirty="0">
                <a:latin typeface="Arial" charset="0"/>
              </a:rPr>
              <a:t>	SELECT / VALUES to insert</a:t>
            </a:r>
          </a:p>
          <a:p>
            <a:pPr marL="0" marR="0" indent="0" algn="l" defTabSz="914400" rtl="0" eaLnBrk="0" fontAlgn="base" latinLnBrk="0" hangingPunct="0">
              <a:lnSpc>
                <a:spcPct val="100000"/>
              </a:lnSpc>
              <a:spcAft>
                <a:spcPct val="0"/>
              </a:spcAft>
              <a:buClrTx/>
              <a:buSzTx/>
              <a:buFontTx/>
              <a:buNone/>
              <a:tabLst/>
            </a:pPr>
            <a:endParaRPr lang="en-GB" sz="1600" dirty="0">
              <a:latin typeface="Arial" charset="0"/>
            </a:endParaRPr>
          </a:p>
          <a:p>
            <a:pPr marL="0" marR="0" indent="0" algn="l" defTabSz="914400" rtl="0" eaLnBrk="0" fontAlgn="base" latinLnBrk="0" hangingPunct="0">
              <a:lnSpc>
                <a:spcPct val="100000"/>
              </a:lnSpc>
              <a:spcAft>
                <a:spcPct val="0"/>
              </a:spcAft>
              <a:buClrTx/>
              <a:buSzTx/>
              <a:buFontTx/>
              <a:buNone/>
              <a:tabLst/>
            </a:pPr>
            <a:r>
              <a:rPr lang="en-GB" sz="1600" dirty="0">
                <a:latin typeface="Arial" charset="0"/>
              </a:rPr>
              <a:t>DROP TABLE (# or ##)TableName</a:t>
            </a:r>
          </a:p>
        </p:txBody>
      </p:sp>
    </p:spTree>
    <p:extLst>
      <p:ext uri="{BB962C8B-B14F-4D97-AF65-F5344CB8AC3E}">
        <p14:creationId xmlns:p14="http://schemas.microsoft.com/office/powerpoint/2010/main" val="686687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01CC4D7-805F-FD4A-BAE3-475B27F4F11B}"/>
              </a:ext>
            </a:extLst>
          </p:cNvPr>
          <p:cNvSpPr>
            <a:spLocks noGrp="1"/>
          </p:cNvSpPr>
          <p:nvPr>
            <p:ph type="body" sz="quarter" idx="12"/>
          </p:nvPr>
        </p:nvSpPr>
        <p:spPr/>
        <p:txBody>
          <a:bodyPr/>
          <a:lstStyle/>
          <a:p>
            <a:r>
              <a:rPr lang="en-GB" dirty="0"/>
              <a:t>TEMPORARY TABLES</a:t>
            </a:r>
            <a:endParaRPr lang="en-US" dirty="0"/>
          </a:p>
        </p:txBody>
      </p:sp>
      <p:sp>
        <p:nvSpPr>
          <p:cNvPr id="3" name="Text Placeholder 2">
            <a:extLst>
              <a:ext uri="{FF2B5EF4-FFF2-40B4-BE49-F238E27FC236}">
                <a16:creationId xmlns:a16="http://schemas.microsoft.com/office/drawing/2014/main" id="{34FA8D1C-C49E-154C-8081-3A02C6A1AEFB}"/>
              </a:ext>
            </a:extLst>
          </p:cNvPr>
          <p:cNvSpPr>
            <a:spLocks noGrp="1"/>
          </p:cNvSpPr>
          <p:nvPr>
            <p:ph type="body" sz="quarter" idx="11"/>
          </p:nvPr>
        </p:nvSpPr>
        <p:spPr/>
        <p:txBody>
          <a:bodyPr/>
          <a:lstStyle/>
          <a:p>
            <a:endParaRPr lang="en-GB" dirty="0"/>
          </a:p>
          <a:p>
            <a:r>
              <a:rPr lang="en-GB" dirty="0"/>
              <a:t>Demonstration:</a:t>
            </a:r>
          </a:p>
          <a:p>
            <a:endParaRPr lang="en-US" dirty="0"/>
          </a:p>
        </p:txBody>
      </p:sp>
      <p:sp>
        <p:nvSpPr>
          <p:cNvPr id="4" name="Slide Number Placeholder 3">
            <a:extLst>
              <a:ext uri="{FF2B5EF4-FFF2-40B4-BE49-F238E27FC236}">
                <a16:creationId xmlns:a16="http://schemas.microsoft.com/office/drawing/2014/main" id="{C4BA9085-5389-164A-974F-B8FBB31CD31B}"/>
              </a:ext>
            </a:extLst>
          </p:cNvPr>
          <p:cNvSpPr>
            <a:spLocks noGrp="1"/>
          </p:cNvSpPr>
          <p:nvPr>
            <p:ph type="sldNum" sz="quarter" idx="4"/>
          </p:nvPr>
        </p:nvSpPr>
        <p:spPr/>
        <p:txBody>
          <a:bodyPr/>
          <a:lstStyle/>
          <a:p>
            <a:fld id="{EF892D59-8F09-EF4B-AD6D-DA609442F868}" type="slidenum">
              <a:rPr lang="en-GB" smtClean="0"/>
              <a:pPr/>
              <a:t>19</a:t>
            </a:fld>
            <a:endParaRPr lang="en-GB"/>
          </a:p>
        </p:txBody>
      </p:sp>
      <p:sp>
        <p:nvSpPr>
          <p:cNvPr id="7" name="Rectangle 6">
            <a:extLst>
              <a:ext uri="{FF2B5EF4-FFF2-40B4-BE49-F238E27FC236}">
                <a16:creationId xmlns:a16="http://schemas.microsoft.com/office/drawing/2014/main" id="{32F8C8F2-2A10-4B95-94EF-0D32F202FC1E}"/>
              </a:ext>
            </a:extLst>
          </p:cNvPr>
          <p:cNvSpPr/>
          <p:nvPr/>
        </p:nvSpPr>
        <p:spPr bwMode="auto">
          <a:xfrm>
            <a:off x="2664313" y="1647650"/>
            <a:ext cx="7910004" cy="4278094"/>
          </a:xfrm>
          <a:prstGeom prst="rect">
            <a:avLst/>
          </a:prstGeom>
          <a:solidFill>
            <a:schemeClr val="tx2">
              <a:lumMod val="20000"/>
              <a:lumOff val="80000"/>
            </a:schemeClr>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tabLst>
                <a:tab pos="355600" algn="l"/>
                <a:tab pos="719138" algn="l"/>
                <a:tab pos="1074738" algn="l"/>
                <a:tab pos="1438275" algn="l"/>
                <a:tab pos="1793875" algn="l"/>
                <a:tab pos="2147888" algn="l"/>
              </a:tabLst>
            </a:pPr>
            <a:r>
              <a:rPr lang="en-GB" sz="1600" dirty="0">
                <a:latin typeface="Arial" panose="020B0604020202020204" pitchFamily="34" charset="0"/>
                <a:cs typeface="Arial" panose="020B0604020202020204" pitchFamily="34" charset="0"/>
              </a:rPr>
              <a:t>CREATE TABLE #Averages(</a:t>
            </a:r>
          </a:p>
          <a:p>
            <a:pPr>
              <a:tabLst>
                <a:tab pos="355600" algn="l"/>
                <a:tab pos="719138" algn="l"/>
                <a:tab pos="1074738" algn="l"/>
                <a:tab pos="1438275" algn="l"/>
                <a:tab pos="1793875" algn="l"/>
                <a:tab pos="2147888" algn="l"/>
              </a:tabLst>
            </a:pPr>
            <a:r>
              <a:rPr lang="en-GB" sz="1600" dirty="0">
                <a:latin typeface="Arial" panose="020B0604020202020204" pitchFamily="34" charset="0"/>
                <a:cs typeface="Arial" panose="020B0604020202020204" pitchFamily="34" charset="0"/>
              </a:rPr>
              <a:t>	SubcategoryID int,</a:t>
            </a:r>
          </a:p>
          <a:p>
            <a:pPr>
              <a:tabLst>
                <a:tab pos="355600" algn="l"/>
                <a:tab pos="719138" algn="l"/>
                <a:tab pos="1074738" algn="l"/>
                <a:tab pos="1438275" algn="l"/>
                <a:tab pos="1793875" algn="l"/>
                <a:tab pos="2147888" algn="l"/>
              </a:tabLst>
            </a:pPr>
            <a:r>
              <a:rPr lang="en-GB" sz="1600" dirty="0">
                <a:latin typeface="Arial" panose="020B0604020202020204" pitchFamily="34" charset="0"/>
                <a:cs typeface="Arial" panose="020B0604020202020204" pitchFamily="34" charset="0"/>
              </a:rPr>
              <a:t>	AverageListPrice money</a:t>
            </a:r>
          </a:p>
          <a:p>
            <a:pPr>
              <a:tabLst>
                <a:tab pos="355600" algn="l"/>
                <a:tab pos="719138" algn="l"/>
                <a:tab pos="1074738" algn="l"/>
                <a:tab pos="1438275" algn="l"/>
                <a:tab pos="1793875" algn="l"/>
                <a:tab pos="2147888" algn="l"/>
              </a:tabLst>
            </a:pPr>
            <a:r>
              <a:rPr lang="en-GB" sz="1600" dirty="0">
                <a:latin typeface="Arial" panose="020B0604020202020204" pitchFamily="34" charset="0"/>
                <a:cs typeface="Arial" panose="020B0604020202020204" pitchFamily="34" charset="0"/>
              </a:rPr>
              <a:t>)</a:t>
            </a:r>
          </a:p>
          <a:p>
            <a:pPr>
              <a:tabLst>
                <a:tab pos="355600" algn="l"/>
                <a:tab pos="719138" algn="l"/>
                <a:tab pos="1074738" algn="l"/>
                <a:tab pos="1438275" algn="l"/>
                <a:tab pos="1793875" algn="l"/>
                <a:tab pos="2147888" algn="l"/>
              </a:tabLst>
            </a:pPr>
            <a:r>
              <a:rPr lang="en-GB" sz="1600" dirty="0">
                <a:latin typeface="Arial" panose="020B0604020202020204" pitchFamily="34" charset="0"/>
                <a:cs typeface="Arial" panose="020B0604020202020204" pitchFamily="34" charset="0"/>
              </a:rPr>
              <a:t>GO</a:t>
            </a:r>
          </a:p>
          <a:p>
            <a:pPr>
              <a:tabLst>
                <a:tab pos="355600" algn="l"/>
                <a:tab pos="719138" algn="l"/>
                <a:tab pos="1074738" algn="l"/>
                <a:tab pos="1438275" algn="l"/>
                <a:tab pos="1793875" algn="l"/>
                <a:tab pos="2147888" algn="l"/>
              </a:tabLst>
            </a:pPr>
            <a:endParaRPr lang="en-GB" sz="1600" dirty="0">
              <a:latin typeface="Arial" panose="020B0604020202020204" pitchFamily="34" charset="0"/>
              <a:cs typeface="Arial" panose="020B0604020202020204" pitchFamily="34" charset="0"/>
            </a:endParaRPr>
          </a:p>
          <a:p>
            <a:pPr>
              <a:tabLst>
                <a:tab pos="355600" algn="l"/>
                <a:tab pos="719138" algn="l"/>
                <a:tab pos="1074738" algn="l"/>
                <a:tab pos="1438275" algn="l"/>
                <a:tab pos="1793875" algn="l"/>
                <a:tab pos="2147888" algn="l"/>
              </a:tabLst>
            </a:pPr>
            <a:r>
              <a:rPr lang="en-GB" sz="1600" dirty="0">
                <a:latin typeface="Arial" panose="020B0604020202020204" pitchFamily="34" charset="0"/>
                <a:cs typeface="Arial" panose="020B0604020202020204" pitchFamily="34" charset="0"/>
              </a:rPr>
              <a:t>INSERT INTO #Averages</a:t>
            </a:r>
          </a:p>
          <a:p>
            <a:pPr eaLnBrk="0" fontAlgn="base" hangingPunct="0">
              <a:spcAft>
                <a:spcPct val="0"/>
              </a:spcAft>
              <a:tabLst>
                <a:tab pos="355600" algn="l"/>
                <a:tab pos="719138" algn="l"/>
                <a:tab pos="1074738" algn="l"/>
                <a:tab pos="1438275" algn="l"/>
                <a:tab pos="1793875" algn="l"/>
              </a:tabLst>
            </a:pPr>
            <a:r>
              <a:rPr lang="en-GB" sz="1600" dirty="0">
                <a:latin typeface="Arial" panose="020B0604020202020204" pitchFamily="34" charset="0"/>
                <a:cs typeface="Arial" panose="020B0604020202020204" pitchFamily="34" charset="0"/>
              </a:rPr>
              <a:t>	SELECT ProductSubcategoryID, avg(ListPrice) AS AvgPrice</a:t>
            </a:r>
          </a:p>
          <a:p>
            <a:pPr eaLnBrk="0" fontAlgn="base" hangingPunct="0">
              <a:spcAft>
                <a:spcPct val="0"/>
              </a:spcAft>
              <a:tabLst>
                <a:tab pos="355600" algn="l"/>
                <a:tab pos="719138" algn="l"/>
                <a:tab pos="1074738" algn="l"/>
                <a:tab pos="1438275" algn="l"/>
                <a:tab pos="1793875" algn="l"/>
              </a:tabLst>
            </a:pPr>
            <a:r>
              <a:rPr lang="en-GB" sz="1600" dirty="0">
                <a:latin typeface="Arial" panose="020B0604020202020204" pitchFamily="34" charset="0"/>
                <a:cs typeface="Arial" panose="020B0604020202020204" pitchFamily="34" charset="0"/>
              </a:rPr>
              <a:t>			FROM Production.Product</a:t>
            </a:r>
          </a:p>
          <a:p>
            <a:pPr eaLnBrk="0" fontAlgn="base" hangingPunct="0">
              <a:spcAft>
                <a:spcPct val="0"/>
              </a:spcAft>
              <a:tabLst>
                <a:tab pos="355600" algn="l"/>
                <a:tab pos="719138" algn="l"/>
                <a:tab pos="1074738" algn="l"/>
                <a:tab pos="1438275" algn="l"/>
                <a:tab pos="1793875" algn="l"/>
              </a:tabLst>
            </a:pPr>
            <a:r>
              <a:rPr lang="en-GB" sz="1600" dirty="0">
                <a:latin typeface="Arial" panose="020B0604020202020204" pitchFamily="34" charset="0"/>
                <a:cs typeface="Arial" panose="020B0604020202020204" pitchFamily="34" charset="0"/>
              </a:rPr>
              <a:t>			GROUP BY ProductSubcategoryID </a:t>
            </a:r>
          </a:p>
          <a:p>
            <a:pPr>
              <a:tabLst>
                <a:tab pos="355600" algn="l"/>
                <a:tab pos="719138" algn="l"/>
                <a:tab pos="1074738" algn="l"/>
                <a:tab pos="1438275" algn="l"/>
                <a:tab pos="1793875" algn="l"/>
                <a:tab pos="2147888" algn="l"/>
              </a:tabLst>
            </a:pPr>
            <a:r>
              <a:rPr lang="en-GB" sz="1600" dirty="0">
                <a:latin typeface="Arial" panose="020B0604020202020204" pitchFamily="34" charset="0"/>
                <a:cs typeface="Arial" panose="020B0604020202020204" pitchFamily="34" charset="0"/>
              </a:rPr>
              <a:t>GO</a:t>
            </a:r>
          </a:p>
          <a:p>
            <a:pPr>
              <a:tabLst>
                <a:tab pos="355600" algn="l"/>
                <a:tab pos="719138" algn="l"/>
                <a:tab pos="1074738" algn="l"/>
                <a:tab pos="1438275" algn="l"/>
                <a:tab pos="1793875" algn="l"/>
                <a:tab pos="2147888" algn="l"/>
              </a:tabLst>
            </a:pPr>
            <a:endParaRPr lang="en-GB" sz="1600" dirty="0">
              <a:latin typeface="Arial" panose="020B0604020202020204" pitchFamily="34" charset="0"/>
              <a:cs typeface="Arial" panose="020B0604020202020204" pitchFamily="34" charset="0"/>
            </a:endParaRPr>
          </a:p>
          <a:p>
            <a:pPr>
              <a:tabLst>
                <a:tab pos="355600" algn="l"/>
                <a:tab pos="719138" algn="l"/>
                <a:tab pos="1074738" algn="l"/>
                <a:tab pos="1438275" algn="l"/>
                <a:tab pos="1793875" algn="l"/>
                <a:tab pos="2147888" algn="l"/>
              </a:tabLst>
            </a:pPr>
            <a:r>
              <a:rPr lang="en-GB" sz="1600" dirty="0">
                <a:latin typeface="Arial" panose="020B0604020202020204" pitchFamily="34" charset="0"/>
                <a:cs typeface="Arial" panose="020B0604020202020204" pitchFamily="34" charset="0"/>
              </a:rPr>
              <a:t>SELECT *</a:t>
            </a:r>
          </a:p>
          <a:p>
            <a:pPr>
              <a:tabLst>
                <a:tab pos="355600" algn="l"/>
                <a:tab pos="719138" algn="l"/>
                <a:tab pos="1074738" algn="l"/>
                <a:tab pos="1438275" algn="l"/>
                <a:tab pos="1793875" algn="l"/>
                <a:tab pos="2147888" algn="l"/>
              </a:tabLst>
            </a:pPr>
            <a:r>
              <a:rPr lang="en-GB" sz="1600" dirty="0">
                <a:latin typeface="Arial" panose="020B0604020202020204" pitchFamily="34" charset="0"/>
                <a:cs typeface="Arial" panose="020B0604020202020204" pitchFamily="34" charset="0"/>
              </a:rPr>
              <a:t>	FROM #Averages</a:t>
            </a:r>
          </a:p>
          <a:p>
            <a:pPr>
              <a:tabLst>
                <a:tab pos="355600" algn="l"/>
                <a:tab pos="719138" algn="l"/>
                <a:tab pos="1074738" algn="l"/>
                <a:tab pos="1438275" algn="l"/>
                <a:tab pos="1793875" algn="l"/>
                <a:tab pos="2147888" algn="l"/>
              </a:tabLst>
            </a:pPr>
            <a:r>
              <a:rPr lang="en-GB" sz="1600" dirty="0">
                <a:latin typeface="Arial" panose="020B0604020202020204" pitchFamily="34" charset="0"/>
                <a:cs typeface="Arial" panose="020B0604020202020204" pitchFamily="34" charset="0"/>
              </a:rPr>
              <a:t>GO</a:t>
            </a:r>
          </a:p>
          <a:p>
            <a:pPr>
              <a:tabLst>
                <a:tab pos="355600" algn="l"/>
                <a:tab pos="719138" algn="l"/>
                <a:tab pos="1074738" algn="l"/>
                <a:tab pos="1438275" algn="l"/>
                <a:tab pos="1793875" algn="l"/>
                <a:tab pos="2147888" algn="l"/>
              </a:tabLst>
            </a:pPr>
            <a:endParaRPr lang="en-GB" sz="1600" dirty="0">
              <a:latin typeface="Arial" panose="020B0604020202020204" pitchFamily="34" charset="0"/>
              <a:cs typeface="Arial" panose="020B0604020202020204" pitchFamily="34" charset="0"/>
            </a:endParaRPr>
          </a:p>
          <a:p>
            <a:pPr>
              <a:tabLst>
                <a:tab pos="355600" algn="l"/>
                <a:tab pos="719138" algn="l"/>
                <a:tab pos="1074738" algn="l"/>
                <a:tab pos="1438275" algn="l"/>
                <a:tab pos="1793875" algn="l"/>
                <a:tab pos="2147888" algn="l"/>
              </a:tabLst>
            </a:pPr>
            <a:r>
              <a:rPr lang="en-GB" sz="1600" dirty="0">
                <a:latin typeface="Arial" panose="020B0604020202020204" pitchFamily="34" charset="0"/>
                <a:cs typeface="Arial" panose="020B0604020202020204" pitchFamily="34" charset="0"/>
              </a:rPr>
              <a:t>DROP TABLE #Averages</a:t>
            </a:r>
          </a:p>
        </p:txBody>
      </p:sp>
    </p:spTree>
    <p:extLst>
      <p:ext uri="{BB962C8B-B14F-4D97-AF65-F5344CB8AC3E}">
        <p14:creationId xmlns:p14="http://schemas.microsoft.com/office/powerpoint/2010/main" val="1391345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1145077-01DD-4271-7AAC-B2080626F1C5}"/>
              </a:ext>
            </a:extLst>
          </p:cNvPr>
          <p:cNvSpPr>
            <a:spLocks noGrp="1"/>
          </p:cNvSpPr>
          <p:nvPr>
            <p:ph type="ctrTitle"/>
          </p:nvPr>
        </p:nvSpPr>
        <p:spPr/>
        <p:txBody>
          <a:bodyPr/>
          <a:lstStyle/>
          <a:p>
            <a:r>
              <a:rPr lang="en-GB" dirty="0"/>
              <a:t>Module 1 </a:t>
            </a:r>
            <a:br>
              <a:rPr lang="en-GB" dirty="0"/>
            </a:br>
            <a:r>
              <a:rPr lang="en-GB" dirty="0"/>
              <a:t>exercise 5 – temporary tables</a:t>
            </a:r>
          </a:p>
        </p:txBody>
      </p:sp>
      <p:sp>
        <p:nvSpPr>
          <p:cNvPr id="6" name="Text Placeholder 5">
            <a:extLst>
              <a:ext uri="{FF2B5EF4-FFF2-40B4-BE49-F238E27FC236}">
                <a16:creationId xmlns:a16="http://schemas.microsoft.com/office/drawing/2014/main" id="{DD05C6DB-1105-1E7C-6613-1A2B81198E20}"/>
              </a:ext>
            </a:extLst>
          </p:cNvPr>
          <p:cNvSpPr>
            <a:spLocks noGrp="1"/>
          </p:cNvSpPr>
          <p:nvPr>
            <p:ph type="body" sz="quarter" idx="10"/>
          </p:nvPr>
        </p:nvSpPr>
        <p:spPr/>
        <p:txBody>
          <a:bodyPr/>
          <a:lstStyle/>
          <a:p>
            <a:pPr>
              <a:buFont typeface="Arial" panose="020B0604020202020204" pitchFamily="34" charset="0"/>
              <a:buChar char="•"/>
            </a:pPr>
            <a:r>
              <a:rPr lang="en-GB" dirty="0"/>
              <a:t>Please complete exercise 5 of the Module 1 lab</a:t>
            </a:r>
          </a:p>
          <a:p>
            <a:pPr>
              <a:buFont typeface="Arial" panose="020B0604020202020204" pitchFamily="34" charset="0"/>
              <a:buChar char="•"/>
            </a:pPr>
            <a:r>
              <a:rPr lang="en-GB" dirty="0"/>
              <a:t>Stop at the end of task 3</a:t>
            </a:r>
          </a:p>
        </p:txBody>
      </p:sp>
      <p:sp>
        <p:nvSpPr>
          <p:cNvPr id="3" name="Slide Number Placeholder 2">
            <a:extLst>
              <a:ext uri="{FF2B5EF4-FFF2-40B4-BE49-F238E27FC236}">
                <a16:creationId xmlns:a16="http://schemas.microsoft.com/office/drawing/2014/main" id="{E13E8852-F4BB-BFE6-8AD2-4F1DD4048F0C}"/>
              </a:ext>
            </a:extLst>
          </p:cNvPr>
          <p:cNvSpPr>
            <a:spLocks noGrp="1"/>
          </p:cNvSpPr>
          <p:nvPr>
            <p:ph type="sldNum" sz="quarter" idx="4"/>
          </p:nvPr>
        </p:nvSpPr>
        <p:spPr/>
        <p:txBody>
          <a:bodyPr/>
          <a:lstStyle/>
          <a:p>
            <a:fld id="{EF892D59-8F09-EF4B-AD6D-DA609442F868}" type="slidenum">
              <a:rPr lang="en-GB" smtClean="0"/>
              <a:pPr/>
              <a:t>20</a:t>
            </a:fld>
            <a:endParaRPr lang="en-GB"/>
          </a:p>
        </p:txBody>
      </p:sp>
    </p:spTree>
    <p:extLst>
      <p:ext uri="{BB962C8B-B14F-4D97-AF65-F5344CB8AC3E}">
        <p14:creationId xmlns:p14="http://schemas.microsoft.com/office/powerpoint/2010/main" val="1993400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E84BC5-D1C8-AA4D-82BF-B924E3E19568}"/>
              </a:ext>
            </a:extLst>
          </p:cNvPr>
          <p:cNvSpPr>
            <a:spLocks noGrp="1"/>
          </p:cNvSpPr>
          <p:nvPr>
            <p:ph type="body" sz="quarter" idx="12"/>
          </p:nvPr>
        </p:nvSpPr>
        <p:spPr/>
        <p:txBody>
          <a:bodyPr/>
          <a:lstStyle/>
          <a:p>
            <a:r>
              <a:rPr lang="en-GB" dirty="0"/>
              <a:t>COMPARISON</a:t>
            </a:r>
            <a:endParaRPr lang="en-US" dirty="0"/>
          </a:p>
        </p:txBody>
      </p:sp>
      <p:graphicFrame>
        <p:nvGraphicFramePr>
          <p:cNvPr id="5" name="Content Placeholder 3">
            <a:extLst>
              <a:ext uri="{FF2B5EF4-FFF2-40B4-BE49-F238E27FC236}">
                <a16:creationId xmlns:a16="http://schemas.microsoft.com/office/drawing/2014/main" id="{D80F6D6E-5F3D-B449-8411-B3132A953B02}"/>
              </a:ext>
            </a:extLst>
          </p:cNvPr>
          <p:cNvGraphicFramePr>
            <a:graphicFrameLocks/>
          </p:cNvGraphicFramePr>
          <p:nvPr>
            <p:extLst>
              <p:ext uri="{D42A27DB-BD31-4B8C-83A1-F6EECF244321}">
                <p14:modId xmlns:p14="http://schemas.microsoft.com/office/powerpoint/2010/main" val="3690591216"/>
              </p:ext>
            </p:extLst>
          </p:nvPr>
        </p:nvGraphicFramePr>
        <p:xfrm>
          <a:off x="119603" y="1302707"/>
          <a:ext cx="11304133" cy="5460585"/>
        </p:xfrm>
        <a:graphic>
          <a:graphicData uri="http://schemas.openxmlformats.org/drawingml/2006/table">
            <a:tbl>
              <a:tblPr firstRow="1" bandRow="1">
                <a:tableStyleId>{073A0DAA-6AF3-43AB-8588-CEC1D06C72B9}</a:tableStyleId>
              </a:tblPr>
              <a:tblGrid>
                <a:gridCol w="2533143">
                  <a:extLst>
                    <a:ext uri="{9D8B030D-6E8A-4147-A177-3AD203B41FA5}">
                      <a16:colId xmlns:a16="http://schemas.microsoft.com/office/drawing/2014/main" val="20000"/>
                    </a:ext>
                  </a:extLst>
                </a:gridCol>
                <a:gridCol w="1576467">
                  <a:extLst>
                    <a:ext uri="{9D8B030D-6E8A-4147-A177-3AD203B41FA5}">
                      <a16:colId xmlns:a16="http://schemas.microsoft.com/office/drawing/2014/main" val="20001"/>
                    </a:ext>
                  </a:extLst>
                </a:gridCol>
                <a:gridCol w="2899160">
                  <a:extLst>
                    <a:ext uri="{9D8B030D-6E8A-4147-A177-3AD203B41FA5}">
                      <a16:colId xmlns:a16="http://schemas.microsoft.com/office/drawing/2014/main" val="20002"/>
                    </a:ext>
                  </a:extLst>
                </a:gridCol>
                <a:gridCol w="1896972">
                  <a:extLst>
                    <a:ext uri="{9D8B030D-6E8A-4147-A177-3AD203B41FA5}">
                      <a16:colId xmlns:a16="http://schemas.microsoft.com/office/drawing/2014/main" val="20003"/>
                    </a:ext>
                  </a:extLst>
                </a:gridCol>
                <a:gridCol w="2398391">
                  <a:extLst>
                    <a:ext uri="{9D8B030D-6E8A-4147-A177-3AD203B41FA5}">
                      <a16:colId xmlns:a16="http://schemas.microsoft.com/office/drawing/2014/main" val="20004"/>
                    </a:ext>
                  </a:extLst>
                </a:gridCol>
              </a:tblGrid>
              <a:tr h="449188">
                <a:tc>
                  <a:txBody>
                    <a:bodyPr/>
                    <a:lstStyle/>
                    <a:p>
                      <a:pPr algn="ctr"/>
                      <a:endParaRPr lang="en-GB" sz="1400" b="1" dirty="0"/>
                    </a:p>
                  </a:txBody>
                  <a:tcPr marL="92257" marR="92257" anchor="ctr">
                    <a:solidFill>
                      <a:schemeClr val="bg1"/>
                    </a:solidFill>
                  </a:tcPr>
                </a:tc>
                <a:tc>
                  <a:txBody>
                    <a:bodyPr/>
                    <a:lstStyle/>
                    <a:p>
                      <a:pPr algn="ctr"/>
                      <a:r>
                        <a:rPr lang="en-GB" sz="1400" dirty="0"/>
                        <a:t>Views</a:t>
                      </a:r>
                    </a:p>
                  </a:txBody>
                  <a:tcPr marL="92257" marR="92257" anchor="ctr"/>
                </a:tc>
                <a:tc>
                  <a:txBody>
                    <a:bodyPr/>
                    <a:lstStyle/>
                    <a:p>
                      <a:pPr algn="ctr"/>
                      <a:r>
                        <a:rPr lang="en-GB" sz="1400" dirty="0"/>
                        <a:t>Table-valued</a:t>
                      </a:r>
                      <a:r>
                        <a:rPr lang="en-GB" sz="1400" baseline="0" dirty="0"/>
                        <a:t> function</a:t>
                      </a:r>
                      <a:endParaRPr lang="en-GB" sz="1400" dirty="0"/>
                    </a:p>
                  </a:txBody>
                  <a:tcPr marL="92257" marR="92257" anchor="ctr"/>
                </a:tc>
                <a:tc>
                  <a:txBody>
                    <a:bodyPr/>
                    <a:lstStyle/>
                    <a:p>
                      <a:pPr algn="ctr"/>
                      <a:r>
                        <a:rPr lang="en-GB" sz="1400" dirty="0"/>
                        <a:t>Derived tables</a:t>
                      </a:r>
                    </a:p>
                  </a:txBody>
                  <a:tcPr marL="92257" marR="92257" anchor="ctr"/>
                </a:tc>
                <a:tc>
                  <a:txBody>
                    <a:bodyPr/>
                    <a:lstStyle/>
                    <a:p>
                      <a:pPr algn="ctr"/>
                      <a:r>
                        <a:rPr lang="en-GB" sz="1400" dirty="0"/>
                        <a:t>Temporary table</a:t>
                      </a:r>
                    </a:p>
                  </a:txBody>
                  <a:tcPr marL="92257" marR="92257" anchor="ctr"/>
                </a:tc>
                <a:extLst>
                  <a:ext uri="{0D108BD9-81ED-4DB2-BD59-A6C34878D82A}">
                    <a16:rowId xmlns:a16="http://schemas.microsoft.com/office/drawing/2014/main" val="10000"/>
                  </a:ext>
                </a:extLst>
              </a:tr>
              <a:tr h="1189025">
                <a:tc>
                  <a:txBody>
                    <a:bodyPr/>
                    <a:lstStyle/>
                    <a:p>
                      <a:r>
                        <a:rPr lang="en-GB" sz="1400" b="1" dirty="0"/>
                        <a:t>Main use</a:t>
                      </a:r>
                    </a:p>
                  </a:txBody>
                  <a:tcPr marL="92257" marR="92257" anchor="ctr"/>
                </a:tc>
                <a:tc>
                  <a:txBody>
                    <a:bodyPr/>
                    <a:lstStyle/>
                    <a:p>
                      <a:pPr algn="ctr"/>
                      <a:r>
                        <a:rPr lang="en-GB" sz="1400" dirty="0"/>
                        <a:t>Storing the definition of a query for use later</a:t>
                      </a:r>
                    </a:p>
                  </a:txBody>
                  <a:tcPr marL="92257" marR="92257"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dirty="0"/>
                        <a:t>Storing the definition of code for use later</a:t>
                      </a:r>
                    </a:p>
                    <a:p>
                      <a:pPr algn="ctr"/>
                      <a:endParaRPr lang="en-GB" sz="1200" dirty="0"/>
                    </a:p>
                  </a:txBody>
                  <a:tcPr marL="92257" marR="92257" anchor="ctr"/>
                </a:tc>
                <a:tc>
                  <a:txBody>
                    <a:bodyPr/>
                    <a:lstStyle/>
                    <a:p>
                      <a:pPr algn="ctr"/>
                      <a:r>
                        <a:rPr lang="en-GB" sz="1400" dirty="0"/>
                        <a:t>Writing more complex queries than are possible normally</a:t>
                      </a:r>
                    </a:p>
                  </a:txBody>
                  <a:tcPr marL="92257" marR="92257" anchor="ctr"/>
                </a:tc>
                <a:tc>
                  <a:txBody>
                    <a:bodyPr/>
                    <a:lstStyle/>
                    <a:p>
                      <a:pPr algn="ctr"/>
                      <a:r>
                        <a:rPr lang="en-GB" sz="1400" dirty="0"/>
                        <a:t>Storing a</a:t>
                      </a:r>
                      <a:r>
                        <a:rPr lang="en-GB" sz="1400" baseline="0" dirty="0"/>
                        <a:t> dataset for reuse later, by the session owner or other sessions</a:t>
                      </a:r>
                      <a:endParaRPr lang="en-GB" sz="1400" dirty="0"/>
                    </a:p>
                  </a:txBody>
                  <a:tcPr marL="92257" marR="92257" anchor="ctr"/>
                </a:tc>
                <a:extLst>
                  <a:ext uri="{0D108BD9-81ED-4DB2-BD59-A6C34878D82A}">
                    <a16:rowId xmlns:a16="http://schemas.microsoft.com/office/drawing/2014/main" val="10001"/>
                  </a:ext>
                </a:extLst>
              </a:tr>
              <a:tr h="459519">
                <a:tc>
                  <a:txBody>
                    <a:bodyPr/>
                    <a:lstStyle/>
                    <a:p>
                      <a:r>
                        <a:rPr lang="en-GB" sz="1400" b="1" dirty="0"/>
                        <a:t>Definition</a:t>
                      </a:r>
                      <a:r>
                        <a:rPr lang="en-GB" sz="1400" b="1" baseline="0" dirty="0"/>
                        <a:t> stored inside database</a:t>
                      </a:r>
                      <a:endParaRPr lang="en-GB" sz="1400" b="1" dirty="0"/>
                    </a:p>
                  </a:txBody>
                  <a:tcPr marL="92257" marR="92257" anchor="ctr"/>
                </a:tc>
                <a:tc>
                  <a:txBody>
                    <a:bodyPr/>
                    <a:lstStyle/>
                    <a:p>
                      <a:pPr algn="ctr"/>
                      <a:r>
                        <a:rPr lang="en-GB" sz="1200" dirty="0">
                          <a:sym typeface="Wingdings" panose="05000000000000000000" pitchFamily="2" charset="2"/>
                        </a:rPr>
                        <a:t></a:t>
                      </a:r>
                      <a:endParaRPr lang="en-GB" sz="1200" dirty="0"/>
                    </a:p>
                  </a:txBody>
                  <a:tcPr marL="92257" marR="92257" anchor="ctr"/>
                </a:tc>
                <a:tc>
                  <a:txBody>
                    <a:bodyPr/>
                    <a:lstStyle/>
                    <a:p>
                      <a:pPr algn="ctr"/>
                      <a:r>
                        <a:rPr lang="en-GB" sz="1200" dirty="0">
                          <a:sym typeface="Wingdings" panose="05000000000000000000" pitchFamily="2" charset="2"/>
                        </a:rPr>
                        <a:t></a:t>
                      </a:r>
                      <a:endParaRPr lang="en-GB" sz="1200" dirty="0"/>
                    </a:p>
                  </a:txBody>
                  <a:tcPr marL="92257" marR="92257" anchor="ctr"/>
                </a:tc>
                <a:tc>
                  <a:txBody>
                    <a:bodyPr/>
                    <a:lstStyle/>
                    <a:p>
                      <a:pPr algn="ctr"/>
                      <a:endParaRPr lang="en-GB" sz="1200" dirty="0"/>
                    </a:p>
                  </a:txBody>
                  <a:tcPr marL="92257" marR="92257" anchor="ctr"/>
                </a:tc>
                <a:tc>
                  <a:txBody>
                    <a:bodyPr/>
                    <a:lstStyle/>
                    <a:p>
                      <a:pPr algn="ctr"/>
                      <a:endParaRPr lang="en-GB" sz="1200" dirty="0"/>
                    </a:p>
                  </a:txBody>
                  <a:tcPr marL="92257" marR="92257" anchor="ctr"/>
                </a:tc>
                <a:extLst>
                  <a:ext uri="{0D108BD9-81ED-4DB2-BD59-A6C34878D82A}">
                    <a16:rowId xmlns:a16="http://schemas.microsoft.com/office/drawing/2014/main" val="10002"/>
                  </a:ext>
                </a:extLst>
              </a:tr>
              <a:tr h="648733">
                <a:tc>
                  <a:txBody>
                    <a:bodyPr/>
                    <a:lstStyle/>
                    <a:p>
                      <a:r>
                        <a:rPr lang="en-GB" sz="1400" b="1" dirty="0"/>
                        <a:t>Data exists</a:t>
                      </a:r>
                    </a:p>
                  </a:txBody>
                  <a:tcPr marL="92257" marR="92257" anchor="ctr"/>
                </a:tc>
                <a:tc>
                  <a:txBody>
                    <a:bodyPr/>
                    <a:lstStyle/>
                    <a:p>
                      <a:pPr algn="ctr"/>
                      <a:r>
                        <a:rPr lang="en-GB" sz="1400" dirty="0"/>
                        <a:t>Single execution of the view</a:t>
                      </a:r>
                    </a:p>
                  </a:txBody>
                  <a:tcPr marL="92257" marR="92257" anchor="ctr"/>
                </a:tc>
                <a:tc>
                  <a:txBody>
                    <a:bodyPr/>
                    <a:lstStyle/>
                    <a:p>
                      <a:pPr algn="ctr"/>
                      <a:r>
                        <a:rPr lang="en-GB" sz="1400" dirty="0"/>
                        <a:t>Single execution of the TVF</a:t>
                      </a:r>
                    </a:p>
                  </a:txBody>
                  <a:tcPr marL="92257" marR="92257" anchor="ctr"/>
                </a:tc>
                <a:tc>
                  <a:txBody>
                    <a:bodyPr/>
                    <a:lstStyle/>
                    <a:p>
                      <a:pPr algn="ctr"/>
                      <a:r>
                        <a:rPr lang="en-GB" sz="1400" dirty="0"/>
                        <a:t>Single execution of the</a:t>
                      </a:r>
                      <a:r>
                        <a:rPr lang="en-GB" sz="1400" baseline="0" dirty="0"/>
                        <a:t> query</a:t>
                      </a:r>
                      <a:endParaRPr lang="en-GB" sz="1400" dirty="0"/>
                    </a:p>
                  </a:txBody>
                  <a:tcPr marL="92257" marR="92257" anchor="ctr"/>
                </a:tc>
                <a:tc>
                  <a:txBody>
                    <a:bodyPr/>
                    <a:lstStyle/>
                    <a:p>
                      <a:pPr algn="ctr"/>
                      <a:r>
                        <a:rPr lang="en-GB" sz="1400" dirty="0"/>
                        <a:t>Session</a:t>
                      </a:r>
                    </a:p>
                  </a:txBody>
                  <a:tcPr marL="92257" marR="92257" anchor="ctr"/>
                </a:tc>
                <a:extLst>
                  <a:ext uri="{0D108BD9-81ED-4DB2-BD59-A6C34878D82A}">
                    <a16:rowId xmlns:a16="http://schemas.microsoft.com/office/drawing/2014/main" val="10003"/>
                  </a:ext>
                </a:extLst>
              </a:tr>
              <a:tr h="459519">
                <a:tc>
                  <a:txBody>
                    <a:bodyPr/>
                    <a:lstStyle/>
                    <a:p>
                      <a:r>
                        <a:rPr lang="en-GB" sz="1400" b="1" dirty="0"/>
                        <a:t>Design shared with others</a:t>
                      </a:r>
                    </a:p>
                  </a:txBody>
                  <a:tcPr marL="92257" marR="92257" anchor="ctr"/>
                </a:tc>
                <a:tc>
                  <a:txBody>
                    <a:bodyPr/>
                    <a:lstStyle/>
                    <a:p>
                      <a:pPr algn="ctr"/>
                      <a:r>
                        <a:rPr lang="en-GB" sz="1200" dirty="0">
                          <a:sym typeface="Wingdings" panose="05000000000000000000" pitchFamily="2" charset="2"/>
                        </a:rPr>
                        <a:t></a:t>
                      </a:r>
                      <a:endParaRPr lang="en-GB" sz="1200" dirty="0"/>
                    </a:p>
                  </a:txBody>
                  <a:tcPr marL="92257" marR="92257" anchor="ctr"/>
                </a:tc>
                <a:tc>
                  <a:txBody>
                    <a:bodyPr/>
                    <a:lstStyle/>
                    <a:p>
                      <a:pPr algn="ctr"/>
                      <a:r>
                        <a:rPr lang="en-GB" sz="1200" dirty="0">
                          <a:sym typeface="Wingdings" panose="05000000000000000000" pitchFamily="2" charset="2"/>
                        </a:rPr>
                        <a:t></a:t>
                      </a:r>
                      <a:endParaRPr lang="en-GB" sz="1200" dirty="0"/>
                    </a:p>
                  </a:txBody>
                  <a:tcPr marL="92257" marR="92257" anchor="ctr"/>
                </a:tc>
                <a:tc>
                  <a:txBody>
                    <a:bodyPr/>
                    <a:lstStyle/>
                    <a:p>
                      <a:pPr algn="ctr"/>
                      <a:endParaRPr lang="en-GB" sz="1200" dirty="0"/>
                    </a:p>
                  </a:txBody>
                  <a:tcPr marL="92257" marR="92257" anchor="ctr"/>
                </a:tc>
                <a:tc>
                  <a:txBody>
                    <a:bodyPr/>
                    <a:lstStyle/>
                    <a:p>
                      <a:pPr algn="ctr"/>
                      <a:r>
                        <a:rPr lang="en-GB" sz="1400" dirty="0">
                          <a:sym typeface="Wingdings" panose="05000000000000000000" pitchFamily="2" charset="2"/>
                        </a:rPr>
                        <a:t>Depends</a:t>
                      </a:r>
                      <a:r>
                        <a:rPr lang="en-GB" sz="1400" baseline="0" dirty="0">
                          <a:sym typeface="Wingdings" panose="05000000000000000000" pitchFamily="2" charset="2"/>
                        </a:rPr>
                        <a:t> on type</a:t>
                      </a:r>
                      <a:endParaRPr lang="en-GB" sz="1400" dirty="0"/>
                    </a:p>
                  </a:txBody>
                  <a:tcPr marL="92257" marR="92257" anchor="ctr"/>
                </a:tc>
                <a:extLst>
                  <a:ext uri="{0D108BD9-81ED-4DB2-BD59-A6C34878D82A}">
                    <a16:rowId xmlns:a16="http://schemas.microsoft.com/office/drawing/2014/main" val="10004"/>
                  </a:ext>
                </a:extLst>
              </a:tr>
              <a:tr h="372609">
                <a:tc>
                  <a:txBody>
                    <a:bodyPr/>
                    <a:lstStyle/>
                    <a:p>
                      <a:r>
                        <a:rPr lang="en-GB" sz="1400" b="1" dirty="0"/>
                        <a:t>Recursive</a:t>
                      </a:r>
                    </a:p>
                  </a:txBody>
                  <a:tcPr marL="92257" marR="92257" anchor="ctr"/>
                </a:tc>
                <a:tc>
                  <a:txBody>
                    <a:bodyPr/>
                    <a:lstStyle/>
                    <a:p>
                      <a:pPr algn="ctr"/>
                      <a:endParaRPr lang="en-GB" sz="1200" dirty="0"/>
                    </a:p>
                  </a:txBody>
                  <a:tcPr marL="92257" marR="92257" anchor="ctr"/>
                </a:tc>
                <a:tc>
                  <a:txBody>
                    <a:bodyPr/>
                    <a:lstStyle/>
                    <a:p>
                      <a:pPr algn="ctr"/>
                      <a:endParaRPr lang="en-GB" sz="1200" dirty="0"/>
                    </a:p>
                  </a:txBody>
                  <a:tcPr marL="92257" marR="92257" anchor="ctr"/>
                </a:tc>
                <a:tc>
                  <a:txBody>
                    <a:bodyPr/>
                    <a:lstStyle/>
                    <a:p>
                      <a:pPr algn="ctr"/>
                      <a:endParaRPr lang="en-GB" sz="1200" dirty="0"/>
                    </a:p>
                  </a:txBody>
                  <a:tcPr marL="92257" marR="92257" anchor="ctr"/>
                </a:tc>
                <a:tc>
                  <a:txBody>
                    <a:bodyPr/>
                    <a:lstStyle/>
                    <a:p>
                      <a:pPr algn="ctr"/>
                      <a:endParaRPr lang="en-GB" sz="1200" dirty="0"/>
                    </a:p>
                  </a:txBody>
                  <a:tcPr marL="92257" marR="92257" anchor="ctr"/>
                </a:tc>
                <a:extLst>
                  <a:ext uri="{0D108BD9-81ED-4DB2-BD59-A6C34878D82A}">
                    <a16:rowId xmlns:a16="http://schemas.microsoft.com/office/drawing/2014/main" val="10005"/>
                  </a:ext>
                </a:extLst>
              </a:tr>
              <a:tr h="459519">
                <a:tc>
                  <a:txBody>
                    <a:bodyPr/>
                    <a:lstStyle/>
                    <a:p>
                      <a:r>
                        <a:rPr lang="en-GB" sz="1400" b="1" dirty="0"/>
                        <a:t>Allow parameters to be passed</a:t>
                      </a:r>
                    </a:p>
                  </a:txBody>
                  <a:tcPr marL="92257" marR="92257" anchor="ctr"/>
                </a:tc>
                <a:tc>
                  <a:txBody>
                    <a:bodyPr/>
                    <a:lstStyle/>
                    <a:p>
                      <a:pPr algn="ctr"/>
                      <a:endParaRPr lang="en-GB" sz="1200" dirty="0"/>
                    </a:p>
                  </a:txBody>
                  <a:tcPr marL="92257" marR="92257" anchor="ctr"/>
                </a:tc>
                <a:tc>
                  <a:txBody>
                    <a:bodyPr/>
                    <a:lstStyle/>
                    <a:p>
                      <a:pPr algn="ctr"/>
                      <a:r>
                        <a:rPr lang="en-GB" sz="1200" dirty="0">
                          <a:sym typeface="Wingdings" panose="05000000000000000000" pitchFamily="2" charset="2"/>
                        </a:rPr>
                        <a:t></a:t>
                      </a:r>
                      <a:endParaRPr lang="en-GB" sz="1200" dirty="0"/>
                    </a:p>
                  </a:txBody>
                  <a:tcPr marL="92257" marR="92257" anchor="ctr"/>
                </a:tc>
                <a:tc>
                  <a:txBody>
                    <a:bodyPr/>
                    <a:lstStyle/>
                    <a:p>
                      <a:pPr algn="ctr"/>
                      <a:endParaRPr lang="en-GB" sz="1200" dirty="0"/>
                    </a:p>
                  </a:txBody>
                  <a:tcPr marL="92257" marR="92257" anchor="ctr"/>
                </a:tc>
                <a:tc>
                  <a:txBody>
                    <a:bodyPr/>
                    <a:lstStyle/>
                    <a:p>
                      <a:pPr algn="ctr"/>
                      <a:endParaRPr lang="en-GB" sz="1200" dirty="0"/>
                    </a:p>
                  </a:txBody>
                  <a:tcPr marL="92257" marR="92257" anchor="ctr"/>
                </a:tc>
                <a:extLst>
                  <a:ext uri="{0D108BD9-81ED-4DB2-BD59-A6C34878D82A}">
                    <a16:rowId xmlns:a16="http://schemas.microsoft.com/office/drawing/2014/main" val="10006"/>
                  </a:ext>
                </a:extLst>
              </a:tr>
              <a:tr h="1163763">
                <a:tc>
                  <a:txBody>
                    <a:bodyPr/>
                    <a:lstStyle/>
                    <a:p>
                      <a:r>
                        <a:rPr lang="en-GB" sz="1400" b="1" dirty="0"/>
                        <a:t>Allows access to declared</a:t>
                      </a:r>
                      <a:r>
                        <a:rPr lang="en-GB" sz="1400" b="1" baseline="0" dirty="0"/>
                        <a:t> variables</a:t>
                      </a:r>
                      <a:endParaRPr lang="en-GB" sz="1400" b="1" dirty="0"/>
                    </a:p>
                  </a:txBody>
                  <a:tcPr marL="92257" marR="92257" anchor="ctr"/>
                </a:tc>
                <a:tc>
                  <a:txBody>
                    <a:bodyPr/>
                    <a:lstStyle/>
                    <a:p>
                      <a:pPr algn="ctr"/>
                      <a:endParaRPr lang="en-GB" sz="1200" dirty="0"/>
                    </a:p>
                  </a:txBody>
                  <a:tcPr marL="92257" marR="92257" anchor="ctr"/>
                </a:tc>
                <a:tc>
                  <a:txBody>
                    <a:bodyPr/>
                    <a:lstStyle/>
                    <a:p>
                      <a:pPr marL="0" marR="0" lvl="0" indent="0" algn="ctr" defTabSz="685800" rtl="0" eaLnBrk="1" fontAlgn="auto" latinLnBrk="0" hangingPunct="1">
                        <a:lnSpc>
                          <a:spcPct val="100000"/>
                        </a:lnSpc>
                        <a:spcBef>
                          <a:spcPts val="0"/>
                        </a:spcBef>
                        <a:spcAft>
                          <a:spcPts val="600"/>
                        </a:spcAft>
                        <a:buClrTx/>
                        <a:buSzTx/>
                        <a:buFontTx/>
                        <a:buNone/>
                        <a:tabLst/>
                        <a:defRPr/>
                      </a:pPr>
                      <a:r>
                        <a:rPr lang="en-GB" sz="1400" dirty="0">
                          <a:sym typeface="Wingdings" panose="05000000000000000000" pitchFamily="2" charset="2"/>
                        </a:rPr>
                        <a:t>Only declared variables within the function</a:t>
                      </a:r>
                    </a:p>
                    <a:p>
                      <a:pPr marL="0" marR="0" lvl="0" indent="0" algn="ctr" defTabSz="685800" rtl="0" eaLnBrk="1" fontAlgn="auto" latinLnBrk="0" hangingPunct="1">
                        <a:lnSpc>
                          <a:spcPct val="100000"/>
                        </a:lnSpc>
                        <a:spcBef>
                          <a:spcPts val="0"/>
                        </a:spcBef>
                        <a:spcAft>
                          <a:spcPts val="600"/>
                        </a:spcAft>
                        <a:buClrTx/>
                        <a:buSzTx/>
                        <a:buFontTx/>
                        <a:buNone/>
                        <a:tabLst/>
                        <a:defRPr/>
                      </a:pPr>
                      <a:r>
                        <a:rPr lang="en-GB" sz="1400" baseline="0" dirty="0">
                          <a:sym typeface="Wingdings" panose="05000000000000000000" pitchFamily="2" charset="2"/>
                        </a:rPr>
                        <a:t> Declared variables cannot be used with in-line TVF</a:t>
                      </a:r>
                      <a:endParaRPr lang="en-GB" sz="1400" dirty="0"/>
                    </a:p>
                  </a:txBody>
                  <a:tcPr marL="92257" marR="92257"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dirty="0">
                          <a:sym typeface="Wingdings" panose="05000000000000000000" pitchFamily="2" charset="2"/>
                        </a:rPr>
                        <a:t></a:t>
                      </a:r>
                      <a:endParaRPr lang="en-GB" sz="1200" dirty="0"/>
                    </a:p>
                  </a:txBody>
                  <a:tcPr marL="92257" marR="92257"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dirty="0"/>
                    </a:p>
                  </a:txBody>
                  <a:tcPr marL="92257" marR="92257"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2385259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Review</a:t>
            </a:r>
          </a:p>
        </p:txBody>
      </p:sp>
      <p:sp>
        <p:nvSpPr>
          <p:cNvPr id="3" name="Text Placeholder 5">
            <a:extLst>
              <a:ext uri="{FF2B5EF4-FFF2-40B4-BE49-F238E27FC236}">
                <a16:creationId xmlns:a16="http://schemas.microsoft.com/office/drawing/2014/main" id="{0344C3CC-C279-A10D-1059-3B4D41514184}"/>
              </a:ext>
            </a:extLst>
          </p:cNvPr>
          <p:cNvSpPr txBox="1">
            <a:spLocks/>
          </p:cNvSpPr>
          <p:nvPr/>
        </p:nvSpPr>
        <p:spPr>
          <a:xfrm>
            <a:off x="3986673" y="4030884"/>
            <a:ext cx="4692958" cy="3049588"/>
          </a:xfrm>
          <a:prstGeom prst="rect">
            <a:avLst/>
          </a:prstGeom>
        </p:spPr>
        <p:txBody>
          <a:bodyPr/>
          <a:lstStyle>
            <a:lvl1pPr marL="270000" indent="-270000" algn="l" defTabSz="914400" rtl="0" eaLnBrk="1" latinLnBrk="0" hangingPunct="1">
              <a:lnSpc>
                <a:spcPts val="2200"/>
              </a:lnSpc>
              <a:spcBef>
                <a:spcPts val="0"/>
              </a:spcBef>
              <a:spcAft>
                <a:spcPts val="650"/>
              </a:spcAft>
              <a:buSzPct val="115000"/>
              <a:buFontTx/>
              <a:buBlip>
                <a:blip r:embed="rId3"/>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3"/>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3"/>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3"/>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3"/>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pPr>
            <a:r>
              <a:rPr lang="en-GB" dirty="0"/>
              <a:t>Views</a:t>
            </a:r>
          </a:p>
          <a:p>
            <a:pPr marL="285750" indent="-285750">
              <a:lnSpc>
                <a:spcPct val="100000"/>
              </a:lnSpc>
              <a:buFont typeface="Arial" panose="020B0604020202020204" pitchFamily="34" charset="0"/>
              <a:buChar char="•"/>
            </a:pPr>
            <a:r>
              <a:rPr lang="en-GB" dirty="0"/>
              <a:t>Table-valued functions</a:t>
            </a:r>
          </a:p>
          <a:p>
            <a:pPr marL="285750" indent="-285750">
              <a:lnSpc>
                <a:spcPct val="100000"/>
              </a:lnSpc>
              <a:buFont typeface="Arial" panose="020B0604020202020204" pitchFamily="34" charset="0"/>
              <a:buChar char="•"/>
            </a:pPr>
            <a:r>
              <a:rPr lang="en-GB" dirty="0"/>
              <a:t>Derived tables</a:t>
            </a:r>
          </a:p>
          <a:p>
            <a:pPr marL="285750" indent="-285750">
              <a:lnSpc>
                <a:spcPct val="100000"/>
              </a:lnSpc>
              <a:buFont typeface="Arial" panose="020B0604020202020204" pitchFamily="34" charset="0"/>
              <a:buChar char="•"/>
            </a:pPr>
            <a:r>
              <a:rPr lang="en-GB" dirty="0"/>
              <a:t>Temporary tables</a:t>
            </a:r>
          </a:p>
          <a:p>
            <a:pPr marL="285750" indent="-285750">
              <a:lnSpc>
                <a:spcPct val="100000"/>
              </a:lnSpc>
              <a:buFont typeface="Arial" panose="020B0604020202020204" pitchFamily="34" charset="0"/>
              <a:buChar char="•"/>
            </a:pPr>
            <a:r>
              <a:rPr lang="en-GB" dirty="0"/>
              <a:t>Comparison</a:t>
            </a:r>
          </a:p>
          <a:p>
            <a:endParaRPr lang="en-US" dirty="0"/>
          </a:p>
        </p:txBody>
      </p:sp>
    </p:spTree>
    <p:extLst>
      <p:ext uri="{BB962C8B-B14F-4D97-AF65-F5344CB8AC3E}">
        <p14:creationId xmlns:p14="http://schemas.microsoft.com/office/powerpoint/2010/main" val="6359963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_Neutral">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784FBE3F-1EB5-4B78-902F-FFB6209BBDD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6F1C044A4CFD9459FE8AB7A07496CED" ma:contentTypeVersion="15" ma:contentTypeDescription="Create a new document." ma:contentTypeScope="" ma:versionID="0d44812aa4130c3ed3f4d9aff9f2f973">
  <xsd:schema xmlns:xsd="http://www.w3.org/2001/XMLSchema" xmlns:xs="http://www.w3.org/2001/XMLSchema" xmlns:p="http://schemas.microsoft.com/office/2006/metadata/properties" xmlns:ns2="ba510fac-c167-4753-a08e-cbd4eab2b0b9" xmlns:ns3="9d579490-102d-4bf3-8643-974e67683526" targetNamespace="http://schemas.microsoft.com/office/2006/metadata/properties" ma:root="true" ma:fieldsID="1aed74eb038267da9b8aff97a3e61612" ns2:_="" ns3:_="">
    <xsd:import namespace="ba510fac-c167-4753-a08e-cbd4eab2b0b9"/>
    <xsd:import namespace="9d579490-102d-4bf3-8643-974e6768352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510fac-c167-4753-a08e-cbd4eab2b0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d579490-102d-4bf3-8643-974e67683526"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e1d3cdd-0ef3-4b3c-82fb-0fe997b7d763}" ma:internalName="TaxCatchAll" ma:showField="CatchAllData" ma:web="9d579490-102d-4bf3-8643-974e676835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d579490-102d-4bf3-8643-974e67683526" xsi:nil="true"/>
    <lcf76f155ced4ddcb4097134ff3c332f xmlns="ba510fac-c167-4753-a08e-cbd4eab2b0b9">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31CA5CA-EE42-4B12-BC84-9A9318723D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a510fac-c167-4753-a08e-cbd4eab2b0b9"/>
    <ds:schemaRef ds:uri="9d579490-102d-4bf3-8643-974e6768352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54FD4C0-AF61-4457-ADCF-4CFE3F92DA4C}">
  <ds:schemaRefs>
    <ds:schemaRef ds:uri="http://schemas.microsoft.com/office/2006/documentManagement/types"/>
    <ds:schemaRef ds:uri="ba510fac-c167-4753-a08e-cbd4eab2b0b9"/>
    <ds:schemaRef ds:uri="http://purl.org/dc/elements/1.1/"/>
    <ds:schemaRef ds:uri="9d579490-102d-4bf3-8643-974e67683526"/>
    <ds:schemaRef ds:uri="http://www.w3.org/XML/1998/namespace"/>
    <ds:schemaRef ds:uri="http://schemas.microsoft.com/office/infopath/2007/PartnerControls"/>
    <ds:schemaRef ds:uri="http://purl.org/dc/terms/"/>
    <ds:schemaRef ds:uri="http://schemas.microsoft.com/office/2006/metadata/properties"/>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BB466F22-B209-49D5-9C6F-CD2632AF8CF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Trainer Slidedeck Template DRAFT v0.1</Template>
  <TotalTime>2342</TotalTime>
  <Words>2535</Words>
  <Application>Microsoft Office PowerPoint</Application>
  <PresentationFormat>Widescreen</PresentationFormat>
  <Paragraphs>392</Paragraphs>
  <Slides>22</Slides>
  <Notes>22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22</vt:i4>
      </vt:variant>
    </vt:vector>
  </HeadingPairs>
  <TitlesOfParts>
    <vt:vector size="31" baseType="lpstr">
      <vt:lpstr>-apple-system</vt:lpstr>
      <vt:lpstr>Arial</vt:lpstr>
      <vt:lpstr>Calibri</vt:lpstr>
      <vt:lpstr>Google Sans</vt:lpstr>
      <vt:lpstr>Montserrat</vt:lpstr>
      <vt:lpstr>Montserrat Black</vt:lpstr>
      <vt:lpstr>Wingdings</vt:lpstr>
      <vt:lpstr>Master_Neutral</vt:lpstr>
      <vt:lpstr>Office Theme</vt:lpstr>
      <vt:lpstr>Module 1: Table Expressions</vt:lpstr>
      <vt:lpstr>PowerPoint Presentation</vt:lpstr>
      <vt:lpstr>PowerPoint Presentation</vt:lpstr>
      <vt:lpstr>PowerPoint Presentation</vt:lpstr>
      <vt:lpstr>PowerPoint Presentation</vt:lpstr>
      <vt:lpstr>Module 1  Exercise 1 – Views</vt:lpstr>
      <vt:lpstr>PowerPoint Presentation</vt:lpstr>
      <vt:lpstr>PowerPoint Presentation</vt:lpstr>
      <vt:lpstr>PowerPoint Presentation</vt:lpstr>
      <vt:lpstr>PowerPoint Presentation</vt:lpstr>
      <vt:lpstr>Module 1  exercise 2 – in-line table valued functions</vt:lpstr>
      <vt:lpstr>PowerPoint Presentation</vt:lpstr>
      <vt:lpstr>PowerPoint Presentation</vt:lpstr>
      <vt:lpstr>PowerPoint Presentation</vt:lpstr>
      <vt:lpstr>PowerPoint Presentation</vt:lpstr>
      <vt:lpstr>Module 1  exercise 3 – derived tables</vt:lpstr>
      <vt:lpstr>PowerPoint Presentation</vt:lpstr>
      <vt:lpstr>PowerPoint Presentation</vt:lpstr>
      <vt:lpstr>PowerPoint Presentation</vt:lpstr>
      <vt:lpstr>Module 1  exercise 5 – temporary tables</vt:lpstr>
      <vt:lpstr>PowerPoint Presentation</vt:lpstr>
      <vt:lpstr>Review</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Rob Menzies</cp:lastModifiedBy>
  <cp:revision>74</cp:revision>
  <cp:lastPrinted>2019-07-03T09:46:41Z</cp:lastPrinted>
  <dcterms:created xsi:type="dcterms:W3CDTF">2019-09-05T08:17:12Z</dcterms:created>
  <dcterms:modified xsi:type="dcterms:W3CDTF">2025-01-24T09:57:30Z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0x010100F6F1C044A4CFD9459FE8AB7A07496CED</vt:lpwstr>
  </property>
  <property fmtid="{D5CDD505-2E9C-101B-9397-08002B2CF9AE}" pid="3" name="Chapter">
    <vt:lpwstr>1</vt:lpwstr>
  </property>
  <property fmtid="{D5CDD505-2E9C-101B-9397-08002B2CF9AE}" pid="4" name="BookType">
    <vt:lpwstr>6</vt:lpwstr>
  </property>
  <property fmtid="{D5CDD505-2E9C-101B-9397-08002B2CF9AE}" pid="5" name="MediaServiceImageTags">
    <vt:lpwstr/>
  </property>
</Properties>
</file>