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50" r:id="rId5"/>
    <p:sldMasterId id="2147483836" r:id="rId6"/>
  </p:sldMasterIdLst>
  <p:notesMasterIdLst>
    <p:notesMasterId r:id="rId29"/>
  </p:notesMasterIdLst>
  <p:handoutMasterIdLst>
    <p:handoutMasterId r:id="rId30"/>
  </p:handoutMasterIdLst>
  <p:sldIdLst>
    <p:sldId id="462" r:id="rId7"/>
    <p:sldId id="612" r:id="rId8"/>
    <p:sldId id="884" r:id="rId9"/>
    <p:sldId id="909" r:id="rId10"/>
    <p:sldId id="928" r:id="rId11"/>
    <p:sldId id="943" r:id="rId12"/>
    <p:sldId id="929" r:id="rId13"/>
    <p:sldId id="930" r:id="rId14"/>
    <p:sldId id="931" r:id="rId15"/>
    <p:sldId id="932" r:id="rId16"/>
    <p:sldId id="933" r:id="rId17"/>
    <p:sldId id="934" r:id="rId18"/>
    <p:sldId id="935" r:id="rId19"/>
    <p:sldId id="936" r:id="rId20"/>
    <p:sldId id="937" r:id="rId21"/>
    <p:sldId id="938" r:id="rId22"/>
    <p:sldId id="945" r:id="rId23"/>
    <p:sldId id="939" r:id="rId24"/>
    <p:sldId id="940" r:id="rId25"/>
    <p:sldId id="941" r:id="rId26"/>
    <p:sldId id="944" r:id="rId27"/>
    <p:sldId id="924" r:id="rId28"/>
  </p:sldIdLst>
  <p:sldSz cx="12192000" cy="6858000"/>
  <p:notesSz cx="9775825" cy="6645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Slides" id="{DE8BF54A-1323-4403-83F8-D7B5510C9D53}">
          <p14:sldIdLst>
            <p14:sldId id="462"/>
            <p14:sldId id="612"/>
            <p14:sldId id="884"/>
            <p14:sldId id="909"/>
            <p14:sldId id="928"/>
            <p14:sldId id="943"/>
            <p14:sldId id="929"/>
            <p14:sldId id="930"/>
            <p14:sldId id="931"/>
            <p14:sldId id="932"/>
            <p14:sldId id="933"/>
            <p14:sldId id="934"/>
            <p14:sldId id="935"/>
            <p14:sldId id="936"/>
            <p14:sldId id="937"/>
            <p14:sldId id="938"/>
            <p14:sldId id="945"/>
            <p14:sldId id="939"/>
            <p14:sldId id="940"/>
            <p14:sldId id="941"/>
            <p14:sldId id="944"/>
            <p14:sldId id="92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D3FF"/>
    <a:srgbClr val="004050"/>
    <a:srgbClr val="F3622C"/>
    <a:srgbClr val="FFFFFF"/>
    <a:srgbClr val="7F007D"/>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CB4567-07A5-496F-B61B-FA6930676B85}" v="1" dt="2021-08-20T09:13:56.4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76591" autoAdjust="0"/>
  </p:normalViewPr>
  <p:slideViewPr>
    <p:cSldViewPr snapToGrid="0" snapToObjects="1" showGuides="1">
      <p:cViewPr varScale="1">
        <p:scale>
          <a:sx n="46" d="100"/>
          <a:sy n="46" d="100"/>
        </p:scale>
        <p:origin x="778" y="38"/>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p:cViewPr varScale="1">
        <p:scale>
          <a:sx n="69" d="100"/>
          <a:sy n="69" d="100"/>
        </p:scale>
        <p:origin x="1672"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17/03/2025</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17/03/2025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t>2</a:t>
            </a:fld>
            <a:endParaRPr lang="en-GB"/>
          </a:p>
        </p:txBody>
      </p:sp>
    </p:spTree>
    <p:extLst>
      <p:ext uri="{BB962C8B-B14F-4D97-AF65-F5344CB8AC3E}">
        <p14:creationId xmlns:p14="http://schemas.microsoft.com/office/powerpoint/2010/main" val="127675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t>3</a:t>
            </a:fld>
            <a:endParaRPr lang="en-GB"/>
          </a:p>
        </p:txBody>
      </p:sp>
    </p:spTree>
    <p:extLst>
      <p:ext uri="{BB962C8B-B14F-4D97-AF65-F5344CB8AC3E}">
        <p14:creationId xmlns:p14="http://schemas.microsoft.com/office/powerpoint/2010/main" val="831347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p:spPr>
        <p:txBody>
          <a:bodyPr/>
          <a:lstStyle/>
          <a:p>
            <a:r>
              <a:rPr lang="en-GB" baseline="0" dirty="0"/>
              <a:t>All of the queries we’ve written so far in this course have been against single tables.</a:t>
            </a:r>
          </a:p>
          <a:p>
            <a:endParaRPr lang="en-GB" baseline="0" dirty="0"/>
          </a:p>
          <a:p>
            <a:r>
              <a:rPr lang="en-GB" baseline="0" dirty="0"/>
              <a:t>In the wild, we very rarely actually want to run such queries, pulling in information from various tables in the database.</a:t>
            </a:r>
          </a:p>
          <a:p>
            <a:endParaRPr lang="en-GB" baseline="0" dirty="0"/>
          </a:p>
          <a:p>
            <a:r>
              <a:rPr lang="en-GB" baseline="0" dirty="0"/>
              <a:t>In fact, this is the whole point of Relational Database Theory, the idea of putting data into many different tables to improve the speed of updating and inserting data and also to reduce the amount of disk space used by databases. For querying, this data then needs to be pulled back together again.</a:t>
            </a:r>
          </a:p>
        </p:txBody>
      </p:sp>
    </p:spTree>
    <p:extLst>
      <p:ext uri="{BB962C8B-B14F-4D97-AF65-F5344CB8AC3E}">
        <p14:creationId xmlns:p14="http://schemas.microsoft.com/office/powerpoint/2010/main" val="2498478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p:spPr>
        <p:txBody>
          <a:bodyPr/>
          <a:lstStyle/>
          <a:p>
            <a:r>
              <a:rPr lang="en-GB" dirty="0"/>
              <a:t>There are two techniques for joining data together – JOINs, which will be the main focus of this chapter, and Set-based operations.</a:t>
            </a:r>
          </a:p>
          <a:p>
            <a:endParaRPr lang="en-GB" dirty="0"/>
          </a:p>
          <a:p>
            <a:r>
              <a:rPr lang="en-GB" dirty="0"/>
              <a:t>Within JOINs, there are three types:</a:t>
            </a:r>
            <a:r>
              <a:rPr lang="en-GB" baseline="0" dirty="0"/>
              <a:t> </a:t>
            </a:r>
            <a:r>
              <a:rPr lang="en-GB" i="1" baseline="0" dirty="0"/>
              <a:t>inner join</a:t>
            </a:r>
            <a:r>
              <a:rPr lang="en-GB" i="0" baseline="0" dirty="0"/>
              <a:t>s</a:t>
            </a:r>
            <a:r>
              <a:rPr lang="en-GB" baseline="0" dirty="0"/>
              <a:t>, </a:t>
            </a:r>
            <a:r>
              <a:rPr lang="en-GB" i="1" baseline="0" dirty="0"/>
              <a:t>outer join</a:t>
            </a:r>
            <a:r>
              <a:rPr lang="en-GB" i="0" baseline="0" dirty="0"/>
              <a:t>s</a:t>
            </a:r>
            <a:r>
              <a:rPr lang="en-GB" baseline="0" dirty="0"/>
              <a:t> and </a:t>
            </a:r>
            <a:r>
              <a:rPr lang="en-GB" i="1" baseline="0" dirty="0"/>
              <a:t>cross join</a:t>
            </a:r>
            <a:r>
              <a:rPr lang="en-GB" i="0" baseline="0" dirty="0"/>
              <a:t>s</a:t>
            </a:r>
            <a:r>
              <a:rPr lang="en-GB" baseline="0" dirty="0"/>
              <a:t>. Of the three, this course will only concern itself with the first two as cross joins are rarely, if ever, useful.</a:t>
            </a:r>
          </a:p>
          <a:p>
            <a:endParaRPr lang="en-GB" baseline="0" dirty="0"/>
          </a:p>
          <a:p>
            <a:pPr algn="l" fontAlgn="base"/>
            <a:r>
              <a:rPr lang="en-GB" baseline="0" dirty="0"/>
              <a:t>NB: </a:t>
            </a:r>
            <a:r>
              <a:rPr lang="en-GB" b="0" i="0" dirty="0">
                <a:solidFill>
                  <a:srgbClr val="252525"/>
                </a:solidFill>
                <a:effectLst/>
                <a:latin typeface="Segoe UI" panose="020B0502040204020203" pitchFamily="34" charset="0"/>
              </a:rPr>
              <a:t>The CROSS JOIN is used to generate a paired combination of each row of the first table with each row of the second table. This join type is also known as cartesian join.</a:t>
            </a:r>
          </a:p>
          <a:p>
            <a:pPr algn="l" fontAlgn="base"/>
            <a:r>
              <a:rPr lang="en-GB" b="0" i="0" dirty="0">
                <a:solidFill>
                  <a:srgbClr val="252525"/>
                </a:solidFill>
                <a:effectLst/>
                <a:latin typeface="Segoe UI" panose="020B0502040204020203" pitchFamily="34" charset="0"/>
              </a:rPr>
              <a:t>Suppose that we are sitting in a coffee shop and we decide to order breakfast. Shortly, we will look at the menu and we will start thinking of which meal and drink combination could be more tastier. Our brain will receive this signal and begin to generate all meal and drink combinations.</a:t>
            </a:r>
          </a:p>
          <a:p>
            <a:endParaRPr lang="en-GB" baseline="0" dirty="0"/>
          </a:p>
        </p:txBody>
      </p:sp>
    </p:spTree>
    <p:extLst>
      <p:ext uri="{BB962C8B-B14F-4D97-AF65-F5344CB8AC3E}">
        <p14:creationId xmlns:p14="http://schemas.microsoft.com/office/powerpoint/2010/main" val="2230860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p:txBody>
          <a:bodyPr/>
          <a:lstStyle/>
          <a:p>
            <a:r>
              <a:rPr lang="en-GB" dirty="0"/>
              <a:t>Using two tables the </a:t>
            </a:r>
            <a:r>
              <a:rPr lang="en-GB" b="0" i="1" dirty="0"/>
              <a:t>INNER JOIN</a:t>
            </a:r>
            <a:r>
              <a:rPr lang="en-GB" dirty="0"/>
              <a:t>  returns columns from both tables where the </a:t>
            </a:r>
            <a:r>
              <a:rPr lang="en-GB" i="1" dirty="0"/>
              <a:t>ON </a:t>
            </a:r>
            <a:r>
              <a:rPr lang="en-GB" dirty="0"/>
              <a:t>clause is satisfied.  This is the most common type of join.  </a:t>
            </a:r>
          </a:p>
          <a:p>
            <a:endParaRPr lang="en-GB" dirty="0"/>
          </a:p>
          <a:p>
            <a:r>
              <a:rPr lang="en-GB" dirty="0"/>
              <a:t>Used for joining tables previously split during the design phase into related tables, usually using a primary key – foreign key relationship.</a:t>
            </a:r>
          </a:p>
        </p:txBody>
      </p:sp>
    </p:spTree>
    <p:extLst>
      <p:ext uri="{BB962C8B-B14F-4D97-AF65-F5344CB8AC3E}">
        <p14:creationId xmlns:p14="http://schemas.microsoft.com/office/powerpoint/2010/main" val="1222898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When joining tables, we often</a:t>
            </a:r>
            <a:r>
              <a:rPr lang="en-GB" sz="1200" baseline="0" dirty="0">
                <a:latin typeface="+mn-lt"/>
              </a:rPr>
              <a:t> use a column from one table (in this case the CategoryID column in the Products table) that has exactly the same name as a column in another table (in this case the CategoryID column in the Categories table). From the point of view of someone talking to the database, this makes perfect sense and actually makes the database’s structure easier to understand – clearly there is a relationship between products and categories and that relationship is defined via a CategoryID column. Unfortunately, computers are still nowhere near as clever as us humans and so SQL gets confused in both our select list and our </a:t>
            </a:r>
            <a:r>
              <a:rPr lang="en-GB" sz="1200" i="1" baseline="0" dirty="0">
                <a:latin typeface="+mn-lt"/>
              </a:rPr>
              <a:t>ON</a:t>
            </a:r>
            <a:r>
              <a:rPr lang="en-GB" sz="1200" i="0" baseline="0" dirty="0">
                <a:latin typeface="+mn-lt"/>
              </a:rPr>
              <a:t> predicate if there are columns with the same names in more than one table. So we need to qualify these “ambiguous” column names with the name of the table, which can become time-consuming.</a:t>
            </a:r>
          </a:p>
          <a:p>
            <a:endParaRPr lang="en-GB" sz="1200" i="0" baseline="0" dirty="0">
              <a:latin typeface="+mn-lt"/>
            </a:endParaRPr>
          </a:p>
          <a:p>
            <a:r>
              <a:rPr lang="en-GB" sz="1200" i="0" baseline="0" dirty="0">
                <a:latin typeface="+mn-lt"/>
              </a:rPr>
              <a:t>This is where the ability to alias table names as well as column names starts to become useful – we can use a simple prefix to disambiguate the columns without making the query too much harder to read.</a:t>
            </a:r>
          </a:p>
          <a:p>
            <a:endParaRPr lang="en-GB" sz="1200" i="0" baseline="0" dirty="0">
              <a:latin typeface="+mn-lt"/>
            </a:endParaRPr>
          </a:p>
          <a:p>
            <a:r>
              <a:rPr lang="en-GB" sz="1200" b="1" i="0" baseline="0" dirty="0">
                <a:latin typeface="+mn-lt"/>
              </a:rPr>
              <a:t>NOTE [1]: </a:t>
            </a:r>
            <a:r>
              <a:rPr lang="en-GB" sz="1200" i="1" baseline="0" dirty="0">
                <a:latin typeface="+mn-lt"/>
              </a:rPr>
              <a:t>INNER JOIN </a:t>
            </a:r>
            <a:r>
              <a:rPr lang="en-GB" sz="1200" i="0" baseline="0" dirty="0">
                <a:latin typeface="+mn-lt"/>
              </a:rPr>
              <a:t>is the default type of join, so we can leave out the </a:t>
            </a:r>
            <a:r>
              <a:rPr lang="en-GB" sz="1200" i="1" baseline="0" dirty="0">
                <a:latin typeface="+mn-lt"/>
              </a:rPr>
              <a:t>INNER </a:t>
            </a:r>
            <a:r>
              <a:rPr lang="en-GB" sz="1200" i="0" baseline="0" dirty="0">
                <a:latin typeface="+mn-lt"/>
              </a:rPr>
              <a:t>part in our queries.</a:t>
            </a:r>
          </a:p>
          <a:p>
            <a:endParaRPr lang="en-GB" sz="1200" i="0" baseline="0" dirty="0">
              <a:latin typeface="+mn-lt"/>
            </a:endParaRPr>
          </a:p>
          <a:p>
            <a:r>
              <a:rPr lang="en-GB" sz="1200" b="1" i="0" baseline="0" dirty="0">
                <a:latin typeface="+mn-lt"/>
              </a:rPr>
              <a:t>NOTE [2]: </a:t>
            </a:r>
            <a:r>
              <a:rPr lang="en-GB" sz="1200" i="0" baseline="0" dirty="0">
                <a:latin typeface="+mn-lt"/>
              </a:rPr>
              <a:t>It’s only the ambiguous column names that we </a:t>
            </a:r>
            <a:r>
              <a:rPr lang="en-GB" sz="1200" i="1" baseline="0" dirty="0">
                <a:latin typeface="+mn-lt"/>
              </a:rPr>
              <a:t>must</a:t>
            </a:r>
            <a:r>
              <a:rPr lang="en-GB" sz="1200" i="0" baseline="0" dirty="0">
                <a:latin typeface="+mn-lt"/>
              </a:rPr>
              <a:t> use the table name or alias for, but we often use it for every column, especially in queries that join more than two tables together, to make it easier to see at a glance which columns are coming from which tables. The query on the slide loses nothing and possibly gains readability, rewritten as:</a:t>
            </a:r>
          </a:p>
          <a:p>
            <a:endParaRPr lang="en-GB" sz="1200" i="0" baseline="0" dirty="0">
              <a:latin typeface="+mn-lt"/>
            </a:endParaRPr>
          </a:p>
          <a:p>
            <a:r>
              <a:rPr lang="en-GB" sz="1200" dirty="0">
                <a:latin typeface="+mn-lt"/>
                <a:cs typeface="Consolas" pitchFamily="49" charset="0"/>
              </a:rPr>
              <a:t>SELECT p.CategoryID, c.CategoryName, p.ProductID, p.ProductName</a:t>
            </a:r>
            <a:br>
              <a:rPr lang="en-GB" sz="1200" dirty="0">
                <a:latin typeface="+mn-lt"/>
                <a:cs typeface="Consolas" pitchFamily="49" charset="0"/>
              </a:rPr>
            </a:br>
            <a:r>
              <a:rPr lang="en-GB" sz="1200" dirty="0">
                <a:latin typeface="+mn-lt"/>
                <a:cs typeface="Consolas" pitchFamily="49" charset="0"/>
              </a:rPr>
              <a:t>FROM dbo.Products AS p INNER JOIN dbo.Categories AS c</a:t>
            </a:r>
          </a:p>
          <a:p>
            <a:r>
              <a:rPr lang="en-GB" sz="1200" dirty="0">
                <a:latin typeface="+mn-lt"/>
                <a:cs typeface="Consolas" pitchFamily="49" charset="0"/>
              </a:rPr>
              <a:t>ON p.CategoryID = c.CategoryID</a:t>
            </a:r>
          </a:p>
          <a:p>
            <a:endParaRPr lang="en-GB" dirty="0"/>
          </a:p>
        </p:txBody>
      </p:sp>
    </p:spTree>
    <p:extLst>
      <p:ext uri="{BB962C8B-B14F-4D97-AF65-F5344CB8AC3E}">
        <p14:creationId xmlns:p14="http://schemas.microsoft.com/office/powerpoint/2010/main" val="3178060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p:spPr>
        <p:txBody>
          <a:bodyPr/>
          <a:lstStyle/>
          <a:p>
            <a:r>
              <a:rPr lang="en-GB" dirty="0"/>
              <a:t>Using two tables the </a:t>
            </a:r>
            <a:r>
              <a:rPr lang="en-GB" b="0" i="1" dirty="0"/>
              <a:t>LEFT JOIN</a:t>
            </a:r>
            <a:r>
              <a:rPr lang="en-GB" b="1" dirty="0"/>
              <a:t> </a:t>
            </a:r>
            <a:r>
              <a:rPr lang="en-GB" dirty="0"/>
              <a:t>returns columns from both tables where the </a:t>
            </a:r>
            <a:r>
              <a:rPr lang="en-GB" i="1" dirty="0"/>
              <a:t>ON</a:t>
            </a:r>
            <a:r>
              <a:rPr lang="en-GB" dirty="0"/>
              <a:t> clause is satisfied and also the columns from the first table where it is not satisfied.</a:t>
            </a:r>
          </a:p>
          <a:p>
            <a:endParaRPr lang="en-GB" dirty="0"/>
          </a:p>
          <a:p>
            <a:r>
              <a:rPr lang="en-GB" dirty="0"/>
              <a:t>Used for joining tables previously split during the design phase into related tables, usually using a primary key – foreign key relationship, and returning the mismatches as well.</a:t>
            </a:r>
          </a:p>
        </p:txBody>
      </p:sp>
    </p:spTree>
    <p:extLst>
      <p:ext uri="{BB962C8B-B14F-4D97-AF65-F5344CB8AC3E}">
        <p14:creationId xmlns:p14="http://schemas.microsoft.com/office/powerpoint/2010/main" val="1012512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example on the slide, we are running a query to get a list of all </a:t>
            </a:r>
            <a:r>
              <a:rPr lang="en-GB" dirty="0" err="1"/>
              <a:t>OrderIDs</a:t>
            </a:r>
            <a:r>
              <a:rPr lang="en-GB" dirty="0"/>
              <a:t>, their dates</a:t>
            </a:r>
            <a:r>
              <a:rPr lang="en-GB" baseline="0" dirty="0"/>
              <a:t>, and the </a:t>
            </a:r>
            <a:r>
              <a:rPr lang="en-GB" baseline="0" dirty="0" err="1"/>
              <a:t>companyname</a:t>
            </a:r>
            <a:r>
              <a:rPr lang="en-GB" baseline="0" dirty="0"/>
              <a:t> of the customers who placed the orders. If we had used an </a:t>
            </a:r>
            <a:r>
              <a:rPr lang="en-GB" i="1" baseline="0" dirty="0"/>
              <a:t>INNER JOIN</a:t>
            </a:r>
            <a:r>
              <a:rPr lang="en-GB" baseline="0" dirty="0"/>
              <a:t>, we would have got 830 rows back because there are 2 customers who have not placed any orders.</a:t>
            </a:r>
          </a:p>
          <a:p>
            <a:endParaRPr lang="en-GB" dirty="0"/>
          </a:p>
          <a:p>
            <a:r>
              <a:rPr lang="en-GB" dirty="0"/>
              <a:t>Instead, we use a </a:t>
            </a:r>
            <a:r>
              <a:rPr lang="en-GB" i="1" dirty="0"/>
              <a:t>LEFT JOIN </a:t>
            </a:r>
            <a:r>
              <a:rPr lang="en-GB" dirty="0"/>
              <a:t>to ask for </a:t>
            </a:r>
            <a:r>
              <a:rPr lang="en-GB" b="1" dirty="0"/>
              <a:t>all </a:t>
            </a:r>
            <a:r>
              <a:rPr lang="en-GB" dirty="0"/>
              <a:t>of the records</a:t>
            </a:r>
            <a:r>
              <a:rPr lang="en-GB" baseline="0" dirty="0"/>
              <a:t> in the Customers table, plus those records in the Orders table which have a match. Rows in the right-hand table without a match show up as </a:t>
            </a:r>
            <a:r>
              <a:rPr lang="en-GB" i="1" baseline="0" dirty="0"/>
              <a:t>null</a:t>
            </a:r>
            <a:r>
              <a:rPr lang="en-GB" baseline="0" dirty="0"/>
              <a:t>s.</a:t>
            </a:r>
          </a:p>
          <a:p>
            <a:endParaRPr lang="en-GB" baseline="0" dirty="0"/>
          </a:p>
          <a:p>
            <a:r>
              <a:rPr lang="en-GB" baseline="0" dirty="0"/>
              <a:t>The First table after FROM will be the Left table(order here is important but not elsewhere in the query)</a:t>
            </a:r>
          </a:p>
          <a:p>
            <a:endParaRPr lang="en-GB" b="1" baseline="0" dirty="0"/>
          </a:p>
          <a:p>
            <a:r>
              <a:rPr lang="en-GB" b="1" baseline="0" dirty="0"/>
              <a:t>NOTE: </a:t>
            </a:r>
            <a:r>
              <a:rPr lang="en-GB" baseline="0" dirty="0"/>
              <a:t>Strictly speaking, a </a:t>
            </a:r>
            <a:r>
              <a:rPr lang="en-GB" i="1" baseline="0" dirty="0"/>
              <a:t>LEFT JOIN</a:t>
            </a:r>
            <a:r>
              <a:rPr lang="en-GB" baseline="0" dirty="0"/>
              <a:t> is a </a:t>
            </a:r>
            <a:r>
              <a:rPr lang="en-GB" i="1" baseline="0" dirty="0"/>
              <a:t>LEFT </a:t>
            </a:r>
            <a:r>
              <a:rPr lang="en-GB" i="0" baseline="0" dirty="0"/>
              <a:t>OUTER </a:t>
            </a:r>
            <a:r>
              <a:rPr lang="en-GB" i="1" baseline="0" dirty="0"/>
              <a:t>JOIN</a:t>
            </a:r>
            <a:r>
              <a:rPr lang="en-GB" baseline="0" dirty="0"/>
              <a:t> but the </a:t>
            </a:r>
            <a:r>
              <a:rPr lang="en-GB" i="1" baseline="0" dirty="0"/>
              <a:t>OUTER</a:t>
            </a:r>
            <a:r>
              <a:rPr lang="en-GB" baseline="0" dirty="0"/>
              <a:t> is implicit and therefore optional.</a:t>
            </a:r>
          </a:p>
          <a:p>
            <a:endParaRPr lang="en-GB" baseline="0" dirty="0"/>
          </a:p>
          <a:p>
            <a:endParaRPr lang="en-GB" baseline="0" dirty="0"/>
          </a:p>
          <a:p>
            <a:pPr algn="l">
              <a:lnSpc>
                <a:spcPts val="1650"/>
              </a:lnSpc>
              <a:buFont typeface="Arial" panose="020B0604020202020204" pitchFamily="34" charset="0"/>
              <a:buChar char="•"/>
            </a:pPr>
            <a:r>
              <a:rPr lang="en-GB" b="0" i="0" dirty="0">
                <a:solidFill>
                  <a:srgbClr val="111111"/>
                </a:solidFill>
                <a:effectLst/>
                <a:latin typeface="-apple-system"/>
              </a:rPr>
              <a:t>In a LEFT JOIN:</a:t>
            </a:r>
          </a:p>
          <a:p>
            <a:pPr algn="l">
              <a:lnSpc>
                <a:spcPts val="1650"/>
              </a:lnSpc>
              <a:buFont typeface="Arial" panose="020B0604020202020204" pitchFamily="34" charset="0"/>
              <a:buChar char="•"/>
            </a:pPr>
            <a:r>
              <a:rPr lang="en-GB" b="0" i="0" dirty="0">
                <a:solidFill>
                  <a:srgbClr val="111111"/>
                </a:solidFill>
                <a:effectLst/>
                <a:latin typeface="-apple-system"/>
              </a:rPr>
              <a:t>The left table is the one that comes before the "LEFT JOIN" phrase in the query</a:t>
            </a:r>
          </a:p>
          <a:p>
            <a:pPr algn="l">
              <a:lnSpc>
                <a:spcPts val="1650"/>
              </a:lnSpc>
              <a:buFont typeface="Arial" panose="020B0604020202020204" pitchFamily="34" charset="0"/>
              <a:buChar char="•"/>
            </a:pPr>
            <a:r>
              <a:rPr lang="en-GB" b="0" i="0" dirty="0">
                <a:solidFill>
                  <a:srgbClr val="111111"/>
                </a:solidFill>
                <a:effectLst/>
                <a:latin typeface="-apple-system"/>
              </a:rPr>
              <a:t>It returns all records from the left table and the matching records from the right table</a:t>
            </a:r>
          </a:p>
          <a:p>
            <a:pPr algn="l">
              <a:lnSpc>
                <a:spcPts val="1650"/>
              </a:lnSpc>
              <a:buFont typeface="Arial" panose="020B0604020202020204" pitchFamily="34" charset="0"/>
              <a:buChar char="•"/>
            </a:pPr>
            <a:r>
              <a:rPr lang="en-GB" b="0" i="0" dirty="0">
                <a:solidFill>
                  <a:srgbClr val="111111"/>
                </a:solidFill>
                <a:effectLst/>
                <a:latin typeface="-apple-system"/>
              </a:rPr>
              <a:t>If no match is found, NULL values are returned for right table's columns</a:t>
            </a:r>
            <a:endParaRPr lang="en-GB" dirty="0"/>
          </a:p>
        </p:txBody>
      </p:sp>
    </p:spTree>
    <p:extLst>
      <p:ext uri="{BB962C8B-B14F-4D97-AF65-F5344CB8AC3E}">
        <p14:creationId xmlns:p14="http://schemas.microsoft.com/office/powerpoint/2010/main" val="890142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p:spPr>
        <p:txBody>
          <a:bodyPr/>
          <a:lstStyle/>
          <a:p>
            <a:r>
              <a:rPr lang="en-GB" dirty="0"/>
              <a:t>Using two tables the </a:t>
            </a:r>
            <a:r>
              <a:rPr lang="en-GB" b="0" i="1" dirty="0"/>
              <a:t>RIGHT JOIN</a:t>
            </a:r>
            <a:r>
              <a:rPr lang="en-GB" b="1" dirty="0"/>
              <a:t> </a:t>
            </a:r>
            <a:r>
              <a:rPr lang="en-GB" dirty="0"/>
              <a:t>returns columns from both tables where the </a:t>
            </a:r>
            <a:r>
              <a:rPr lang="en-GB" i="1" dirty="0"/>
              <a:t>ON</a:t>
            </a:r>
            <a:r>
              <a:rPr lang="en-GB" dirty="0"/>
              <a:t> clause is satisfied and also the columns from the second table where it is not satisfied.</a:t>
            </a:r>
          </a:p>
          <a:p>
            <a:endParaRPr lang="en-GB" dirty="0"/>
          </a:p>
          <a:p>
            <a:r>
              <a:rPr lang="en-GB" dirty="0"/>
              <a:t>Used for joining tables previously split during the design phase into related tables, usually using a primary key – foreign key relationship, and returning the mismatches as well.</a:t>
            </a:r>
          </a:p>
          <a:p>
            <a:endParaRPr lang="en-GB" dirty="0"/>
          </a:p>
          <a:p>
            <a:r>
              <a:rPr lang="en-GB" dirty="0"/>
              <a:t>If you’re thinking that looks a lot like the definition</a:t>
            </a:r>
            <a:r>
              <a:rPr lang="en-GB" baseline="0" dirty="0"/>
              <a:t> of a </a:t>
            </a:r>
            <a:r>
              <a:rPr lang="en-GB" i="1" baseline="0" dirty="0"/>
              <a:t>LEFT JOIN</a:t>
            </a:r>
            <a:r>
              <a:rPr lang="en-GB" baseline="0" dirty="0"/>
              <a:t>, you’re absolutely correct. The only difference between the two is which side of the </a:t>
            </a:r>
            <a:r>
              <a:rPr lang="en-GB" i="1" baseline="0" dirty="0"/>
              <a:t>JOIN</a:t>
            </a:r>
            <a:r>
              <a:rPr lang="en-GB" baseline="0" dirty="0"/>
              <a:t> keyword the table is. The one before the keyword is the left-hand table and the one after is the right-hand table. All </a:t>
            </a:r>
            <a:r>
              <a:rPr lang="en-GB" i="1" baseline="0" dirty="0"/>
              <a:t>LEFT JOIN</a:t>
            </a:r>
            <a:r>
              <a:rPr lang="en-GB" baseline="0" dirty="0"/>
              <a:t>s can be rewritten as </a:t>
            </a:r>
            <a:r>
              <a:rPr lang="en-GB" i="1" baseline="0" dirty="0"/>
              <a:t>RIGHT JOIN</a:t>
            </a:r>
            <a:r>
              <a:rPr lang="en-GB" baseline="0" dirty="0"/>
              <a:t>s and vice versa.</a:t>
            </a:r>
          </a:p>
          <a:p>
            <a:endParaRPr lang="en-GB" baseline="0" dirty="0"/>
          </a:p>
          <a:p>
            <a:r>
              <a:rPr lang="en-GB" baseline="0" dirty="0"/>
              <a:t>It’s usually just a matter of which table you start thinking about first.</a:t>
            </a:r>
          </a:p>
          <a:p>
            <a:endParaRPr lang="en-GB" baseline="0" dirty="0"/>
          </a:p>
          <a:p>
            <a:r>
              <a:rPr lang="en-GB" baseline="0" dirty="0"/>
              <a:t>A </a:t>
            </a:r>
            <a:r>
              <a:rPr lang="en-GB" i="1" baseline="0" dirty="0"/>
              <a:t>LEFT JOIN </a:t>
            </a:r>
            <a:r>
              <a:rPr lang="en-GB" baseline="0" dirty="0"/>
              <a:t>can have null values in columns from the right-hand table whereas a </a:t>
            </a:r>
            <a:r>
              <a:rPr lang="en-GB" i="1" baseline="0" dirty="0"/>
              <a:t>RIGHT JOIN</a:t>
            </a:r>
            <a:r>
              <a:rPr lang="en-GB" baseline="0" dirty="0"/>
              <a:t> can have null values in columns from the left-hand table.</a:t>
            </a:r>
            <a:endParaRPr lang="en-GB" dirty="0"/>
          </a:p>
        </p:txBody>
      </p:sp>
    </p:spTree>
    <p:extLst>
      <p:ext uri="{BB962C8B-B14F-4D97-AF65-F5344CB8AC3E}">
        <p14:creationId xmlns:p14="http://schemas.microsoft.com/office/powerpoint/2010/main" val="1156437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In the example on the slide, we</a:t>
            </a:r>
            <a:r>
              <a:rPr lang="en-GB" sz="1200" baseline="0" dirty="0">
                <a:latin typeface="+mn-lt"/>
              </a:rPr>
              <a:t> have simply changed the LEFT keyword from the previous example into a RIGHT. The result set only contains 830 rows because we are asking for the rows in the Customers table that have corresponding entries in the Orders table, so any customers who have not placed orders will no longer exist.</a:t>
            </a:r>
          </a:p>
          <a:p>
            <a:endParaRPr lang="en-GB" sz="1200" baseline="0" dirty="0">
              <a:latin typeface="+mn-lt"/>
            </a:endParaRPr>
          </a:p>
          <a:p>
            <a:r>
              <a:rPr lang="en-GB" sz="1200" baseline="0" dirty="0">
                <a:latin typeface="+mn-lt"/>
              </a:rPr>
              <a:t>To recreate the results of the previous example with the code above, either change the word RIGHT to read LEFT, or switch the order of the </a:t>
            </a:r>
            <a:r>
              <a:rPr lang="en-GB" sz="1200" baseline="0" dirty="0" err="1">
                <a:latin typeface="+mn-lt"/>
              </a:rPr>
              <a:t>dbo.Customers</a:t>
            </a:r>
            <a:r>
              <a:rPr lang="en-GB" sz="1200" baseline="0" dirty="0">
                <a:latin typeface="+mn-lt"/>
              </a:rPr>
              <a:t> and </a:t>
            </a:r>
            <a:r>
              <a:rPr lang="en-GB" sz="1200" baseline="0" dirty="0" err="1">
                <a:latin typeface="+mn-lt"/>
              </a:rPr>
              <a:t>dbo.Orders</a:t>
            </a:r>
            <a:r>
              <a:rPr lang="en-GB" sz="1200" baseline="0" dirty="0">
                <a:latin typeface="+mn-lt"/>
              </a:rPr>
              <a:t> tables in the FROM and JOIN clauses as follows:</a:t>
            </a:r>
          </a:p>
          <a:p>
            <a:endParaRPr lang="en-GB" sz="1200" baseline="0" dirty="0">
              <a:latin typeface="+mn-lt"/>
              <a:cs typeface="Consolas" pitchFamily="49" charset="0"/>
            </a:endParaRPr>
          </a:p>
          <a:p>
            <a:r>
              <a:rPr lang="en-GB" sz="1200" dirty="0">
                <a:latin typeface="+mn-lt"/>
              </a:rPr>
              <a:t>SELECT</a:t>
            </a:r>
            <a:br>
              <a:rPr lang="en-GB" sz="1200" dirty="0">
                <a:latin typeface="+mn-lt"/>
              </a:rPr>
            </a:br>
            <a:r>
              <a:rPr lang="en-GB" sz="1200" dirty="0">
                <a:latin typeface="+mn-lt"/>
              </a:rPr>
              <a:t>  </a:t>
            </a:r>
            <a:r>
              <a:rPr lang="en-GB" sz="1200" dirty="0" err="1">
                <a:latin typeface="+mn-lt"/>
              </a:rPr>
              <a:t>o.OrderID</a:t>
            </a:r>
            <a:r>
              <a:rPr lang="en-GB" sz="1200" dirty="0">
                <a:latin typeface="+mn-lt"/>
              </a:rPr>
              <a:t>,</a:t>
            </a:r>
          </a:p>
          <a:p>
            <a:r>
              <a:rPr lang="en-GB" sz="1200" dirty="0">
                <a:latin typeface="+mn-lt"/>
              </a:rPr>
              <a:t>  </a:t>
            </a:r>
            <a:r>
              <a:rPr lang="en-GB" sz="1200" dirty="0" err="1">
                <a:latin typeface="+mn-lt"/>
              </a:rPr>
              <a:t>o.OrderDate</a:t>
            </a:r>
            <a:r>
              <a:rPr lang="en-GB" sz="1200" dirty="0">
                <a:latin typeface="+mn-lt"/>
              </a:rPr>
              <a:t>,</a:t>
            </a:r>
          </a:p>
          <a:p>
            <a:r>
              <a:rPr lang="en-GB" sz="1200" dirty="0">
                <a:latin typeface="+mn-lt"/>
              </a:rPr>
              <a:t>  </a:t>
            </a:r>
            <a:r>
              <a:rPr lang="en-GB" sz="1200" dirty="0" err="1">
                <a:latin typeface="+mn-lt"/>
              </a:rPr>
              <a:t>c.CompanyName</a:t>
            </a:r>
            <a:br>
              <a:rPr lang="en-GB" sz="1200" dirty="0">
                <a:latin typeface="+mn-lt"/>
              </a:rPr>
            </a:br>
            <a:r>
              <a:rPr lang="en-GB" sz="1200" dirty="0">
                <a:latin typeface="+mn-lt"/>
              </a:rPr>
              <a:t>FROM</a:t>
            </a:r>
            <a:br>
              <a:rPr lang="en-GB" sz="1200" dirty="0">
                <a:latin typeface="+mn-lt"/>
              </a:rPr>
            </a:br>
            <a:r>
              <a:rPr lang="en-GB" sz="1200" dirty="0">
                <a:latin typeface="+mn-lt"/>
              </a:rPr>
              <a:t>  </a:t>
            </a:r>
            <a:r>
              <a:rPr lang="en-GB" sz="1200" dirty="0" err="1">
                <a:latin typeface="+mn-lt"/>
              </a:rPr>
              <a:t>dbo.Orders</a:t>
            </a:r>
            <a:r>
              <a:rPr lang="en-GB" sz="1200" dirty="0">
                <a:latin typeface="+mn-lt"/>
              </a:rPr>
              <a:t> AS o</a:t>
            </a:r>
          </a:p>
          <a:p>
            <a:r>
              <a:rPr lang="en-GB" sz="1200" b="1" dirty="0">
                <a:latin typeface="+mn-lt"/>
              </a:rPr>
              <a:t>RIGHT JOIN</a:t>
            </a:r>
            <a:br>
              <a:rPr lang="en-GB" sz="1200" b="1" dirty="0">
                <a:latin typeface="+mn-lt"/>
              </a:rPr>
            </a:br>
            <a:r>
              <a:rPr lang="en-GB" sz="1200" dirty="0">
                <a:latin typeface="+mn-lt"/>
              </a:rPr>
              <a:t>  </a:t>
            </a:r>
            <a:r>
              <a:rPr lang="en-GB" sz="1200" dirty="0" err="1">
                <a:latin typeface="+mn-lt"/>
              </a:rPr>
              <a:t>dbo.Customers</a:t>
            </a:r>
            <a:r>
              <a:rPr lang="en-GB" sz="1200" dirty="0">
                <a:latin typeface="+mn-lt"/>
              </a:rPr>
              <a:t> AS c</a:t>
            </a:r>
          </a:p>
          <a:p>
            <a:r>
              <a:rPr lang="en-GB" sz="1200" dirty="0">
                <a:latin typeface="+mn-lt"/>
              </a:rPr>
              <a:t>ON</a:t>
            </a:r>
            <a:br>
              <a:rPr lang="en-GB" sz="1200" dirty="0">
                <a:latin typeface="+mn-lt"/>
              </a:rPr>
            </a:br>
            <a:r>
              <a:rPr lang="en-GB" sz="1200" dirty="0">
                <a:latin typeface="+mn-lt"/>
              </a:rPr>
              <a:t>  </a:t>
            </a:r>
            <a:r>
              <a:rPr lang="en-GB" sz="1200" dirty="0" err="1">
                <a:latin typeface="+mn-lt"/>
              </a:rPr>
              <a:t>c.CustomerID</a:t>
            </a:r>
            <a:r>
              <a:rPr lang="en-GB" sz="1200" dirty="0">
                <a:latin typeface="+mn-lt"/>
              </a:rPr>
              <a:t> = </a:t>
            </a:r>
            <a:br>
              <a:rPr lang="en-GB" sz="1200" dirty="0">
                <a:latin typeface="+mn-lt"/>
              </a:rPr>
            </a:br>
            <a:r>
              <a:rPr lang="en-GB" sz="1200" dirty="0">
                <a:latin typeface="+mn-lt"/>
              </a:rPr>
              <a:t>    </a:t>
            </a:r>
            <a:r>
              <a:rPr lang="en-GB" sz="1200" dirty="0" err="1">
                <a:latin typeface="+mn-lt"/>
              </a:rPr>
              <a:t>o.CustomerID</a:t>
            </a:r>
            <a:endParaRPr lang="en-GB" sz="1200" dirty="0">
              <a:latin typeface="+mn-lt"/>
            </a:endParaRPr>
          </a:p>
          <a:p>
            <a:endParaRPr lang="en-GB" sz="1000" baseline="0" dirty="0">
              <a:latin typeface="Consolas" pitchFamily="49" charset="0"/>
              <a:cs typeface="Consolas" pitchFamily="49" charset="0"/>
            </a:endParaRPr>
          </a:p>
        </p:txBody>
      </p:sp>
    </p:spTree>
    <p:extLst>
      <p:ext uri="{BB962C8B-B14F-4D97-AF65-F5344CB8AC3E}">
        <p14:creationId xmlns:p14="http://schemas.microsoft.com/office/powerpoint/2010/main" val="3395764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p:spPr>
        <p:txBody>
          <a:bodyPr/>
          <a:lstStyle/>
          <a:p>
            <a:r>
              <a:rPr lang="en-GB" dirty="0"/>
              <a:t>Using two tables a </a:t>
            </a:r>
            <a:r>
              <a:rPr lang="en-GB" b="0" i="1" dirty="0"/>
              <a:t>FULL</a:t>
            </a:r>
            <a:r>
              <a:rPr lang="en-GB" b="0" i="1" baseline="0" dirty="0"/>
              <a:t> JOIN</a:t>
            </a:r>
            <a:r>
              <a:rPr lang="en-GB" dirty="0"/>
              <a:t> returns columns from both tables where the ON clause is satisfied, and also the columns from both tables separately where it is not satisfied</a:t>
            </a:r>
          </a:p>
          <a:p>
            <a:endParaRPr lang="en-GB" dirty="0"/>
          </a:p>
          <a:p>
            <a:r>
              <a:rPr lang="en-GB" dirty="0"/>
              <a:t>Commonly used for examining two versions of the same table to find mismatches.</a:t>
            </a:r>
          </a:p>
          <a:p>
            <a:endParaRPr lang="en-GB" dirty="0"/>
          </a:p>
          <a:p>
            <a:r>
              <a:rPr lang="en-GB" dirty="0"/>
              <a:t>So</a:t>
            </a:r>
            <a:r>
              <a:rPr lang="en-GB" baseline="0" dirty="0"/>
              <a:t> if a </a:t>
            </a:r>
            <a:r>
              <a:rPr lang="en-GB" i="1" baseline="0" dirty="0"/>
              <a:t>LEFT JOIN</a:t>
            </a:r>
            <a:r>
              <a:rPr lang="en-GB" baseline="0" dirty="0"/>
              <a:t> can have </a:t>
            </a:r>
            <a:r>
              <a:rPr lang="en-GB" i="1" baseline="0" dirty="0"/>
              <a:t>null</a:t>
            </a:r>
            <a:r>
              <a:rPr lang="en-GB" baseline="0" dirty="0"/>
              <a:t>s in the right-hand table’s columns and a </a:t>
            </a:r>
            <a:r>
              <a:rPr lang="en-GB" i="1" baseline="0" dirty="0"/>
              <a:t>RIGHT JOIN </a:t>
            </a:r>
            <a:r>
              <a:rPr lang="en-GB" baseline="0" dirty="0"/>
              <a:t>can have </a:t>
            </a:r>
            <a:r>
              <a:rPr lang="en-GB" i="1" baseline="0" dirty="0"/>
              <a:t>null</a:t>
            </a:r>
            <a:r>
              <a:rPr lang="en-GB" baseline="0" dirty="0"/>
              <a:t>s in the left-hand table’s columns then a </a:t>
            </a:r>
            <a:r>
              <a:rPr lang="en-GB" i="1" baseline="0" dirty="0"/>
              <a:t>FULL JOIN</a:t>
            </a:r>
            <a:r>
              <a:rPr lang="en-GB" baseline="0" dirty="0"/>
              <a:t> can have </a:t>
            </a:r>
            <a:r>
              <a:rPr lang="en-GB" i="1" baseline="0" dirty="0"/>
              <a:t>null</a:t>
            </a:r>
            <a:r>
              <a:rPr lang="en-GB" baseline="0" dirty="0"/>
              <a:t>s on both sides.</a:t>
            </a:r>
            <a:endParaRPr lang="en-GB" dirty="0"/>
          </a:p>
        </p:txBody>
      </p:sp>
    </p:spTree>
    <p:extLst>
      <p:ext uri="{BB962C8B-B14F-4D97-AF65-F5344CB8AC3E}">
        <p14:creationId xmlns:p14="http://schemas.microsoft.com/office/powerpoint/2010/main" val="3812535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can of course join as many tables together as we like,</a:t>
            </a:r>
            <a:r>
              <a:rPr lang="en-GB" baseline="0" dirty="0"/>
              <a:t> as long as we have some way of telling SQL how to find the rows we’re interested in.</a:t>
            </a:r>
          </a:p>
          <a:p>
            <a:endParaRPr lang="en-GB" baseline="0" dirty="0"/>
          </a:p>
          <a:p>
            <a:r>
              <a:rPr lang="en-GB" baseline="0" dirty="0"/>
              <a:t>In the example on the slide, we’re completing the query on Customers and their Orders by adding another join to the earlier examples. We are in effect joining the Employees table to the combined Customers &amp; Orders result set, so we need to use a </a:t>
            </a:r>
            <a:r>
              <a:rPr lang="en-GB" i="1" baseline="0" dirty="0"/>
              <a:t>LEFT JOIN</a:t>
            </a:r>
            <a:r>
              <a:rPr lang="en-GB" baseline="0" dirty="0"/>
              <a:t> to make sure we see all 832 rows, plus any employees we can find. Obviously, any rows that have a </a:t>
            </a:r>
            <a:r>
              <a:rPr lang="en-GB" i="1" baseline="0" dirty="0"/>
              <a:t>null</a:t>
            </a:r>
            <a:r>
              <a:rPr lang="en-GB" baseline="0" dirty="0"/>
              <a:t> for </a:t>
            </a:r>
            <a:r>
              <a:rPr lang="en-GB" baseline="0" dirty="0" err="1"/>
              <a:t>OrderID</a:t>
            </a:r>
            <a:r>
              <a:rPr lang="en-GB" baseline="0" dirty="0"/>
              <a:t> and </a:t>
            </a:r>
            <a:r>
              <a:rPr lang="en-GB" baseline="0" dirty="0" err="1"/>
              <a:t>OrderDate</a:t>
            </a:r>
            <a:r>
              <a:rPr lang="en-GB" baseline="0" dirty="0"/>
              <a:t> from the Orders table are going to have </a:t>
            </a:r>
            <a:r>
              <a:rPr lang="en-GB" i="1" baseline="0" dirty="0"/>
              <a:t>null</a:t>
            </a:r>
            <a:r>
              <a:rPr lang="en-GB" baseline="0" dirty="0"/>
              <a:t>s for employee names.</a:t>
            </a:r>
            <a:endParaRPr lang="en-GB" dirty="0"/>
          </a:p>
        </p:txBody>
      </p:sp>
    </p:spTree>
    <p:extLst>
      <p:ext uri="{BB962C8B-B14F-4D97-AF65-F5344CB8AC3E}">
        <p14:creationId xmlns:p14="http://schemas.microsoft.com/office/powerpoint/2010/main" val="2745918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 tables can contain</a:t>
            </a:r>
            <a:r>
              <a:rPr lang="en-GB" baseline="0" dirty="0"/>
              <a:t> columns that refer back to the same table. A classic example is in the Northwind database’s Employees table, where there is a ReportsTo column which contains the EmployeeID of the employee’s manager.</a:t>
            </a:r>
          </a:p>
          <a:p>
            <a:endParaRPr lang="en-GB" baseline="0" dirty="0"/>
          </a:p>
          <a:p>
            <a:r>
              <a:rPr lang="en-GB" baseline="0" dirty="0"/>
              <a:t>If we want to write a query that lists employees and their managers, we will need to join that table to itself. In these circumstances, we will have to use aliases for the table names to avoid ambiguity.</a:t>
            </a:r>
          </a:p>
          <a:p>
            <a:endParaRPr lang="en-GB" baseline="0" dirty="0"/>
          </a:p>
          <a:p>
            <a:r>
              <a:rPr lang="en-GB" baseline="0" dirty="0"/>
              <a:t>In the example on the slide, a keen observer might notice that there is an employee missing.</a:t>
            </a:r>
            <a:endParaRPr lang="en-GB" dirty="0"/>
          </a:p>
        </p:txBody>
      </p:sp>
    </p:spTree>
    <p:extLst>
      <p:ext uri="{BB962C8B-B14F-4D97-AF65-F5344CB8AC3E}">
        <p14:creationId xmlns:p14="http://schemas.microsoft.com/office/powerpoint/2010/main" val="3619209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p:spPr>
        <p:txBody>
          <a:bodyPr/>
          <a:lstStyle/>
          <a:p>
            <a:r>
              <a:rPr lang="en-GB" sz="1200" dirty="0">
                <a:latin typeface="+mn-lt"/>
              </a:rPr>
              <a:t>Using two tables a </a:t>
            </a:r>
            <a:r>
              <a:rPr lang="en-GB" sz="1200" b="0" i="1" dirty="0">
                <a:latin typeface="+mn-lt"/>
              </a:rPr>
              <a:t>UNION</a:t>
            </a:r>
            <a:r>
              <a:rPr lang="en-GB" sz="1200" b="1" dirty="0">
                <a:latin typeface="+mn-lt"/>
              </a:rPr>
              <a:t> </a:t>
            </a:r>
            <a:r>
              <a:rPr lang="en-GB" sz="1200" dirty="0">
                <a:latin typeface="+mn-lt"/>
              </a:rPr>
              <a:t>returns rows from both tables. If duplicates exist in the two tables they are removed unless we specify </a:t>
            </a:r>
            <a:r>
              <a:rPr lang="en-GB" sz="1200" i="1" dirty="0">
                <a:latin typeface="+mn-lt"/>
              </a:rPr>
              <a:t>UNION ALL</a:t>
            </a:r>
            <a:r>
              <a:rPr lang="en-GB" sz="1200" dirty="0">
                <a:latin typeface="+mn-lt"/>
              </a:rPr>
              <a:t>.  Columns in both select lists must match in quantity and data type</a:t>
            </a:r>
            <a:r>
              <a:rPr lang="en-GB" sz="1200" baseline="0" dirty="0">
                <a:latin typeface="+mn-lt"/>
              </a:rPr>
              <a:t> (or the data types must be convertible by SQL)</a:t>
            </a:r>
          </a:p>
          <a:p>
            <a:endParaRPr lang="en-GB" sz="1200" baseline="0" dirty="0">
              <a:latin typeface="+mn-lt"/>
            </a:endParaRPr>
          </a:p>
          <a:p>
            <a:r>
              <a:rPr lang="en-GB" b="0" i="0" dirty="0">
                <a:solidFill>
                  <a:srgbClr val="202124"/>
                </a:solidFill>
                <a:effectLst/>
                <a:highlight>
                  <a:srgbClr val="FFFFFF"/>
                </a:highlight>
                <a:latin typeface="Google Sans"/>
              </a:rPr>
              <a:t>The difference between JOIN and UNION in SQL lies in their fundamental purposes and the way they merge data. </a:t>
            </a:r>
            <a:r>
              <a:rPr lang="en-GB" b="0" i="0" dirty="0">
                <a:solidFill>
                  <a:srgbClr val="040C28"/>
                </a:solidFill>
                <a:effectLst/>
                <a:latin typeface="Google Sans"/>
              </a:rPr>
              <a:t>JOIN is used to combine rows from two or more tables based on a related column, while UNION is used to combine the results of two or more SELECT statements into a single result set</a:t>
            </a:r>
            <a:r>
              <a:rPr lang="en-GB" b="0" i="0" dirty="0">
                <a:solidFill>
                  <a:srgbClr val="202124"/>
                </a:solidFill>
                <a:effectLst/>
                <a:highlight>
                  <a:srgbClr val="FFFFFF"/>
                </a:highlight>
                <a:latin typeface="Google Sans"/>
              </a:rPr>
              <a:t>.</a:t>
            </a:r>
            <a:endParaRPr lang="en-GB" sz="1200" baseline="0" dirty="0">
              <a:latin typeface="+mn-lt"/>
            </a:endParaRPr>
          </a:p>
          <a:p>
            <a:endParaRPr lang="en-GB" sz="1200" dirty="0">
              <a:latin typeface="+mn-lt"/>
            </a:endParaRPr>
          </a:p>
          <a:p>
            <a:r>
              <a:rPr lang="en-GB" sz="1200" dirty="0">
                <a:latin typeface="+mn-lt"/>
              </a:rPr>
              <a:t>The query below returns the ProductID of all products that have either total sales order quantity greater than 500 or a list price greater than 150.</a:t>
            </a:r>
          </a:p>
          <a:p>
            <a:endParaRPr lang="en-GB" sz="1200" dirty="0">
              <a:latin typeface="+mn-lt"/>
            </a:endParaRPr>
          </a:p>
          <a:p>
            <a:r>
              <a:rPr lang="en-GB" sz="1200" dirty="0">
                <a:latin typeface="+mn-lt"/>
                <a:cs typeface="Consolas" pitchFamily="49" charset="0"/>
              </a:rPr>
              <a:t>SELECT ProductID</a:t>
            </a:r>
          </a:p>
          <a:p>
            <a:r>
              <a:rPr lang="en-GB" sz="1200" dirty="0">
                <a:latin typeface="+mn-lt"/>
                <a:cs typeface="Consolas" pitchFamily="49" charset="0"/>
              </a:rPr>
              <a:t>FROM dbo.[Order Details]</a:t>
            </a:r>
          </a:p>
          <a:p>
            <a:r>
              <a:rPr lang="en-GB" sz="1200" dirty="0">
                <a:latin typeface="+mn-lt"/>
                <a:cs typeface="Consolas" pitchFamily="49" charset="0"/>
              </a:rPr>
              <a:t>GROUP BY ProductID</a:t>
            </a:r>
          </a:p>
          <a:p>
            <a:r>
              <a:rPr lang="en-GB" sz="1200" dirty="0">
                <a:latin typeface="+mn-lt"/>
                <a:cs typeface="Consolas" pitchFamily="49" charset="0"/>
              </a:rPr>
              <a:t>HAVING SUM(Quantity) &gt; 700</a:t>
            </a:r>
          </a:p>
          <a:p>
            <a:r>
              <a:rPr lang="en-GB" sz="1200" b="1" dirty="0">
                <a:latin typeface="+mn-lt"/>
                <a:cs typeface="Consolas" pitchFamily="49" charset="0"/>
              </a:rPr>
              <a:t>UNION</a:t>
            </a:r>
          </a:p>
          <a:p>
            <a:r>
              <a:rPr lang="en-GB" sz="1200" dirty="0">
                <a:latin typeface="+mn-lt"/>
                <a:cs typeface="Consolas" pitchFamily="49" charset="0"/>
              </a:rPr>
              <a:t>SELECT	ProductID</a:t>
            </a:r>
          </a:p>
          <a:p>
            <a:r>
              <a:rPr lang="en-GB" sz="1200" dirty="0">
                <a:latin typeface="+mn-lt"/>
                <a:cs typeface="Consolas" pitchFamily="49" charset="0"/>
              </a:rPr>
              <a:t>FROM dbo.Products</a:t>
            </a:r>
          </a:p>
          <a:p>
            <a:r>
              <a:rPr lang="en-GB" sz="1200" dirty="0">
                <a:latin typeface="+mn-lt"/>
                <a:cs typeface="Consolas" pitchFamily="49" charset="0"/>
              </a:rPr>
              <a:t>WHERE UnitPrice &gt; 100</a:t>
            </a:r>
          </a:p>
          <a:p>
            <a:endParaRPr lang="en-GB" sz="1200" dirty="0">
              <a:latin typeface="+mn-lt"/>
            </a:endParaRP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sz="1200" dirty="0">
                <a:latin typeface="+mn-lt"/>
              </a:rPr>
              <a:t>This query should return 39 rows in ProductID order. With a UNION ALL instead, it will return 40 rows in no particular order.</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endParaRPr lang="en-GB" sz="1200" dirty="0">
              <a:latin typeface="+mn-lt"/>
            </a:endParaRP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sz="1200" baseline="0" dirty="0">
                <a:latin typeface="+mn-lt"/>
              </a:rPr>
              <a:t>Within this group of operations, </a:t>
            </a:r>
            <a:r>
              <a:rPr lang="en-GB" sz="1200" i="1" baseline="0" dirty="0">
                <a:latin typeface="+mn-lt"/>
              </a:rPr>
              <a:t>except</a:t>
            </a:r>
            <a:r>
              <a:rPr lang="en-GB" sz="1200" baseline="0" dirty="0">
                <a:latin typeface="+mn-lt"/>
              </a:rPr>
              <a:t>s and </a:t>
            </a:r>
            <a:r>
              <a:rPr lang="en-GB" sz="1200" i="1" baseline="0" dirty="0">
                <a:latin typeface="+mn-lt"/>
              </a:rPr>
              <a:t>intersect</a:t>
            </a:r>
            <a:r>
              <a:rPr lang="en-GB" sz="1200" baseline="0" dirty="0">
                <a:latin typeface="+mn-lt"/>
              </a:rPr>
              <a:t>s are more often written using WHERE clauses while </a:t>
            </a:r>
            <a:r>
              <a:rPr lang="en-GB" sz="1200" i="1" baseline="0" dirty="0">
                <a:latin typeface="+mn-lt"/>
              </a:rPr>
              <a:t>union</a:t>
            </a:r>
            <a:r>
              <a:rPr lang="en-GB" sz="1200" i="0" baseline="0" dirty="0">
                <a:latin typeface="+mn-lt"/>
              </a:rPr>
              <a:t>s can be very useful. </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endParaRPr lang="en-GB" sz="1200" i="0" baseline="0" dirty="0">
              <a:latin typeface="+mn-lt"/>
            </a:endParaRP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b="0" i="0" dirty="0">
                <a:solidFill>
                  <a:srgbClr val="040C28"/>
                </a:solidFill>
                <a:effectLst/>
                <a:latin typeface="Google Sans"/>
              </a:rPr>
              <a:t>The SQL JOIN is used when we have to extract data from more than one table</a:t>
            </a:r>
            <a:r>
              <a:rPr lang="en-GB" b="0" i="0" dirty="0">
                <a:solidFill>
                  <a:srgbClr val="202124"/>
                </a:solidFill>
                <a:effectLst/>
                <a:highlight>
                  <a:srgbClr val="FFFFFF"/>
                </a:highlight>
                <a:latin typeface="Google Sans"/>
              </a:rPr>
              <a:t>. The SQL UNION is used when we have to display the results of two or more SELECT statements. In the case of SQL JOINS, the records are combined into new columns. In the case of SQL UNION, the records are combined into new rows.</a:t>
            </a:r>
            <a:endParaRPr lang="en-GB" sz="1200" dirty="0">
              <a:latin typeface="+mn-lt"/>
            </a:endParaRPr>
          </a:p>
        </p:txBody>
      </p:sp>
    </p:spTree>
    <p:extLst>
      <p:ext uri="{BB962C8B-B14F-4D97-AF65-F5344CB8AC3E}">
        <p14:creationId xmlns:p14="http://schemas.microsoft.com/office/powerpoint/2010/main" val="1281847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p:spPr>
        <p:txBody>
          <a:bodyPr/>
          <a:lstStyle/>
          <a:p>
            <a:r>
              <a:rPr lang="en-GB" sz="1200" dirty="0">
                <a:latin typeface="+mn-lt"/>
              </a:rPr>
              <a:t>Using two tables the </a:t>
            </a:r>
            <a:r>
              <a:rPr lang="en-GB" sz="1200" b="0" i="1" dirty="0">
                <a:latin typeface="+mn-lt"/>
              </a:rPr>
              <a:t>EXCEPT</a:t>
            </a:r>
            <a:r>
              <a:rPr lang="en-GB" sz="1200" dirty="0">
                <a:latin typeface="+mn-lt"/>
              </a:rPr>
              <a:t> returns rows that exist in the first table but not in the second. As with a UNION, columns in the select list must match in quantity and data type. It is something like a set-based subtraction.</a:t>
            </a:r>
          </a:p>
          <a:p>
            <a:endParaRPr lang="en-GB" sz="1200" dirty="0">
              <a:latin typeface="+mn-lt"/>
            </a:endParaRPr>
          </a:p>
          <a:p>
            <a:r>
              <a:rPr lang="en-GB" sz="1200" dirty="0">
                <a:latin typeface="+mn-lt"/>
              </a:rPr>
              <a:t>The query below returns the ProductID of all products that with a list price greater than 100 that </a:t>
            </a:r>
            <a:r>
              <a:rPr lang="en-GB" sz="1200" i="1" dirty="0">
                <a:latin typeface="+mn-lt"/>
              </a:rPr>
              <a:t>have not </a:t>
            </a:r>
            <a:r>
              <a:rPr lang="en-GB" sz="1200" dirty="0">
                <a:latin typeface="+mn-lt"/>
              </a:rPr>
              <a:t>sold more than 700 units:</a:t>
            </a:r>
          </a:p>
          <a:p>
            <a:endParaRPr lang="en-GB" sz="1200" dirty="0">
              <a:latin typeface="+mn-lt"/>
            </a:endParaRPr>
          </a:p>
          <a:p>
            <a:r>
              <a:rPr lang="en-GB" sz="1200" dirty="0">
                <a:latin typeface="+mn-lt"/>
                <a:cs typeface="Consolas" pitchFamily="49" charset="0"/>
              </a:rPr>
              <a:t>SELECT ProductID</a:t>
            </a:r>
          </a:p>
          <a:p>
            <a:r>
              <a:rPr lang="en-GB" sz="1200" dirty="0">
                <a:latin typeface="+mn-lt"/>
                <a:cs typeface="Consolas" pitchFamily="49" charset="0"/>
              </a:rPr>
              <a:t>FROM dbo.Products</a:t>
            </a:r>
          </a:p>
          <a:p>
            <a:r>
              <a:rPr lang="en-GB" sz="1200" dirty="0">
                <a:latin typeface="+mn-lt"/>
                <a:cs typeface="Consolas" pitchFamily="49" charset="0"/>
              </a:rPr>
              <a:t>WHERE</a:t>
            </a:r>
            <a:r>
              <a:rPr lang="en-GB" sz="1200" baseline="0" dirty="0">
                <a:latin typeface="+mn-lt"/>
                <a:cs typeface="Consolas" pitchFamily="49" charset="0"/>
              </a:rPr>
              <a:t> </a:t>
            </a:r>
            <a:r>
              <a:rPr lang="en-GB" sz="1200" dirty="0">
                <a:latin typeface="+mn-lt"/>
                <a:cs typeface="Consolas" pitchFamily="49" charset="0"/>
              </a:rPr>
              <a:t>UnitPrice &gt; 100</a:t>
            </a:r>
          </a:p>
          <a:p>
            <a:r>
              <a:rPr lang="en-GB" sz="1200" dirty="0">
                <a:latin typeface="+mn-lt"/>
                <a:cs typeface="Consolas" pitchFamily="49" charset="0"/>
              </a:rPr>
              <a:t>EXCEPT</a:t>
            </a:r>
          </a:p>
          <a:p>
            <a:r>
              <a:rPr lang="en-GB" sz="1200" dirty="0">
                <a:latin typeface="+mn-lt"/>
                <a:cs typeface="Consolas" pitchFamily="49" charset="0"/>
              </a:rPr>
              <a:t>SELECT	ProductID</a:t>
            </a:r>
          </a:p>
          <a:p>
            <a:r>
              <a:rPr lang="en-GB" sz="1200" dirty="0">
                <a:latin typeface="+mn-lt"/>
                <a:cs typeface="Consolas" pitchFamily="49" charset="0"/>
              </a:rPr>
              <a:t>FROM dbo.[Order Details]</a:t>
            </a:r>
          </a:p>
          <a:p>
            <a:r>
              <a:rPr lang="en-GB" sz="1200" dirty="0">
                <a:latin typeface="+mn-lt"/>
                <a:cs typeface="Consolas" pitchFamily="49" charset="0"/>
              </a:rPr>
              <a:t>GROUP BY ProductID</a:t>
            </a:r>
          </a:p>
          <a:p>
            <a:r>
              <a:rPr lang="en-GB" sz="1200" dirty="0">
                <a:latin typeface="+mn-lt"/>
                <a:cs typeface="Consolas" pitchFamily="49" charset="0"/>
              </a:rPr>
              <a:t>HAVING SUM(Quantity) &gt; 700</a:t>
            </a:r>
          </a:p>
          <a:p>
            <a:endParaRPr lang="en-GB" sz="1200" dirty="0">
              <a:latin typeface="+mn-lt"/>
              <a:cs typeface="Consolas" pitchFamily="49" charset="0"/>
            </a:endParaRPr>
          </a:p>
          <a:p>
            <a:r>
              <a:rPr lang="en-GB" sz="1200" dirty="0">
                <a:latin typeface="+mn-lt"/>
              </a:rPr>
              <a:t>This query should return 1 row – ProductID 38. It could be rewritten</a:t>
            </a:r>
            <a:r>
              <a:rPr lang="en-GB" sz="1200" baseline="0" dirty="0">
                <a:latin typeface="+mn-lt"/>
              </a:rPr>
              <a:t> using joins, which would also enable us to get more columns back in the results:</a:t>
            </a:r>
          </a:p>
          <a:p>
            <a:endParaRPr lang="en-GB" sz="1200" baseline="0" dirty="0">
              <a:latin typeface="+mn-lt"/>
            </a:endParaRPr>
          </a:p>
          <a:p>
            <a:r>
              <a:rPr lang="en-GB" sz="1200" dirty="0">
                <a:latin typeface="+mn-lt"/>
                <a:cs typeface="Consolas" pitchFamily="49" charset="0"/>
              </a:rPr>
              <a:t>SELECT p.ProductID, p.UnitPrice, SUM(Quantity) AS TotalSold</a:t>
            </a:r>
          </a:p>
          <a:p>
            <a:r>
              <a:rPr lang="en-GB" sz="1200" dirty="0">
                <a:latin typeface="+mn-lt"/>
                <a:cs typeface="Consolas" pitchFamily="49" charset="0"/>
              </a:rPr>
              <a:t>FROM dbo.Products AS p</a:t>
            </a:r>
          </a:p>
          <a:p>
            <a:r>
              <a:rPr lang="en-GB" sz="1200" dirty="0">
                <a:latin typeface="+mn-lt"/>
                <a:cs typeface="Consolas" pitchFamily="49" charset="0"/>
              </a:rPr>
              <a:t>JOIN dbo.[Order Details] AS od</a:t>
            </a:r>
          </a:p>
          <a:p>
            <a:r>
              <a:rPr lang="en-GB" sz="1200" dirty="0">
                <a:latin typeface="+mn-lt"/>
                <a:cs typeface="Consolas" pitchFamily="49" charset="0"/>
              </a:rPr>
              <a:t>ON p.ProductID = od.ProductID</a:t>
            </a:r>
          </a:p>
          <a:p>
            <a:r>
              <a:rPr lang="en-GB" sz="1200" dirty="0">
                <a:latin typeface="+mn-lt"/>
                <a:cs typeface="Consolas" pitchFamily="49" charset="0"/>
              </a:rPr>
              <a:t>WHERE p.UnitPrice &gt; 100</a:t>
            </a:r>
          </a:p>
          <a:p>
            <a:r>
              <a:rPr lang="en-GB" sz="1200" dirty="0">
                <a:latin typeface="+mn-lt"/>
                <a:cs typeface="Consolas" pitchFamily="49" charset="0"/>
              </a:rPr>
              <a:t>GROUP BY p.ProductID, p.UnitPrice</a:t>
            </a:r>
          </a:p>
          <a:p>
            <a:r>
              <a:rPr lang="en-GB" sz="1200" dirty="0">
                <a:latin typeface="+mn-lt"/>
                <a:cs typeface="Consolas" pitchFamily="49" charset="0"/>
              </a:rPr>
              <a:t>HAVING SUM(Quantity) &lt;= 700</a:t>
            </a:r>
          </a:p>
        </p:txBody>
      </p:sp>
    </p:spTree>
    <p:extLst>
      <p:ext uri="{BB962C8B-B14F-4D97-AF65-F5344CB8AC3E}">
        <p14:creationId xmlns:p14="http://schemas.microsoft.com/office/powerpoint/2010/main" val="3712092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p:spPr>
        <p:txBody>
          <a:bodyPr/>
          <a:lstStyle/>
          <a:p>
            <a:r>
              <a:rPr lang="en-GB" sz="1200" dirty="0">
                <a:latin typeface="+mn-lt"/>
              </a:rPr>
              <a:t>Using two tables the </a:t>
            </a:r>
            <a:r>
              <a:rPr lang="en-GB" sz="1200" b="0" i="1" dirty="0">
                <a:latin typeface="+mn-lt"/>
              </a:rPr>
              <a:t>INTERSECT</a:t>
            </a:r>
            <a:r>
              <a:rPr lang="en-GB" sz="1200" dirty="0">
                <a:latin typeface="+mn-lt"/>
              </a:rPr>
              <a:t> returns rows that exist in both tables. Columns in the select list must match in quantity and data type.</a:t>
            </a:r>
          </a:p>
          <a:p>
            <a:endParaRPr lang="en-GB" sz="1200" dirty="0">
              <a:latin typeface="+mn-lt"/>
            </a:endParaRPr>
          </a:p>
          <a:p>
            <a:r>
              <a:rPr lang="en-GB" sz="1200" dirty="0">
                <a:latin typeface="+mn-lt"/>
              </a:rPr>
              <a:t>The query below returns the ProductID of all products that with a list price greater than 100 that </a:t>
            </a:r>
            <a:r>
              <a:rPr lang="en-GB" sz="1200" i="1" dirty="0">
                <a:latin typeface="+mn-lt"/>
              </a:rPr>
              <a:t>have </a:t>
            </a:r>
            <a:r>
              <a:rPr lang="en-GB" sz="1200" dirty="0">
                <a:latin typeface="+mn-lt"/>
              </a:rPr>
              <a:t>sold more than 700 units:</a:t>
            </a:r>
          </a:p>
          <a:p>
            <a:endParaRPr lang="en-GB" sz="1200" dirty="0">
              <a:latin typeface="+mn-lt"/>
            </a:endParaRPr>
          </a:p>
          <a:p>
            <a:r>
              <a:rPr lang="en-GB" sz="1200" dirty="0">
                <a:latin typeface="+mn-lt"/>
                <a:cs typeface="Consolas" pitchFamily="49" charset="0"/>
              </a:rPr>
              <a:t>SELECT ProductID</a:t>
            </a:r>
          </a:p>
          <a:p>
            <a:r>
              <a:rPr lang="en-GB" sz="1200" dirty="0">
                <a:latin typeface="+mn-lt"/>
                <a:cs typeface="Consolas" pitchFamily="49" charset="0"/>
              </a:rPr>
              <a:t>FROM dbo.Products</a:t>
            </a:r>
          </a:p>
          <a:p>
            <a:r>
              <a:rPr lang="en-GB" sz="1200" dirty="0">
                <a:latin typeface="+mn-lt"/>
                <a:cs typeface="Consolas" pitchFamily="49" charset="0"/>
              </a:rPr>
              <a:t>WHERE</a:t>
            </a:r>
            <a:r>
              <a:rPr lang="en-GB" sz="1200" baseline="0" dirty="0">
                <a:latin typeface="+mn-lt"/>
                <a:cs typeface="Consolas" pitchFamily="49" charset="0"/>
              </a:rPr>
              <a:t> </a:t>
            </a:r>
            <a:r>
              <a:rPr lang="en-GB" sz="1200" dirty="0">
                <a:latin typeface="+mn-lt"/>
                <a:cs typeface="Consolas" pitchFamily="49" charset="0"/>
              </a:rPr>
              <a:t>UnitPrice &gt; 100</a:t>
            </a:r>
          </a:p>
          <a:p>
            <a:r>
              <a:rPr lang="en-GB" sz="1200" dirty="0">
                <a:latin typeface="+mn-lt"/>
                <a:cs typeface="Consolas" pitchFamily="49" charset="0"/>
              </a:rPr>
              <a:t>INTERSECT</a:t>
            </a:r>
          </a:p>
          <a:p>
            <a:r>
              <a:rPr lang="en-GB" sz="1200" dirty="0">
                <a:latin typeface="+mn-lt"/>
                <a:cs typeface="Consolas" pitchFamily="49" charset="0"/>
              </a:rPr>
              <a:t>SELECT	ProductID</a:t>
            </a:r>
          </a:p>
          <a:p>
            <a:r>
              <a:rPr lang="en-GB" sz="1200" dirty="0">
                <a:latin typeface="+mn-lt"/>
                <a:cs typeface="Consolas" pitchFamily="49" charset="0"/>
              </a:rPr>
              <a:t>FROM dbo.[Order Details]</a:t>
            </a:r>
          </a:p>
          <a:p>
            <a:r>
              <a:rPr lang="en-GB" sz="1200" dirty="0">
                <a:latin typeface="+mn-lt"/>
                <a:cs typeface="Consolas" pitchFamily="49" charset="0"/>
              </a:rPr>
              <a:t>GROUP BY ProductID</a:t>
            </a:r>
          </a:p>
          <a:p>
            <a:r>
              <a:rPr lang="en-GB" sz="1200" dirty="0">
                <a:latin typeface="+mn-lt"/>
                <a:cs typeface="Consolas" pitchFamily="49" charset="0"/>
              </a:rPr>
              <a:t>HAVING SUM(Quantity) &gt; 700</a:t>
            </a:r>
          </a:p>
          <a:p>
            <a:endParaRPr lang="en-GB" sz="1200" dirty="0">
              <a:latin typeface="+mn-lt"/>
              <a:cs typeface="Consolas" pitchFamily="49" charset="0"/>
            </a:endParaRP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ProductName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UnitPrice</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from</a:t>
            </a:r>
            <a:r>
              <a:rPr lang="en-GB" sz="1800" dirty="0">
                <a:solidFill>
                  <a:srgbClr val="000000"/>
                </a:solidFill>
                <a:latin typeface="Consolas" panose="020B0609020204030204" pitchFamily="49" charset="0"/>
              </a:rPr>
              <a:t> Products</a:t>
            </a:r>
          </a:p>
          <a:p>
            <a:r>
              <a:rPr lang="en-GB" sz="1800" dirty="0">
                <a:solidFill>
                  <a:srgbClr val="0000FF"/>
                </a:solidFill>
                <a:latin typeface="Consolas" panose="020B0609020204030204" pitchFamily="49" charset="0"/>
              </a:rPr>
              <a:t>Where</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ProductID</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29</a:t>
            </a:r>
            <a:endParaRPr lang="en-GB" sz="1200" dirty="0">
              <a:latin typeface="+mn-lt"/>
              <a:cs typeface="Consolas" pitchFamily="49" charset="0"/>
            </a:endParaRPr>
          </a:p>
          <a:p>
            <a:endParaRPr lang="en-GB" sz="1200" dirty="0">
              <a:latin typeface="+mn-lt"/>
              <a:cs typeface="Consolas" pitchFamily="49" charset="0"/>
            </a:endParaRPr>
          </a:p>
          <a:p>
            <a:r>
              <a:rPr lang="en-GB" sz="1200" dirty="0">
                <a:latin typeface="+mn-lt"/>
              </a:rPr>
              <a:t>This query should return 1 row – ProductID 29. It could be rewritten</a:t>
            </a:r>
            <a:r>
              <a:rPr lang="en-GB" sz="1200" baseline="0" dirty="0">
                <a:latin typeface="+mn-lt"/>
              </a:rPr>
              <a:t> using joins, which would also enable us to get more columns back in the results:</a:t>
            </a:r>
          </a:p>
          <a:p>
            <a:endParaRPr lang="en-GB" sz="1200" baseline="0" dirty="0">
              <a:latin typeface="+mn-lt"/>
            </a:endParaRPr>
          </a:p>
          <a:p>
            <a:r>
              <a:rPr lang="en-GB" sz="1200" dirty="0">
                <a:latin typeface="+mn-lt"/>
                <a:cs typeface="Consolas" pitchFamily="49" charset="0"/>
              </a:rPr>
              <a:t>SELECT p.ProductID, p.UnitPrice, SUM(Quantity) AS TotalSold</a:t>
            </a:r>
          </a:p>
          <a:p>
            <a:r>
              <a:rPr lang="en-GB" sz="1200" dirty="0">
                <a:latin typeface="+mn-lt"/>
                <a:cs typeface="Consolas" pitchFamily="49" charset="0"/>
              </a:rPr>
              <a:t>FROM dbo.Products AS p</a:t>
            </a:r>
          </a:p>
          <a:p>
            <a:r>
              <a:rPr lang="en-GB" sz="1200" dirty="0">
                <a:latin typeface="+mn-lt"/>
                <a:cs typeface="Consolas" pitchFamily="49" charset="0"/>
              </a:rPr>
              <a:t>JOIN dbo.[Order Details] AS od</a:t>
            </a:r>
          </a:p>
          <a:p>
            <a:r>
              <a:rPr lang="en-GB" sz="1200" dirty="0">
                <a:latin typeface="+mn-lt"/>
                <a:cs typeface="Consolas" pitchFamily="49" charset="0"/>
              </a:rPr>
              <a:t>ON p.ProductID = od.ProductID</a:t>
            </a:r>
          </a:p>
          <a:p>
            <a:r>
              <a:rPr lang="en-GB" sz="1200" dirty="0">
                <a:latin typeface="+mn-lt"/>
                <a:cs typeface="Consolas" pitchFamily="49" charset="0"/>
              </a:rPr>
              <a:t>WHERE p.UnitPrice &gt; 100</a:t>
            </a:r>
          </a:p>
          <a:p>
            <a:r>
              <a:rPr lang="en-GB" sz="1200" dirty="0">
                <a:latin typeface="+mn-lt"/>
                <a:cs typeface="Consolas" pitchFamily="49" charset="0"/>
              </a:rPr>
              <a:t>GROUP BY p.ProductID, p.UnitPrice</a:t>
            </a:r>
          </a:p>
          <a:p>
            <a:r>
              <a:rPr lang="en-GB" sz="1200" dirty="0">
                <a:latin typeface="+mn-lt"/>
                <a:cs typeface="Consolas" pitchFamily="49" charset="0"/>
              </a:rPr>
              <a:t>HAVING SUM(Quantity) &gt; 700</a:t>
            </a:r>
          </a:p>
          <a:p>
            <a:endParaRPr lang="en-GB" sz="1200" dirty="0">
              <a:latin typeface="+mn-lt"/>
              <a:cs typeface="Consolas" pitchFamily="49" charset="0"/>
            </a:endParaRPr>
          </a:p>
          <a:p>
            <a:endParaRPr lang="en-GB" sz="1200" dirty="0">
              <a:latin typeface="+mn-lt"/>
              <a:cs typeface="Consolas" pitchFamily="49" charset="0"/>
            </a:endParaRPr>
          </a:p>
          <a:p>
            <a:r>
              <a:rPr lang="en-GB" b="0" i="0" dirty="0">
                <a:solidFill>
                  <a:srgbClr val="040C28"/>
                </a:solidFill>
                <a:effectLst/>
                <a:latin typeface="Google Sans"/>
              </a:rPr>
              <a:t>INNER JOIN blends data from multiple tables, creating one comprehensive result.</a:t>
            </a:r>
            <a:r>
              <a:rPr lang="en-GB" b="0" i="0" dirty="0">
                <a:solidFill>
                  <a:srgbClr val="202124"/>
                </a:solidFill>
                <a:effectLst/>
                <a:latin typeface="Google Sans"/>
              </a:rPr>
              <a:t> </a:t>
            </a:r>
            <a:r>
              <a:rPr lang="en-GB" b="0" i="0" dirty="0">
                <a:solidFill>
                  <a:srgbClr val="040C28"/>
                </a:solidFill>
                <a:effectLst/>
                <a:latin typeface="Google Sans"/>
              </a:rPr>
              <a:t>In contrast, INTERSECT focuses on common rows between SELECT statements</a:t>
            </a:r>
            <a:r>
              <a:rPr lang="en-GB" b="0" i="0" dirty="0">
                <a:solidFill>
                  <a:srgbClr val="202124"/>
                </a:solidFill>
                <a:effectLst/>
                <a:latin typeface="Google Sans"/>
              </a:rPr>
              <a:t>. INNER JOIN relies on a shared column or field to connect tables, while INTERSECT works based on the structure of SELECT statements</a:t>
            </a:r>
            <a:endParaRPr lang="en-GB" sz="1200" dirty="0">
              <a:latin typeface="+mn-lt"/>
              <a:cs typeface="Consolas" pitchFamily="49" charset="0"/>
            </a:endParaRPr>
          </a:p>
        </p:txBody>
      </p:sp>
    </p:spTree>
    <p:extLst>
      <p:ext uri="{BB962C8B-B14F-4D97-AF65-F5344CB8AC3E}">
        <p14:creationId xmlns:p14="http://schemas.microsoft.com/office/powerpoint/2010/main" val="3464579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21</a:t>
            </a:fld>
            <a:endParaRPr lang="en-GB"/>
          </a:p>
        </p:txBody>
      </p:sp>
    </p:spTree>
    <p:extLst>
      <p:ext uri="{BB962C8B-B14F-4D97-AF65-F5344CB8AC3E}">
        <p14:creationId xmlns:p14="http://schemas.microsoft.com/office/powerpoint/2010/main" val="2237859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861576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568465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907073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2643027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eader - Red">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14383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1ARROW">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410989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45193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84926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25417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92691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userDrawn="1"/>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4113690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174727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1788850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9601676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07542970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9774471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511476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pic>
        <p:nvPicPr>
          <p:cNvPr id="1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
        <p:nvSpPr>
          <p:cNvPr id="3" name="Title Placeholder 1">
            <a:extLst>
              <a:ext uri="{FF2B5EF4-FFF2-40B4-BE49-F238E27FC236}">
                <a16:creationId xmlns:a16="http://schemas.microsoft.com/office/drawing/2014/main" id="{62421104-899E-4F1E-9A2F-57175A8CFD01}"/>
              </a:ext>
            </a:extLst>
          </p:cNvPr>
          <p:cNvSpPr txBox="1">
            <a:spLocks/>
          </p:cNvSpPr>
          <p:nvPr userDrawn="1"/>
        </p:nvSpPr>
        <p:spPr>
          <a:xfrm>
            <a:off x="1198387"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sp>
        <p:nvSpPr>
          <p:cNvPr id="4" name="Slide Number Placeholder 5">
            <a:extLst>
              <a:ext uri="{FF2B5EF4-FFF2-40B4-BE49-F238E27FC236}">
                <a16:creationId xmlns:a16="http://schemas.microsoft.com/office/drawing/2014/main" id="{8BF3B38F-9248-4518-960F-EDA7B13F7B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8096321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13284303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30174723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92305811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8512176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730209267"/>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0112148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32317" y="1071563"/>
            <a:ext cx="5704416" cy="5568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9934" y="1071563"/>
            <a:ext cx="5704417" cy="5568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23288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18882814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07254197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6162C174-BF5A-4194-BC6C-B1D4B56734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6">
            <a:extLst>
              <a:ext uri="{FF2B5EF4-FFF2-40B4-BE49-F238E27FC236}">
                <a16:creationId xmlns:a16="http://schemas.microsoft.com/office/drawing/2014/main" id="{70AB5B51-72D8-4473-94F4-AF1E267C458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837107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B3A2A039-D599-4D76-8124-504B5075C5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B3A548B-2F5E-4EDE-B435-EFC29196AFD2}"/>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5175998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1684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B3622C14-6CAE-4F48-B751-E9E621B2C95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A62CD8E-3A81-48BD-84FE-755B7D0788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449569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9B411762-86B8-4A94-AA95-CCF2281698A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987461D-5441-4AD2-8665-A7A3D3A4D9C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13654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87D866A2-1500-436A-A186-3C20EE4D5C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A433F1-ACA3-4D3D-8AFF-6E3BE26B065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349946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EAE9C79-14B5-44C7-8FA5-E4D6103A0E3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C2C66C0C-8E65-4B91-9008-87E53A07C0A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9672780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04D412BD-43D3-4A43-9346-908171D3BC7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3C23A046-21AC-4DAE-8154-4FE4D01B9A9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2F600B5F-7713-43B9-8473-50A216B6C64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1645895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A302942E-CE85-4C6C-9028-B98821F8F2D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AFDE34FD-D516-4C25-82B2-09E27AA0E72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D5CAFD6D-3AC9-43A7-88AB-26FD7F8FC6C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9297930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17EBA526-60BF-4958-81B9-EA46732F17C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1054D9-60B5-41F3-984B-AF6E5FE5F84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3E84D21-72B4-491E-ACF0-23B74A3E3FE6}"/>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31891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0" name="Slide Number Placeholder 5">
            <a:extLst>
              <a:ext uri="{FF2B5EF4-FFF2-40B4-BE49-F238E27FC236}">
                <a16:creationId xmlns:a16="http://schemas.microsoft.com/office/drawing/2014/main" id="{79DCD36C-45A5-4076-B40F-7B2A5A6FCFD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3CD4607-1DFA-4DA2-A302-14AA7E741AA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69C9A809-5A3F-46CE-93A1-B61856B8EA0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8200864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2464811-C3A4-4C43-85CA-DDE34ABA64F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D077554B-9AB3-4001-A116-3414FBC11D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55FEE24A-E749-4DC2-B881-5A1436F05D5C}"/>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010079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FD99CE6E-A64E-4704-AF9F-FFB00E94D7A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A589C6D-0204-47CC-87FF-FB0EB802152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2EC17026-9507-409A-81BC-59EFD639EE11}"/>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7173593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26E6605E-98CF-4395-9DE0-09CC469435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33EE44F-4E4B-4653-9358-84B9BA39102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2626092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5">
            <a:extLst>
              <a:ext uri="{FF2B5EF4-FFF2-40B4-BE49-F238E27FC236}">
                <a16:creationId xmlns:a16="http://schemas.microsoft.com/office/drawing/2014/main" id="{CB0CA267-7521-4244-9705-1A256E86313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A6E7854-1462-4248-9497-C8C510D5E904}"/>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9937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7" name="Slide Number Placeholder 5">
            <a:extLst>
              <a:ext uri="{FF2B5EF4-FFF2-40B4-BE49-F238E27FC236}">
                <a16:creationId xmlns:a16="http://schemas.microsoft.com/office/drawing/2014/main" id="{ED95F8AE-8762-4F39-B239-68E1547B153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BA6F235-3973-48D8-B2CC-D1C3A5A7FF3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6289334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77089E4-D435-4929-8AC4-34D75682B0E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6223DB9-3B28-4A1C-AF77-040989A89C20}"/>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C89BF57C-9A63-4BD2-BE5E-6C985D4ACD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270280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F4B9FA5E-F6D9-41E1-AB1A-0DF3518A321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5D3749E-0BC5-465D-A75B-AEC2DF19C16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9F7A3913-1B98-4C5D-8011-58DA120BBE6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275953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C4304140-66DF-4600-A913-2FE16EE8D7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94BDB016-508C-4776-BAF5-402A02267F01}"/>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B909995E-F976-4C7D-8CFA-5515B97460E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8057130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0" y="5523689"/>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Slide Number Placeholder 5">
            <a:extLst>
              <a:ext uri="{FF2B5EF4-FFF2-40B4-BE49-F238E27FC236}">
                <a16:creationId xmlns:a16="http://schemas.microsoft.com/office/drawing/2014/main" id="{59589677-251F-470E-9AA6-4D13BF7FABA0}"/>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918F955-2B32-48D1-8D99-B25B656F3CDA}"/>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5F2BCBA9-38AC-4EB6-A0FA-5CD919F5E66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01002887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6" name="Slide Number Placeholder 5">
            <a:extLst>
              <a:ext uri="{FF2B5EF4-FFF2-40B4-BE49-F238E27FC236}">
                <a16:creationId xmlns:a16="http://schemas.microsoft.com/office/drawing/2014/main" id="{62D0FD9B-3A7B-4AD3-AF69-81B1DB3B7DC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B9FE1B0-D8B0-4E06-93F5-0A82852A8743}"/>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901201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F9D7AB20-841B-473D-A32A-6F69250CA67F}"/>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76C196FA-3B7D-4C82-8883-8F2013A2765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061378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Arrow Left 06">
    <p:spTree>
      <p:nvGrpSpPr>
        <p:cNvPr id="1" name=""/>
        <p:cNvGrpSpPr/>
        <p:nvPr/>
      </p:nvGrpSpPr>
      <p:grpSpPr>
        <a:xfrm>
          <a:off x="0" y="0"/>
          <a:ext cx="0" cy="0"/>
          <a:chOff x="0" y="0"/>
          <a:chExt cx="0" cy="0"/>
        </a:xfrm>
      </p:grpSpPr>
      <p:grpSp>
        <p:nvGrpSpPr>
          <p:cNvPr id="19" name="Group 18"/>
          <p:cNvGrpSpPr/>
          <p:nvPr userDrawn="1"/>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E8E8E948-8BC8-4DC2-8EA6-D6D12C7B44A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206BDD-4CAD-4240-8289-65D6D1D0A6C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2127470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CC2B73AC-F2E0-442D-B9C4-65D5AD1A0967}"/>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CFC6B97-40BB-4EAB-A33D-8398BEE6A91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7543005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08137084-0666-4AB6-A15C-58BA10ECC343}"/>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B8430456-322C-496E-9439-7335E15B26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7DE75644-A55F-4F09-A532-80ED1D4604E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2112103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5">
            <a:extLst>
              <a:ext uri="{FF2B5EF4-FFF2-40B4-BE49-F238E27FC236}">
                <a16:creationId xmlns:a16="http://schemas.microsoft.com/office/drawing/2014/main" id="{0DE094E3-CE25-440F-B8A8-1CA329D5AAFA}"/>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249157EC-B9A8-478B-B1F3-B2A9D86D24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7F4CD14E-E0F2-49B7-93CC-478A6100430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8559302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07D33088-E4C8-4FF8-824B-9F688A8163CB}"/>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A0F24479-1F81-40E3-89A1-F1875ADD43C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5935BB6-5CCF-4418-A1AD-7CC46A8A5E1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7344414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92260E9D-886F-4C37-909F-86CB02C602F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488AF78-499E-480C-9653-A23A983DC2F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9870052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0EF663F-3A21-46DD-B058-26447AC846E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6">
            <a:extLst>
              <a:ext uri="{FF2B5EF4-FFF2-40B4-BE49-F238E27FC236}">
                <a16:creationId xmlns:a16="http://schemas.microsoft.com/office/drawing/2014/main" id="{E97A60B7-7703-48EE-BEE3-573BFBF6742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609841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36000C67-7602-4BCB-9279-C3575014D3D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83341C2A-73FF-4BE5-8452-230916D7E6A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141691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xt Slide A">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a:extLst>
              <a:ext uri="{28A0092B-C50C-407E-A947-70E740481C1C}">
                <a14:useLocalDpi xmlns:a14="http://schemas.microsoft.com/office/drawing/2010/main" val="0"/>
              </a:ext>
            </a:extLst>
          </a:blip>
          <a:srcRect l="42453"/>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408B1376-9C9D-45E5-9BBE-71B21FC9A52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1E50EA61-94E4-4825-90F9-9FB7F4E8F34D}"/>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27272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9" name="Slide Number Placeholder 5">
            <a:extLst>
              <a:ext uri="{FF2B5EF4-FFF2-40B4-BE49-F238E27FC236}">
                <a16:creationId xmlns:a16="http://schemas.microsoft.com/office/drawing/2014/main" id="{D9AE5860-C0B6-4F89-AE77-B2F4760B59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4" name="Text Placeholder 7">
            <a:extLst>
              <a:ext uri="{FF2B5EF4-FFF2-40B4-BE49-F238E27FC236}">
                <a16:creationId xmlns:a16="http://schemas.microsoft.com/office/drawing/2014/main" id="{4759352F-E67E-4FE9-8363-4452B1CC29C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8961312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9F4F082C-21A3-4795-85E7-493095ABBE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6EBB4AF7-2E97-4705-8E23-69D0121E65FA}"/>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FFC37F7E-8509-4F7C-9153-35620AE50A4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740001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63C0A894-CE35-4D5D-8748-553B91B4F5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8" name="Text Placeholder 2">
            <a:extLst>
              <a:ext uri="{FF2B5EF4-FFF2-40B4-BE49-F238E27FC236}">
                <a16:creationId xmlns:a16="http://schemas.microsoft.com/office/drawing/2014/main" id="{0F2D5D8A-AFE9-4D9A-B04C-8A0BB5E629A9}"/>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9" name="Text Placeholder 7">
            <a:extLst>
              <a:ext uri="{FF2B5EF4-FFF2-40B4-BE49-F238E27FC236}">
                <a16:creationId xmlns:a16="http://schemas.microsoft.com/office/drawing/2014/main" id="{6D2A3021-76D5-4427-B3CB-789B0FA1F2F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9994566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Slide Number Placeholder 5">
            <a:extLst>
              <a:ext uri="{FF2B5EF4-FFF2-40B4-BE49-F238E27FC236}">
                <a16:creationId xmlns:a16="http://schemas.microsoft.com/office/drawing/2014/main" id="{3373DA12-ED5E-4FF3-9F6C-A932CC1C5AB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7">
            <a:extLst>
              <a:ext uri="{FF2B5EF4-FFF2-40B4-BE49-F238E27FC236}">
                <a16:creationId xmlns:a16="http://schemas.microsoft.com/office/drawing/2014/main" id="{798DD8AB-C99D-45F0-B8BC-AE12BB8090F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3822291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6" name="Slide Number Placeholder 5">
            <a:extLst>
              <a:ext uri="{FF2B5EF4-FFF2-40B4-BE49-F238E27FC236}">
                <a16:creationId xmlns:a16="http://schemas.microsoft.com/office/drawing/2014/main" id="{B2E02014-5771-41F0-9083-A94B1449F27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EC879EDE-DC9B-4B44-9F37-A58CA524CA70}"/>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035101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0BD3CBC6-0348-4ED0-BA6D-3BF82E7D10E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679F881A-B30C-494F-9A57-517FCF4905C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1214479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292F7B73-6958-4A1B-B8CA-0F5A9E902A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1B248D0-3729-477D-A45B-4AC82FDBBD7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98963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A120D91C-D1E9-43DD-9588-6136E19DC5B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721D982-41CB-4649-9208-82A8115B6F0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220753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lide Number Placeholder 5">
            <a:extLst>
              <a:ext uri="{FF2B5EF4-FFF2-40B4-BE49-F238E27FC236}">
                <a16:creationId xmlns:a16="http://schemas.microsoft.com/office/drawing/2014/main" id="{3CEE3D7F-91EC-47CB-86E2-77D5DE1A207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A12DBF6-DDF6-4705-B10E-4742D0F2A73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13F4F259-26B2-4677-AE17-D14181EB82F5}"/>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5761684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9B2D9328-9CFC-4681-96FF-77C4AB52BC7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F0F8BB63-A7D0-443F-A4D9-CBEDEBA89F97}"/>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0B92FB0B-A9D4-4957-A766-FEAFF10CA7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606746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C562CB5-885C-4340-835C-442D717FB94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FBA81F6-8E89-4DB2-BA0B-73E3237A970B}"/>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94E6F44B-181A-448F-A307-E82F96114CE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282015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tents or agenda">
    <p:spTree>
      <p:nvGrpSpPr>
        <p:cNvPr id="1" name=""/>
        <p:cNvGrpSpPr/>
        <p:nvPr/>
      </p:nvGrpSpPr>
      <p:grpSpPr>
        <a:xfrm>
          <a:off x="0" y="0"/>
          <a:ext cx="0" cy="0"/>
          <a:chOff x="0" y="0"/>
          <a:chExt cx="0" cy="0"/>
        </a:xfrm>
      </p:grpSpPr>
      <p:cxnSp>
        <p:nvCxnSpPr>
          <p:cNvPr id="13" name="Straight Connector 12"/>
          <p:cNvCxnSpPr/>
          <p:nvPr userDrawn="1"/>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25" name="Slide Number Placeholder 5">
            <a:extLst>
              <a:ext uri="{FF2B5EF4-FFF2-40B4-BE49-F238E27FC236}">
                <a16:creationId xmlns:a16="http://schemas.microsoft.com/office/drawing/2014/main" id="{317F0D96-BC58-434E-BE95-7E87509486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571150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3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F3D00C54-118E-47F2-BEED-8C2514ED82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C66BE5F-2E76-4496-9234-6453A8DFEDD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092353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3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FBE6C43-DD0D-4FAF-9BD2-84E953FD64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5FD2FD3-6973-40C0-8977-F91621F33F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627565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3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378E8CD2-9C88-4163-A7EE-AB91D262A4E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0CE4796-16B1-4035-9A0B-84250F40DDFF}"/>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3858611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9F8E269A-2068-4C33-BD8C-91BB8F416E0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F8829AE8-ABF3-4C23-AFA7-F835134F767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16172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3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80C592A-34A2-4FBE-BBD0-1231F3D2AFE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DCFD92C0-4B59-40C7-8AFA-24EAB9A12F0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5734612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3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rgbClr val="20D3FF"/>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765166C1-B518-4008-A325-E242BC5976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4B83FEDD-C988-42F4-B20C-F32B64B8107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83861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3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F4D408FB-534C-495E-A01B-3A5252745D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815EACF-801C-42B6-9E09-8A49AFA339F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6508363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FC36E4D3-6B85-4E7A-A517-650651AC575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A4284CA-721A-46FE-91ED-BB203CE244E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87A4347C-EAF5-41E3-99B2-9B958C0543B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0262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8312FD13-97A1-4EBA-A95C-75C0B1FD9C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9E27B8-6E6D-4D7C-8511-4788542671BC}"/>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5E2F94A-6BD1-4809-8195-0CB493D728A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6055563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47A2DC30-C4F7-4157-9660-F0E750F90AC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48DBD0B-5C62-430B-A5E1-22B98F78BB7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FADBB4D-8AC1-40DF-B56E-CE3D9F96A5D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6793632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6F111D75-7F37-4729-97BD-3A53778CD2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7CC3E60-4992-48EA-A47D-023E5007E7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2" name="Text Placeholder 7">
            <a:extLst>
              <a:ext uri="{FF2B5EF4-FFF2-40B4-BE49-F238E27FC236}">
                <a16:creationId xmlns:a16="http://schemas.microsoft.com/office/drawing/2014/main" id="{143CA721-4441-4AC8-B4DE-721B4B5F0C32}"/>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008914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0D3FF"/>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04D90AE-C358-4B2C-A9CF-5507DB72915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E9284DC7-FDFA-4A70-82F3-A997EB41B738}"/>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D73A8DAF-2058-4022-B937-44F0E6A9589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144926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16E965C2-93DD-4C7A-8A12-F6B8FB6BF5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6D61C67-0401-4818-B951-6E0A37D6C1C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A0C0EFF0-5546-4493-A222-73F375FB5B7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2557328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4747046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69861294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48926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98190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7D686AB6-FF0C-4123-9325-1B0D3DE23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B2226ADB-845F-4C5C-A8EE-88BE65AB800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79761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339AB15F-03B0-4706-83CA-17272774B4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23A4B77-1686-450D-9C67-51B65F1B87B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96668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00988D2-82A2-458F-83C4-DDF528994F0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C859107-FD19-4226-A608-E9BE8671A66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2835526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E841C89-9FC5-43A4-844D-AB62CBC2EB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D4877454-100C-4E10-9A9E-F6AD2F2F9F84}"/>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437337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1AB162E7-8FD8-4304-8A81-63BF4C370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81FC4075-679E-4D60-938A-748CADDD962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53751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9E10B59E-1833-44B5-8681-D09E60BD3A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A44FD2F-A8A0-4406-A893-2B023C1FBA5F}"/>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474921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3695FF9-7CF7-4B5D-B88A-16EAD663D0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2B3D6DA-C005-419A-9A80-9FA360F7CB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016458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75D9748-2DD0-4FFA-A4DB-0870D106D5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FD08F0E-3E27-4620-A708-86D5F01A0B4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22970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5E0FDA98-D83C-4F8D-8C06-E1EC33D323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8C97BD8-4E1D-420B-BED8-058F92E1D6D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2354928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88F1BEC4-B7C8-40F3-80A4-023EE62D7FE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CCDF01D-4284-4B49-922B-CC5473380BB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9973240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C0D79F22-9145-4FB6-A417-23EAEBAE0E8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03F35AFB-525B-4610-8ABA-620C36499EE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6048820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D08D196-F460-485B-9B5F-F9309E615A4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CE46A15D-5D47-4F9D-AE82-7850CDF907EC}"/>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028553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AD2262-AEBC-4DD5-8680-6A6F55F047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FD150A3-A188-4177-AC97-4337644B63B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316697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A1DF176-8FAA-466E-A7A3-4168C09538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EC65070B-DD11-4B89-A8A8-6D8C6468C29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1587830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8AB7AED6-4DFA-4DBB-B3DC-591078FB0DD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9E3DC87-BE48-4B96-B86C-00DB8A66CF4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6367268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8F9D1C8-5795-4F0C-8DB2-F087692944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D5393A2A-51FC-43E8-88C3-4A77760C4527}"/>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19940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A4F5004-F0DD-4BC5-9E39-C91C6C0C954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E24FC32-9812-4DB8-8622-1007B7A817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169289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B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l="2277"/>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9" name="Slide Number Placeholder 5">
            <a:extLst>
              <a:ext uri="{FF2B5EF4-FFF2-40B4-BE49-F238E27FC236}">
                <a16:creationId xmlns:a16="http://schemas.microsoft.com/office/drawing/2014/main" id="{23D6ABAC-98C2-4A0D-8B8C-8A597A57D62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FD0FE0C-257E-4211-9CAC-9BA769FC94D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136583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B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7" name="Slide Number Placeholder 5">
            <a:extLst>
              <a:ext uri="{FF2B5EF4-FFF2-40B4-BE49-F238E27FC236}">
                <a16:creationId xmlns:a16="http://schemas.microsoft.com/office/drawing/2014/main" id="{ADB9D501-C2FE-4F4E-B0F6-FE58A17AB6F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FA961E50-B6CC-47F7-8DF6-C0AE1ADFAB7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568123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3F427447-CE66-4582-B744-A32983AD3D9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AF92F08D-E18C-48DE-85CF-0EEBD344D78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8723094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A6C8B8C-BDD5-43B9-8C27-354C810E1C4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67062943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1F0A2D-AF77-453A-A628-E5249AE85BC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022B908-BA31-4E35-AAA8-AA6869D9D896}"/>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895494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DAB8CF2-F221-497D-8A4A-9E369C2BEE1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7E3635FE-6F90-4286-8EBE-FEE651E560F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459391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ED3A38F4-26AB-473F-A76C-F9BCE73BE57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4EF76EF-23E8-4453-97F1-6B565EFFD6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7332470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rgbClr val="004050"/>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53D750DE-56D0-4BC9-AA2A-42BE390D295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5680B404-A54E-4E7E-8BBE-C0FAF5A135C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9405205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C313C4C-13AF-45F6-A71B-8AA193623E6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7FD30B99-C964-41A2-983E-292CAEE023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9131700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9" Type="http://schemas.openxmlformats.org/officeDocument/2006/relationships/slideLayout" Target="../slideLayouts/slideLayout66.xml"/><Relationship Id="rId21" Type="http://schemas.openxmlformats.org/officeDocument/2006/relationships/slideLayout" Target="../slideLayouts/slideLayout48.xml"/><Relationship Id="rId34" Type="http://schemas.openxmlformats.org/officeDocument/2006/relationships/slideLayout" Target="../slideLayouts/slideLayout61.xml"/><Relationship Id="rId42" Type="http://schemas.openxmlformats.org/officeDocument/2006/relationships/slideLayout" Target="../slideLayouts/slideLayout69.xml"/><Relationship Id="rId47" Type="http://schemas.openxmlformats.org/officeDocument/2006/relationships/slideLayout" Target="../slideLayouts/slideLayout74.xml"/><Relationship Id="rId50" Type="http://schemas.openxmlformats.org/officeDocument/2006/relationships/slideLayout" Target="../slideLayouts/slideLayout77.xml"/><Relationship Id="rId55" Type="http://schemas.openxmlformats.org/officeDocument/2006/relationships/slideLayout" Target="../slideLayouts/slideLayout82.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9" Type="http://schemas.openxmlformats.org/officeDocument/2006/relationships/slideLayout" Target="../slideLayouts/slideLayout56.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slideLayout" Target="../slideLayouts/slideLayout64.xml"/><Relationship Id="rId40" Type="http://schemas.openxmlformats.org/officeDocument/2006/relationships/slideLayout" Target="../slideLayouts/slideLayout67.xml"/><Relationship Id="rId45" Type="http://schemas.openxmlformats.org/officeDocument/2006/relationships/slideLayout" Target="../slideLayouts/slideLayout72.xml"/><Relationship Id="rId53" Type="http://schemas.openxmlformats.org/officeDocument/2006/relationships/slideLayout" Target="../slideLayouts/slideLayout80.xml"/><Relationship Id="rId58" Type="http://schemas.openxmlformats.org/officeDocument/2006/relationships/image" Target="../media/image1.png"/><Relationship Id="rId5" Type="http://schemas.openxmlformats.org/officeDocument/2006/relationships/slideLayout" Target="../slideLayouts/slideLayout32.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slideLayout" Target="../slideLayouts/slideLayout62.xml"/><Relationship Id="rId43" Type="http://schemas.openxmlformats.org/officeDocument/2006/relationships/slideLayout" Target="../slideLayouts/slideLayout70.xml"/><Relationship Id="rId48" Type="http://schemas.openxmlformats.org/officeDocument/2006/relationships/slideLayout" Target="../slideLayouts/slideLayout75.xml"/><Relationship Id="rId56" Type="http://schemas.openxmlformats.org/officeDocument/2006/relationships/slideLayout" Target="../slideLayouts/slideLayout83.xml"/><Relationship Id="rId8" Type="http://schemas.openxmlformats.org/officeDocument/2006/relationships/slideLayout" Target="../slideLayouts/slideLayout35.xml"/><Relationship Id="rId51" Type="http://schemas.openxmlformats.org/officeDocument/2006/relationships/slideLayout" Target="../slideLayouts/slideLayout78.xml"/><Relationship Id="rId3" Type="http://schemas.openxmlformats.org/officeDocument/2006/relationships/slideLayout" Target="../slideLayouts/slideLayout30.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38" Type="http://schemas.openxmlformats.org/officeDocument/2006/relationships/slideLayout" Target="../slideLayouts/slideLayout65.xml"/><Relationship Id="rId46" Type="http://schemas.openxmlformats.org/officeDocument/2006/relationships/slideLayout" Target="../slideLayouts/slideLayout73.xml"/><Relationship Id="rId59" Type="http://schemas.openxmlformats.org/officeDocument/2006/relationships/image" Target="../media/image2.svg"/><Relationship Id="rId20" Type="http://schemas.openxmlformats.org/officeDocument/2006/relationships/slideLayout" Target="../slideLayouts/slideLayout47.xml"/><Relationship Id="rId41" Type="http://schemas.openxmlformats.org/officeDocument/2006/relationships/slideLayout" Target="../slideLayouts/slideLayout68.xml"/><Relationship Id="rId54" Type="http://schemas.openxmlformats.org/officeDocument/2006/relationships/slideLayout" Target="../slideLayouts/slideLayout81.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slideLayout" Target="../slideLayouts/slideLayout63.xml"/><Relationship Id="rId49" Type="http://schemas.openxmlformats.org/officeDocument/2006/relationships/slideLayout" Target="../slideLayouts/slideLayout76.xml"/><Relationship Id="rId57" Type="http://schemas.openxmlformats.org/officeDocument/2006/relationships/theme" Target="../theme/theme2.xml"/><Relationship Id="rId10" Type="http://schemas.openxmlformats.org/officeDocument/2006/relationships/slideLayout" Target="../slideLayouts/slideLayout37.xml"/><Relationship Id="rId31" Type="http://schemas.openxmlformats.org/officeDocument/2006/relationships/slideLayout" Target="../slideLayouts/slideLayout58.xml"/><Relationship Id="rId44" Type="http://schemas.openxmlformats.org/officeDocument/2006/relationships/slideLayout" Target="../slideLayouts/slideLayout71.xml"/><Relationship Id="rId52" Type="http://schemas.openxmlformats.org/officeDocument/2006/relationships/slideLayout" Target="../slideLayouts/slideLayout79.xml"/><Relationship Id="rId60"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 Type="http://schemas.openxmlformats.org/officeDocument/2006/relationships/slideLayout" Target="../slideLayouts/slideLayout86.xml"/><Relationship Id="rId21" Type="http://schemas.openxmlformats.org/officeDocument/2006/relationships/slideLayout" Target="../slideLayouts/slideLayout104.xml"/><Relationship Id="rId34" Type="http://schemas.openxmlformats.org/officeDocument/2006/relationships/image" Target="../media/image3.png"/><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image" Target="../media/image2.svg"/><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image" Target="../media/image1.png"/><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theme" Target="../theme/theme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 Id="rId8"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709" r:id="rId1"/>
    <p:sldLayoutId id="2147483649" r:id="rId2"/>
    <p:sldLayoutId id="2147483710" r:id="rId3"/>
    <p:sldLayoutId id="2147483711" r:id="rId4"/>
    <p:sldLayoutId id="2147483921" r:id="rId5"/>
    <p:sldLayoutId id="2147483922" r:id="rId6"/>
    <p:sldLayoutId id="2147483713" r:id="rId7"/>
    <p:sldLayoutId id="2147483823" r:id="rId8"/>
    <p:sldLayoutId id="2147483712" r:id="rId9"/>
    <p:sldLayoutId id="2147483714" r:id="rId10"/>
    <p:sldLayoutId id="2147483718" r:id="rId11"/>
    <p:sldLayoutId id="2147483806" r:id="rId12"/>
    <p:sldLayoutId id="2147483819" r:id="rId13"/>
    <p:sldLayoutId id="2147483822" r:id="rId14"/>
    <p:sldLayoutId id="2147483847" r:id="rId15"/>
    <p:sldLayoutId id="2147483848" r:id="rId16"/>
    <p:sldLayoutId id="2147483849" r:id="rId17"/>
    <p:sldLayoutId id="2147483821" r:id="rId18"/>
    <p:sldLayoutId id="2147483923" r:id="rId19"/>
    <p:sldLayoutId id="2147483924" r:id="rId20"/>
    <p:sldLayoutId id="2147483926" r:id="rId21"/>
    <p:sldLayoutId id="2147483927" r:id="rId22"/>
    <p:sldLayoutId id="2147483928" r:id="rId23"/>
    <p:sldLayoutId id="2147483929" r:id="rId24"/>
    <p:sldLayoutId id="2147483930" r:id="rId25"/>
    <p:sldLayoutId id="2147483931" r:id="rId26"/>
    <p:sldLayoutId id="2147483932" r:id="rId27"/>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1"/>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1"/>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1"/>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1"/>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1"/>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78"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Graphic 31">
            <a:extLst>
              <a:ext uri="{FF2B5EF4-FFF2-40B4-BE49-F238E27FC236}">
                <a16:creationId xmlns:a16="http://schemas.microsoft.com/office/drawing/2014/main" id="{4DA8F496-1848-4375-BD96-37C7C2C8E927}"/>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77A34765-C083-4AF8-9D73-1E6C4EA3B5C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616675508"/>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76" r:id="rId17"/>
    <p:sldLayoutId id="2147483877" r:id="rId18"/>
    <p:sldLayoutId id="2147483878" r:id="rId19"/>
    <p:sldLayoutId id="2147483879" r:id="rId20"/>
    <p:sldLayoutId id="2147483868" r:id="rId21"/>
    <p:sldLayoutId id="2147483869" r:id="rId22"/>
    <p:sldLayoutId id="2147483870" r:id="rId23"/>
    <p:sldLayoutId id="2147483872" r:id="rId24"/>
    <p:sldLayoutId id="2147483873" r:id="rId25"/>
    <p:sldLayoutId id="2147483874" r:id="rId26"/>
    <p:sldLayoutId id="2147483875" r:id="rId27"/>
    <p:sldLayoutId id="2147483880" r:id="rId28"/>
    <p:sldLayoutId id="2147483881" r:id="rId29"/>
    <p:sldLayoutId id="2147483882" r:id="rId30"/>
    <p:sldLayoutId id="2147483900" r:id="rId31"/>
    <p:sldLayoutId id="2147483896" r:id="rId32"/>
    <p:sldLayoutId id="2147483897" r:id="rId33"/>
    <p:sldLayoutId id="2147483898" r:id="rId34"/>
    <p:sldLayoutId id="2147483899" r:id="rId35"/>
    <p:sldLayoutId id="2147483883" r:id="rId36"/>
    <p:sldLayoutId id="2147483884" r:id="rId37"/>
    <p:sldLayoutId id="2147483885" r:id="rId38"/>
    <p:sldLayoutId id="2147483886" r:id="rId39"/>
    <p:sldLayoutId id="2147483888" r:id="rId40"/>
    <p:sldLayoutId id="2147483887" r:id="rId41"/>
    <p:sldLayoutId id="2147483889" r:id="rId42"/>
    <p:sldLayoutId id="2147483894" r:id="rId43"/>
    <p:sldLayoutId id="2147483908" r:id="rId44"/>
    <p:sldLayoutId id="2147483909" r:id="rId45"/>
    <p:sldLayoutId id="2147483910" r:id="rId46"/>
    <p:sldLayoutId id="2147483911" r:id="rId47"/>
    <p:sldLayoutId id="2147483912" r:id="rId48"/>
    <p:sldLayoutId id="2147483913" r:id="rId49"/>
    <p:sldLayoutId id="2147483914" r:id="rId50"/>
    <p:sldLayoutId id="2147483915" r:id="rId51"/>
    <p:sldLayoutId id="2147483916" r:id="rId52"/>
    <p:sldLayoutId id="2147483917" r:id="rId53"/>
    <p:sldLayoutId id="2147483918" r:id="rId54"/>
    <p:sldLayoutId id="2147483919" r:id="rId55"/>
    <p:sldLayoutId id="2147483920" r:id="rId56"/>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60"/>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60"/>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60"/>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60"/>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60"/>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9DFF0C5-4C99-4CAF-9A83-22496076BB8D}"/>
              </a:ext>
            </a:extLst>
          </p:cNvPr>
          <p:cNvSpPr txBox="1">
            <a:spLocks/>
          </p:cNvSpPr>
          <p:nvPr userDrawn="1"/>
        </p:nvSpPr>
        <p:spPr>
          <a:xfrm>
            <a:off x="1125959"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pic>
        <p:nvPicPr>
          <p:cNvPr id="8" name="Graphic 31">
            <a:extLst>
              <a:ext uri="{FF2B5EF4-FFF2-40B4-BE49-F238E27FC236}">
                <a16:creationId xmlns:a16="http://schemas.microsoft.com/office/drawing/2014/main" id="{15850D63-A695-4E54-9B50-1380DF3F2934}"/>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269739" y="377825"/>
            <a:ext cx="738525" cy="522000"/>
          </a:xfrm>
          <a:prstGeom prst="rect">
            <a:avLst/>
          </a:prstGeom>
        </p:spPr>
      </p:pic>
      <p:sp>
        <p:nvSpPr>
          <p:cNvPr id="4" name="Slide Number Placeholder 5">
            <a:extLst>
              <a:ext uri="{FF2B5EF4-FFF2-40B4-BE49-F238E27FC236}">
                <a16:creationId xmlns:a16="http://schemas.microsoft.com/office/drawing/2014/main" id="{53D5031B-6036-416C-A339-3FB0379D4B5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557210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2" r:id="rId5"/>
    <p:sldLayoutId id="2147483733" r:id="rId6"/>
    <p:sldLayoutId id="2147483734" r:id="rId7"/>
    <p:sldLayoutId id="2147483778" r:id="rId8"/>
    <p:sldLayoutId id="2147483779" r:id="rId9"/>
    <p:sldLayoutId id="2147483780" r:id="rId10"/>
    <p:sldLayoutId id="2147483781" r:id="rId11"/>
    <p:sldLayoutId id="2147483782" r:id="rId12"/>
    <p:sldLayoutId id="2147483783" r:id="rId13"/>
    <p:sldLayoutId id="2147483784" r:id="rId14"/>
    <p:sldLayoutId id="2147483837" r:id="rId15"/>
    <p:sldLayoutId id="2147483838" r:id="rId16"/>
    <p:sldLayoutId id="2147483839" r:id="rId17"/>
    <p:sldLayoutId id="2147483840" r:id="rId18"/>
    <p:sldLayoutId id="2147483841" r:id="rId19"/>
    <p:sldLayoutId id="2147483842" r:id="rId20"/>
    <p:sldLayoutId id="2147483843" r:id="rId21"/>
    <p:sldLayoutId id="2147483844" r:id="rId22"/>
    <p:sldLayoutId id="2147483845" r:id="rId23"/>
    <p:sldLayoutId id="2147483901" r:id="rId24"/>
    <p:sldLayoutId id="2147483902" r:id="rId25"/>
    <p:sldLayoutId id="2147483903" r:id="rId26"/>
    <p:sldLayoutId id="2147483904" r:id="rId27"/>
    <p:sldLayoutId id="2147483905" r:id="rId28"/>
    <p:sldLayoutId id="2147483906" r:id="rId29"/>
    <p:sldLayoutId id="2147483907" r:id="rId30"/>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4"/>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4"/>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4"/>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4"/>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4"/>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4.xm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Using Multiple Tables</a:t>
            </a: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2"/>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2"/>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
        <p:nvSpPr>
          <p:cNvPr id="2" name="TextBox 2">
            <a:extLst>
              <a:ext uri="{FF2B5EF4-FFF2-40B4-BE49-F238E27FC236}">
                <a16:creationId xmlns:a16="http://schemas.microsoft.com/office/drawing/2014/main" id="{F33CB094-6F10-BBB3-4ECD-CAD64FD083DC}"/>
              </a:ext>
            </a:extLst>
          </p:cNvPr>
          <p:cNvSpPr txBox="1"/>
          <p:nvPr/>
        </p:nvSpPr>
        <p:spPr>
          <a:xfrm>
            <a:off x="10720316" y="6474821"/>
            <a:ext cx="1471684" cy="330958"/>
          </a:xfrm>
          <a:prstGeom prst="rect">
            <a:avLst/>
          </a:prstGeom>
        </p:spPr>
        <p:txBody>
          <a:bodyPr vert="horz" wrap="none" lIns="0" tIns="0" rIns="0" bIns="0"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a:t>Version 1.5</a:t>
            </a:r>
            <a:endParaRPr lang="en-GB"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a:xfrm>
            <a:off x="387037" y="1169540"/>
            <a:ext cx="6783308" cy="1116460"/>
          </a:xfrm>
        </p:spPr>
        <p:txBody>
          <a:bodyPr/>
          <a:lstStyle/>
          <a:p>
            <a:r>
              <a:rPr lang="en-GB" dirty="0"/>
              <a:t>Overview</a:t>
            </a:r>
          </a:p>
        </p:txBody>
      </p:sp>
      <p:sp>
        <p:nvSpPr>
          <p:cNvPr id="6" name="Text Placeholder 5"/>
          <p:cNvSpPr>
            <a:spLocks noGrp="1"/>
          </p:cNvSpPr>
          <p:nvPr>
            <p:ph type="body" sz="quarter" idx="4294967295"/>
          </p:nvPr>
        </p:nvSpPr>
        <p:spPr>
          <a:xfrm>
            <a:off x="1319842" y="2294717"/>
            <a:ext cx="5627688" cy="1187450"/>
          </a:xfrm>
        </p:spPr>
        <p:txBody>
          <a:bodyPr/>
          <a:lstStyle/>
          <a:p>
            <a:pPr>
              <a:buFont typeface="Arial" panose="020B0604020202020204" pitchFamily="34" charset="0"/>
              <a:buChar char="•"/>
            </a:pPr>
            <a:r>
              <a:rPr lang="en-GB" dirty="0">
                <a:solidFill>
                  <a:schemeClr val="bg1"/>
                </a:solidFill>
              </a:rPr>
              <a:t>JOINs</a:t>
            </a:r>
          </a:p>
          <a:p>
            <a:pPr>
              <a:buFont typeface="Arial" panose="020B0604020202020204" pitchFamily="34" charset="0"/>
              <a:buChar char="•"/>
            </a:pPr>
            <a:r>
              <a:rPr lang="en-GB" dirty="0">
                <a:solidFill>
                  <a:schemeClr val="bg1"/>
                </a:solidFill>
              </a:rPr>
              <a:t>Join types</a:t>
            </a:r>
          </a:p>
          <a:p>
            <a:pPr>
              <a:buFont typeface="Arial" panose="020B0604020202020204" pitchFamily="34" charset="0"/>
              <a:buChar char="•"/>
            </a:pPr>
            <a:r>
              <a:rPr lang="en-GB" dirty="0">
                <a:solidFill>
                  <a:schemeClr val="bg1"/>
                </a:solidFill>
              </a:rPr>
              <a:t>UNION, EXCEPT and INTERSECT</a:t>
            </a:r>
          </a:p>
          <a:p>
            <a:pPr>
              <a:buFont typeface="Arial" panose="020B0604020202020204" pitchFamily="34" charset="0"/>
              <a:buChar char="•"/>
            </a:pPr>
            <a:r>
              <a:rPr lang="en-GB" dirty="0">
                <a:solidFill>
                  <a:schemeClr val="bg1"/>
                </a:solidFill>
              </a:rPr>
              <a:t>Hands-on lab</a:t>
            </a:r>
          </a:p>
          <a:p>
            <a:pPr>
              <a:buFont typeface="Arial" panose="020B0604020202020204" pitchFamily="34" charset="0"/>
              <a:buChar char="•"/>
            </a:pPr>
            <a:endParaRPr lang="en-GB" dirty="0">
              <a:solidFill>
                <a:schemeClr val="bg1"/>
              </a:solidFill>
            </a:endParaRPr>
          </a:p>
        </p:txBody>
      </p:sp>
    </p:spTree>
    <p:extLst>
      <p:ext uri="{BB962C8B-B14F-4D97-AF65-F5344CB8AC3E}">
        <p14:creationId xmlns:p14="http://schemas.microsoft.com/office/powerpoint/2010/main" val="292913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OBJECTIVES</a:t>
            </a:r>
            <a:endParaRPr lang="en-IN" dirty="0"/>
          </a:p>
        </p:txBody>
      </p:sp>
      <p:sp>
        <p:nvSpPr>
          <p:cNvPr id="3" name="Text Placeholder 2"/>
          <p:cNvSpPr>
            <a:spLocks noGrp="1"/>
          </p:cNvSpPr>
          <p:nvPr>
            <p:ph type="body" sz="quarter" idx="11"/>
          </p:nvPr>
        </p:nvSpPr>
        <p:spPr/>
        <p:txBody>
          <a:bodyPr/>
          <a:lstStyle/>
          <a:p>
            <a:r>
              <a:rPr lang="en-GB" b="1" dirty="0"/>
              <a:t>At the end of this module you will be able to:</a:t>
            </a:r>
          </a:p>
          <a:p>
            <a:pPr lvl="1">
              <a:buFont typeface="Arial" panose="020B0604020202020204" pitchFamily="34" charset="0"/>
              <a:buChar char="•"/>
            </a:pPr>
            <a:endParaRPr lang="en-GB" dirty="0"/>
          </a:p>
          <a:p>
            <a:pPr lvl="1">
              <a:buSzPct val="115000"/>
              <a:buFont typeface="Arial" panose="020B0604020202020204" pitchFamily="34" charset="0"/>
              <a:buChar char="•"/>
            </a:pPr>
            <a:r>
              <a:rPr lang="en-GB" sz="1400" dirty="0"/>
              <a:t>write a query that joins two tables together</a:t>
            </a:r>
          </a:p>
          <a:p>
            <a:pPr lvl="1">
              <a:buSzPct val="115000"/>
              <a:buFont typeface="Arial" panose="020B0604020202020204" pitchFamily="34" charset="0"/>
              <a:buChar char="•"/>
            </a:pPr>
            <a:r>
              <a:rPr lang="en-GB" sz="1400" dirty="0"/>
              <a:t>write a query that joins multiple tables</a:t>
            </a:r>
          </a:p>
          <a:p>
            <a:pPr lvl="1">
              <a:buSzPct val="115000"/>
              <a:buFont typeface="Arial" panose="020B0604020202020204" pitchFamily="34" charset="0"/>
              <a:buChar char="•"/>
            </a:pPr>
            <a:r>
              <a:rPr lang="en-GB" sz="1400" dirty="0"/>
              <a:t>write a query that uses an OUTER JOIN</a:t>
            </a:r>
          </a:p>
          <a:p>
            <a:pPr lvl="1">
              <a:buSzPct val="115000"/>
              <a:buFont typeface="Arial" panose="020B0604020202020204" pitchFamily="34" charset="0"/>
              <a:buChar char="•"/>
            </a:pPr>
            <a:r>
              <a:rPr lang="en-GB" sz="1400" dirty="0"/>
              <a:t>write a query that uses a UNION operator </a:t>
            </a:r>
            <a:br>
              <a:rPr lang="en-GB" sz="1400" dirty="0"/>
            </a:br>
            <a:r>
              <a:rPr lang="en-GB" sz="1400" dirty="0"/>
              <a:t>to join tables</a:t>
            </a:r>
          </a:p>
        </p:txBody>
      </p:sp>
    </p:spTree>
    <p:extLst>
      <p:ext uri="{BB962C8B-B14F-4D97-AF65-F5344CB8AC3E}">
        <p14:creationId xmlns:p14="http://schemas.microsoft.com/office/powerpoint/2010/main" val="1724294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JOINS</a:t>
            </a:r>
          </a:p>
        </p:txBody>
      </p:sp>
    </p:spTree>
    <p:extLst>
      <p:ext uri="{BB962C8B-B14F-4D97-AF65-F5344CB8AC3E}">
        <p14:creationId xmlns:p14="http://schemas.microsoft.com/office/powerpoint/2010/main" val="226527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JOINs</a:t>
            </a:r>
            <a:endParaRPr lang="en-IN" dirty="0"/>
          </a:p>
        </p:txBody>
      </p:sp>
      <p:sp>
        <p:nvSpPr>
          <p:cNvPr id="3" name="Text Placeholder 2"/>
          <p:cNvSpPr>
            <a:spLocks noGrp="1"/>
          </p:cNvSpPr>
          <p:nvPr>
            <p:ph type="body" sz="quarter" idx="11"/>
          </p:nvPr>
        </p:nvSpPr>
        <p:spPr/>
        <p:txBody>
          <a:bodyPr/>
          <a:lstStyle/>
          <a:p>
            <a:r>
              <a:rPr lang="en-GB" dirty="0"/>
              <a:t>SELECT &lt;&lt;field(s)&gt;&gt;</a:t>
            </a:r>
          </a:p>
          <a:p>
            <a:r>
              <a:rPr lang="en-GB" dirty="0"/>
              <a:t>FROM  &lt;&lt;table1&gt;&gt;</a:t>
            </a:r>
          </a:p>
          <a:p>
            <a:r>
              <a:rPr lang="en-GB" i="1" dirty="0"/>
              <a:t>type-of</a:t>
            </a:r>
            <a:r>
              <a:rPr lang="en-GB" dirty="0"/>
              <a:t> </a:t>
            </a:r>
            <a:r>
              <a:rPr lang="en-GB" b="1" dirty="0"/>
              <a:t>JOIN</a:t>
            </a:r>
            <a:r>
              <a:rPr lang="en-GB" dirty="0"/>
              <a:t> </a:t>
            </a:r>
            <a:r>
              <a:rPr lang="en-GB" i="1" dirty="0"/>
              <a:t>&lt;&lt;table2&gt;&gt; </a:t>
            </a:r>
            <a:r>
              <a:rPr lang="en-GB" b="1" dirty="0"/>
              <a:t>ON</a:t>
            </a:r>
            <a:r>
              <a:rPr lang="en-GB" dirty="0"/>
              <a:t> </a:t>
            </a:r>
            <a:r>
              <a:rPr lang="en-GB" i="1" dirty="0"/>
              <a:t>&lt;&lt;predicate&gt;&gt;</a:t>
            </a:r>
          </a:p>
          <a:p>
            <a:r>
              <a:rPr lang="en-GB" dirty="0"/>
              <a:t>WHERE  &lt;&lt;condition(s)&gt;&gt;</a:t>
            </a:r>
          </a:p>
          <a:p>
            <a:r>
              <a:rPr lang="en-GB" dirty="0"/>
              <a:t>GROUP BY  &lt;&lt;field(s)&gt;&gt;</a:t>
            </a:r>
          </a:p>
          <a:p>
            <a:r>
              <a:rPr lang="en-GB" dirty="0"/>
              <a:t>HAVING  &lt;&lt;condition(s)&gt;&gt;</a:t>
            </a:r>
          </a:p>
          <a:p>
            <a:r>
              <a:rPr lang="en-GB" dirty="0"/>
              <a:t>ORDER BY &lt;&lt;field(s)&gt;&gt;</a:t>
            </a:r>
          </a:p>
          <a:p>
            <a:endParaRPr lang="en-IN" dirty="0"/>
          </a:p>
        </p:txBody>
      </p:sp>
    </p:spTree>
    <p:extLst>
      <p:ext uri="{BB962C8B-B14F-4D97-AF65-F5344CB8AC3E}">
        <p14:creationId xmlns:p14="http://schemas.microsoft.com/office/powerpoint/2010/main" val="792635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Join types</a:t>
            </a:r>
            <a:endParaRPr lang="en-IN" dirty="0"/>
          </a:p>
        </p:txBody>
      </p:sp>
    </p:spTree>
    <p:extLst>
      <p:ext uri="{BB962C8B-B14F-4D97-AF65-F5344CB8AC3E}">
        <p14:creationId xmlns:p14="http://schemas.microsoft.com/office/powerpoint/2010/main" val="3879335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Content Placeholder 5"/>
          <p:cNvSpPr>
            <a:spLocks noGrp="1"/>
          </p:cNvSpPr>
          <p:nvPr>
            <p:ph type="body" sz="quarter" idx="10"/>
          </p:nvPr>
        </p:nvSpPr>
        <p:spPr/>
        <p:txBody>
          <a:bodyPr/>
          <a:lstStyle/>
          <a:p>
            <a:r>
              <a:rPr lang="en-GB" dirty="0"/>
              <a:t>Join types</a:t>
            </a:r>
          </a:p>
        </p:txBody>
      </p:sp>
      <p:sp>
        <p:nvSpPr>
          <p:cNvPr id="2" name="Text Placeholder 1"/>
          <p:cNvSpPr>
            <a:spLocks noGrp="1"/>
          </p:cNvSpPr>
          <p:nvPr>
            <p:ph type="body" sz="quarter" idx="11"/>
          </p:nvPr>
        </p:nvSpPr>
        <p:spPr/>
        <p:txBody>
          <a:bodyPr/>
          <a:lstStyle/>
          <a:p>
            <a:r>
              <a:rPr lang="en-GB" b="1" dirty="0"/>
              <a:t>JOINs</a:t>
            </a:r>
          </a:p>
          <a:p>
            <a:pPr lvl="1">
              <a:spcAft>
                <a:spcPts val="650"/>
              </a:spcAft>
              <a:buSzPct val="115000"/>
              <a:buFont typeface="Arial" panose="020B0604020202020204" pitchFamily="34" charset="0"/>
              <a:buChar char="•"/>
            </a:pPr>
            <a:r>
              <a:rPr lang="en-GB" sz="1400" dirty="0"/>
              <a:t>Join</a:t>
            </a:r>
          </a:p>
          <a:p>
            <a:pPr lvl="1">
              <a:spcAft>
                <a:spcPts val="650"/>
              </a:spcAft>
              <a:buSzPct val="115000"/>
              <a:buFont typeface="Arial" panose="020B0604020202020204" pitchFamily="34" charset="0"/>
              <a:buChar char="•"/>
            </a:pPr>
            <a:r>
              <a:rPr lang="en-GB" sz="1400" dirty="0"/>
              <a:t>(right, left, and full)</a:t>
            </a:r>
          </a:p>
          <a:p>
            <a:endParaRPr lang="en-IN" dirty="0"/>
          </a:p>
        </p:txBody>
      </p:sp>
    </p:spTree>
    <p:extLst>
      <p:ext uri="{BB962C8B-B14F-4D97-AF65-F5344CB8AC3E}">
        <p14:creationId xmlns:p14="http://schemas.microsoft.com/office/powerpoint/2010/main" val="2165926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Content Placeholder 2"/>
          <p:cNvSpPr txBox="1">
            <a:spLocks/>
          </p:cNvSpPr>
          <p:nvPr/>
        </p:nvSpPr>
        <p:spPr bwMode="auto">
          <a:xfrm>
            <a:off x="341272" y="1652419"/>
            <a:ext cx="5089898" cy="1603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b="1">
                <a:solidFill>
                  <a:schemeClr val="tx1"/>
                </a:solidFill>
                <a:latin typeface="Arial Narrow" pitchFamily="34" charset="0"/>
              </a:defRPr>
            </a:lvl1pPr>
            <a:lvl2pPr marL="742950" indent="-285750">
              <a:defRPr b="1">
                <a:solidFill>
                  <a:schemeClr val="tx1"/>
                </a:solidFill>
                <a:latin typeface="Arial Narrow" pitchFamily="34" charset="0"/>
              </a:defRPr>
            </a:lvl2pPr>
            <a:lvl3pPr marL="1143000" indent="-228600">
              <a:defRPr b="1">
                <a:solidFill>
                  <a:schemeClr val="tx1"/>
                </a:solidFill>
                <a:latin typeface="Arial Narrow" pitchFamily="34" charset="0"/>
              </a:defRPr>
            </a:lvl3pPr>
            <a:lvl4pPr marL="1600200" indent="-228600">
              <a:defRPr b="1">
                <a:solidFill>
                  <a:schemeClr val="tx1"/>
                </a:solidFill>
                <a:latin typeface="Arial Narrow" pitchFamily="34" charset="0"/>
              </a:defRPr>
            </a:lvl4pPr>
            <a:lvl5pPr marL="2057400" indent="-228600">
              <a:defRPr b="1">
                <a:solidFill>
                  <a:schemeClr val="tx1"/>
                </a:solidFill>
                <a:latin typeface="Arial Narrow" pitchFamily="34" charset="0"/>
              </a:defRPr>
            </a:lvl5pPr>
            <a:lvl6pPr marL="2514600" indent="-228600" algn="ctr" eaLnBrk="0" fontAlgn="base" hangingPunct="0">
              <a:spcBef>
                <a:spcPct val="0"/>
              </a:spcBef>
              <a:spcAft>
                <a:spcPct val="0"/>
              </a:spcAft>
              <a:defRPr b="1">
                <a:solidFill>
                  <a:schemeClr val="tx1"/>
                </a:solidFill>
                <a:latin typeface="Arial Narrow" pitchFamily="34" charset="0"/>
              </a:defRPr>
            </a:lvl6pPr>
            <a:lvl7pPr marL="2971800" indent="-228600" algn="ctr" eaLnBrk="0" fontAlgn="base" hangingPunct="0">
              <a:spcBef>
                <a:spcPct val="0"/>
              </a:spcBef>
              <a:spcAft>
                <a:spcPct val="0"/>
              </a:spcAft>
              <a:defRPr b="1">
                <a:solidFill>
                  <a:schemeClr val="tx1"/>
                </a:solidFill>
                <a:latin typeface="Arial Narrow" pitchFamily="34" charset="0"/>
              </a:defRPr>
            </a:lvl7pPr>
            <a:lvl8pPr marL="3429000" indent="-228600" algn="ctr" eaLnBrk="0" fontAlgn="base" hangingPunct="0">
              <a:spcBef>
                <a:spcPct val="0"/>
              </a:spcBef>
              <a:spcAft>
                <a:spcPct val="0"/>
              </a:spcAft>
              <a:defRPr b="1">
                <a:solidFill>
                  <a:schemeClr val="tx1"/>
                </a:solidFill>
                <a:latin typeface="Arial Narrow" pitchFamily="34" charset="0"/>
              </a:defRPr>
            </a:lvl8pPr>
            <a:lvl9pPr marL="3886200" indent="-228600" algn="ctr" eaLnBrk="0" fontAlgn="base" hangingPunct="0">
              <a:spcBef>
                <a:spcPct val="0"/>
              </a:spcBef>
              <a:spcAft>
                <a:spcPct val="0"/>
              </a:spcAft>
              <a:defRPr b="1">
                <a:solidFill>
                  <a:schemeClr val="tx1"/>
                </a:solidFill>
                <a:latin typeface="Arial Narrow" pitchFamily="34" charset="0"/>
              </a:defRPr>
            </a:lvl9pPr>
          </a:lstStyle>
          <a:p>
            <a:pPr marL="342900" indent="-342900">
              <a:lnSpc>
                <a:spcPct val="120000"/>
              </a:lnSpc>
              <a:spcBef>
                <a:spcPct val="60000"/>
              </a:spcBef>
              <a:buClr>
                <a:srgbClr val="004050"/>
              </a:buClr>
              <a:buFont typeface="Arial" panose="020B0604020202020204" pitchFamily="34" charset="0"/>
              <a:buChar char="•"/>
            </a:pPr>
            <a:r>
              <a:rPr lang="en-GB" sz="2400" dirty="0">
                <a:solidFill>
                  <a:srgbClr val="004050"/>
                </a:solidFill>
                <a:latin typeface="+mn-lt"/>
              </a:rPr>
              <a:t>Returns columns from both tables where the ON clause is true</a:t>
            </a:r>
          </a:p>
        </p:txBody>
      </p:sp>
      <p:sp>
        <p:nvSpPr>
          <p:cNvPr id="37890" name="Title 1"/>
          <p:cNvSpPr>
            <a:spLocks noGrp="1"/>
          </p:cNvSpPr>
          <p:nvPr>
            <p:ph type="title"/>
          </p:nvPr>
        </p:nvSpPr>
        <p:spPr>
          <a:xfrm>
            <a:off x="917940" y="895296"/>
            <a:ext cx="11517818" cy="805001"/>
          </a:xfrm>
        </p:spPr>
        <p:txBody>
          <a:bodyPr/>
          <a:lstStyle/>
          <a:p>
            <a:r>
              <a:rPr lang="en-GB" dirty="0"/>
              <a:t>Inner join</a:t>
            </a:r>
          </a:p>
        </p:txBody>
      </p:sp>
      <p:sp>
        <p:nvSpPr>
          <p:cNvPr id="37891" name="Content Placeholder 3"/>
          <p:cNvSpPr>
            <a:spLocks noGrp="1"/>
          </p:cNvSpPr>
          <p:nvPr>
            <p:ph idx="1"/>
          </p:nvPr>
        </p:nvSpPr>
        <p:spPr>
          <a:xfrm>
            <a:off x="341272" y="3358981"/>
            <a:ext cx="6922557" cy="1125707"/>
          </a:xfrm>
        </p:spPr>
        <p:txBody>
          <a:bodyPr/>
          <a:lstStyle/>
          <a:p>
            <a:pPr>
              <a:buFont typeface="Arial" panose="020B0604020202020204" pitchFamily="34" charset="0"/>
              <a:buChar char="•"/>
            </a:pPr>
            <a:r>
              <a:rPr lang="en-GB" b="1" dirty="0"/>
              <a:t>SELECT * </a:t>
            </a:r>
          </a:p>
          <a:p>
            <a:pPr>
              <a:buFont typeface="Arial" panose="020B0604020202020204" pitchFamily="34" charset="0"/>
              <a:buChar char="•"/>
            </a:pPr>
            <a:r>
              <a:rPr lang="en-GB" b="1" dirty="0"/>
              <a:t>	FROM Table1 </a:t>
            </a:r>
            <a:r>
              <a:rPr lang="en-GB" b="1" dirty="0">
                <a:solidFill>
                  <a:srgbClr val="FF0000"/>
                </a:solidFill>
              </a:rPr>
              <a:t>INNER JOIN </a:t>
            </a:r>
            <a:r>
              <a:rPr lang="en-GB" b="1" dirty="0"/>
              <a:t>Table2 </a:t>
            </a:r>
          </a:p>
          <a:p>
            <a:pPr>
              <a:buFont typeface="Arial" panose="020B0604020202020204" pitchFamily="34" charset="0"/>
              <a:buChar char="•"/>
            </a:pPr>
            <a:r>
              <a:rPr lang="en-GB" b="1" dirty="0"/>
              <a:t>		</a:t>
            </a:r>
            <a:r>
              <a:rPr lang="en-GB" b="1" dirty="0">
                <a:solidFill>
                  <a:srgbClr val="FF0000"/>
                </a:solidFill>
              </a:rPr>
              <a:t>ON</a:t>
            </a:r>
            <a:r>
              <a:rPr lang="en-GB" b="1" dirty="0"/>
              <a:t> Table1.Col1 = Table2.Col2</a:t>
            </a:r>
          </a:p>
        </p:txBody>
      </p:sp>
      <p:pic>
        <p:nvPicPr>
          <p:cNvPr id="37892" name="Picture 4"/>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rcRect/>
          <a:stretch>
            <a:fillRect/>
          </a:stretch>
        </p:blipFill>
        <p:spPr>
          <a:xfrm>
            <a:off x="7543800" y="1893888"/>
            <a:ext cx="3733800" cy="2724150"/>
          </a:xfrm>
        </p:spPr>
      </p:pic>
    </p:spTree>
    <p:extLst>
      <p:ext uri="{BB962C8B-B14F-4D97-AF65-F5344CB8AC3E}">
        <p14:creationId xmlns:p14="http://schemas.microsoft.com/office/powerpoint/2010/main" val="3976733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191" y="794205"/>
            <a:ext cx="9491663" cy="687614"/>
          </a:xfrm>
        </p:spPr>
        <p:txBody>
          <a:bodyPr/>
          <a:lstStyle/>
          <a:p>
            <a:r>
              <a:rPr lang="en-GB" dirty="0"/>
              <a:t>Inner join</a:t>
            </a:r>
          </a:p>
        </p:txBody>
      </p:sp>
      <p:sp>
        <p:nvSpPr>
          <p:cNvPr id="5" name="Rectangle 4"/>
          <p:cNvSpPr>
            <a:spLocks noChangeArrowheads="1"/>
          </p:cNvSpPr>
          <p:nvPr/>
        </p:nvSpPr>
        <p:spPr bwMode="auto">
          <a:xfrm>
            <a:off x="1848220" y="1345423"/>
            <a:ext cx="3928803" cy="3785652"/>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b="1" dirty="0">
                <a:latin typeface="Lucida Console" pitchFamily="49" charset="0"/>
              </a:rPr>
              <a:t>Products.</a:t>
            </a:r>
            <a:r>
              <a:rPr lang="en-GB" sz="2000" dirty="0">
                <a:latin typeface="Lucida Console" pitchFamily="49" charset="0"/>
              </a:rPr>
              <a:t>CategoryID,</a:t>
            </a:r>
            <a:br>
              <a:rPr lang="en-GB" sz="2000" dirty="0">
                <a:latin typeface="Lucida Console" pitchFamily="49" charset="0"/>
              </a:rPr>
            </a:br>
            <a:r>
              <a:rPr lang="en-GB" sz="2000" dirty="0">
                <a:latin typeface="Lucida Console" pitchFamily="49" charset="0"/>
              </a:rPr>
              <a:t>  CategoryName,</a:t>
            </a:r>
            <a:br>
              <a:rPr lang="en-GB" sz="2000" dirty="0">
                <a:latin typeface="Lucida Console" pitchFamily="49" charset="0"/>
              </a:rPr>
            </a:br>
            <a:r>
              <a:rPr lang="en-GB" sz="2000" dirty="0">
                <a:latin typeface="Lucida Console" pitchFamily="49" charset="0"/>
              </a:rPr>
              <a:t>  ProductID, </a:t>
            </a:r>
            <a:br>
              <a:rPr lang="en-GB" sz="2000" dirty="0">
                <a:latin typeface="Lucida Console" pitchFamily="49" charset="0"/>
              </a:rPr>
            </a:br>
            <a:r>
              <a:rPr lang="en-GB" sz="2000" dirty="0">
                <a:latin typeface="Lucida Console" pitchFamily="49" charset="0"/>
              </a:rPr>
              <a:t>  ProductName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dbo.Products</a:t>
            </a:r>
            <a:br>
              <a:rPr lang="en-GB" sz="2000" dirty="0">
                <a:latin typeface="Lucida Console" pitchFamily="49" charset="0"/>
              </a:rPr>
            </a:br>
            <a:r>
              <a:rPr lang="en-GB" sz="2000" b="1" dirty="0">
                <a:latin typeface="Lucida Console" pitchFamily="49" charset="0"/>
              </a:rPr>
              <a:t>INNER JOIN</a:t>
            </a:r>
            <a:br>
              <a:rPr lang="en-GB" sz="2000" dirty="0">
                <a:latin typeface="Lucida Console" pitchFamily="49" charset="0"/>
              </a:rPr>
            </a:br>
            <a:r>
              <a:rPr lang="en-GB" sz="2000" dirty="0">
                <a:latin typeface="Lucida Console" pitchFamily="49" charset="0"/>
              </a:rPr>
              <a:t>  dbo.Categories</a:t>
            </a:r>
            <a:br>
              <a:rPr lang="en-GB" sz="2000" dirty="0">
                <a:latin typeface="Lucida Console" pitchFamily="49" charset="0"/>
              </a:rPr>
            </a:br>
            <a:r>
              <a:rPr lang="en-GB" sz="2000" b="1" dirty="0">
                <a:latin typeface="Lucida Console" pitchFamily="49" charset="0"/>
              </a:rPr>
              <a:t>ON</a:t>
            </a:r>
            <a:br>
              <a:rPr lang="en-GB" sz="2000" dirty="0">
                <a:latin typeface="Lucida Console" pitchFamily="49" charset="0"/>
              </a:rPr>
            </a:br>
            <a:r>
              <a:rPr lang="en-GB" sz="2000" dirty="0">
                <a:latin typeface="Lucida Console" pitchFamily="49" charset="0"/>
              </a:rPr>
              <a:t>  Products.CategoryID = </a:t>
            </a:r>
            <a:br>
              <a:rPr lang="en-GB" sz="2000" dirty="0">
                <a:latin typeface="Lucida Console" pitchFamily="49" charset="0"/>
              </a:rPr>
            </a:br>
            <a:r>
              <a:rPr lang="en-GB" sz="2000" dirty="0">
                <a:latin typeface="Lucida Console" pitchFamily="49" charset="0"/>
              </a:rPr>
              <a:t>  Categories.CategoryID</a:t>
            </a:r>
          </a:p>
        </p:txBody>
      </p:sp>
      <p:sp>
        <p:nvSpPr>
          <p:cNvPr id="7" name="Rectangle 6"/>
          <p:cNvSpPr>
            <a:spLocks noChangeArrowheads="1"/>
          </p:cNvSpPr>
          <p:nvPr/>
        </p:nvSpPr>
        <p:spPr bwMode="auto">
          <a:xfrm>
            <a:off x="6359969" y="1345423"/>
            <a:ext cx="3928803" cy="3785652"/>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b="1" dirty="0">
                <a:latin typeface="Lucida Console" pitchFamily="49" charset="0"/>
              </a:rPr>
              <a:t>p.</a:t>
            </a:r>
            <a:r>
              <a:rPr lang="en-GB" sz="2000" dirty="0">
                <a:latin typeface="Lucida Console" pitchFamily="49" charset="0"/>
              </a:rPr>
              <a:t>CategoryID,</a:t>
            </a:r>
            <a:br>
              <a:rPr lang="en-GB" sz="2000" dirty="0">
                <a:latin typeface="Lucida Console" pitchFamily="49" charset="0"/>
              </a:rPr>
            </a:br>
            <a:r>
              <a:rPr lang="en-GB" sz="2000" dirty="0">
                <a:latin typeface="Lucida Console" pitchFamily="49" charset="0"/>
              </a:rPr>
              <a:t>  CategoryName,</a:t>
            </a:r>
            <a:br>
              <a:rPr lang="en-GB" sz="2000" dirty="0">
                <a:latin typeface="Lucida Console" pitchFamily="49" charset="0"/>
              </a:rPr>
            </a:br>
            <a:r>
              <a:rPr lang="en-GB" sz="2000" dirty="0">
                <a:latin typeface="Lucida Console" pitchFamily="49" charset="0"/>
              </a:rPr>
              <a:t>  ProductID, </a:t>
            </a:r>
            <a:br>
              <a:rPr lang="en-GB" sz="2000" dirty="0">
                <a:latin typeface="Lucida Console" pitchFamily="49" charset="0"/>
              </a:rPr>
            </a:br>
            <a:r>
              <a:rPr lang="en-GB" sz="2000" dirty="0">
                <a:latin typeface="Lucida Console" pitchFamily="49" charset="0"/>
              </a:rPr>
              <a:t>  ProductName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dbo.Products </a:t>
            </a:r>
            <a:r>
              <a:rPr lang="en-GB" sz="2000" b="1" dirty="0">
                <a:latin typeface="Lucida Console" pitchFamily="49" charset="0"/>
              </a:rPr>
              <a:t>AS p</a:t>
            </a:r>
            <a:br>
              <a:rPr lang="en-GB" sz="2000" dirty="0">
                <a:latin typeface="Lucida Console" pitchFamily="49" charset="0"/>
              </a:rPr>
            </a:br>
            <a:r>
              <a:rPr lang="en-GB" sz="2000" b="1" dirty="0">
                <a:latin typeface="Lucida Console" pitchFamily="49" charset="0"/>
              </a:rPr>
              <a:t>JOIN</a:t>
            </a:r>
            <a:br>
              <a:rPr lang="en-GB" sz="2000" dirty="0">
                <a:latin typeface="Lucida Console" pitchFamily="49" charset="0"/>
              </a:rPr>
            </a:br>
            <a:r>
              <a:rPr lang="en-GB" sz="2000" dirty="0">
                <a:latin typeface="Lucida Console" pitchFamily="49" charset="0"/>
              </a:rPr>
              <a:t>  dbo.Categories </a:t>
            </a:r>
            <a:r>
              <a:rPr lang="en-GB" sz="2000" b="1" dirty="0">
                <a:latin typeface="Lucida Console" pitchFamily="49" charset="0"/>
              </a:rPr>
              <a:t>AS c</a:t>
            </a:r>
            <a:br>
              <a:rPr lang="en-GB" sz="2000" dirty="0">
                <a:latin typeface="Lucida Console" pitchFamily="49" charset="0"/>
              </a:rPr>
            </a:br>
            <a:r>
              <a:rPr lang="en-GB" sz="2000" b="1" dirty="0">
                <a:latin typeface="Lucida Console" pitchFamily="49" charset="0"/>
              </a:rPr>
              <a:t>ON</a:t>
            </a:r>
            <a:br>
              <a:rPr lang="en-GB" sz="2000" dirty="0">
                <a:latin typeface="Lucida Console" pitchFamily="49" charset="0"/>
              </a:rPr>
            </a:br>
            <a:r>
              <a:rPr lang="en-GB" sz="2000" dirty="0">
                <a:latin typeface="Lucida Console" pitchFamily="49" charset="0"/>
              </a:rPr>
              <a:t>  </a:t>
            </a:r>
            <a:r>
              <a:rPr lang="en-GB" sz="2000" b="1" dirty="0">
                <a:latin typeface="Lucida Console" pitchFamily="49" charset="0"/>
              </a:rPr>
              <a:t>p</a:t>
            </a:r>
            <a:r>
              <a:rPr lang="en-GB" sz="2000" dirty="0">
                <a:latin typeface="Lucida Console" pitchFamily="49" charset="0"/>
              </a:rPr>
              <a:t>.CategoryID = </a:t>
            </a:r>
            <a:br>
              <a:rPr lang="en-GB" sz="2000" dirty="0">
                <a:latin typeface="Lucida Console" pitchFamily="49" charset="0"/>
              </a:rPr>
            </a:br>
            <a:r>
              <a:rPr lang="en-GB" sz="2000" dirty="0">
                <a:latin typeface="Lucida Console" pitchFamily="49" charset="0"/>
              </a:rPr>
              <a:t>  </a:t>
            </a:r>
            <a:r>
              <a:rPr lang="en-GB" sz="2000" b="1" dirty="0">
                <a:latin typeface="Lucida Console" pitchFamily="49" charset="0"/>
              </a:rPr>
              <a:t>c</a:t>
            </a:r>
            <a:r>
              <a:rPr lang="en-GB" sz="2000" dirty="0">
                <a:latin typeface="Lucida Console" pitchFamily="49" charset="0"/>
              </a:rPr>
              <a:t>.CategoryID</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62150" y="5131076"/>
            <a:ext cx="4802664" cy="1445963"/>
          </a:xfrm>
          <a:prstGeom prst="rect">
            <a:avLst/>
          </a:prstGeom>
          <a:ln w="63500">
            <a:solidFill>
              <a:schemeClr val="bg1"/>
            </a:solidFill>
          </a:ln>
        </p:spPr>
      </p:pic>
    </p:spTree>
    <p:extLst>
      <p:ext uri="{BB962C8B-B14F-4D97-AF65-F5344CB8AC3E}">
        <p14:creationId xmlns:p14="http://schemas.microsoft.com/office/powerpoint/2010/main" val="3659482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1004317" y="903513"/>
            <a:ext cx="9491663" cy="687614"/>
          </a:xfrm>
        </p:spPr>
        <p:txBody>
          <a:bodyPr/>
          <a:lstStyle/>
          <a:p>
            <a:r>
              <a:rPr lang="en-GB" dirty="0"/>
              <a:t>Left (outer) join</a:t>
            </a:r>
          </a:p>
        </p:txBody>
      </p:sp>
      <p:sp>
        <p:nvSpPr>
          <p:cNvPr id="38916" name="Content Placeholder 3"/>
          <p:cNvSpPr>
            <a:spLocks noGrp="1"/>
          </p:cNvSpPr>
          <p:nvPr>
            <p:ph sz="half" idx="1"/>
          </p:nvPr>
        </p:nvSpPr>
        <p:spPr>
          <a:xfrm>
            <a:off x="332317" y="3794698"/>
            <a:ext cx="6087534" cy="1423415"/>
          </a:xfrm>
        </p:spPr>
        <p:txBody>
          <a:bodyPr/>
          <a:lstStyle/>
          <a:p>
            <a:pPr>
              <a:buFont typeface="Arial" panose="020B0604020202020204" pitchFamily="34" charset="0"/>
              <a:buChar char="•"/>
            </a:pPr>
            <a:r>
              <a:rPr lang="en-GB" sz="2000" b="1" dirty="0"/>
              <a:t>SELECT * </a:t>
            </a:r>
          </a:p>
          <a:p>
            <a:pPr>
              <a:buFont typeface="Arial" panose="020B0604020202020204" pitchFamily="34" charset="0"/>
              <a:buChar char="•"/>
            </a:pPr>
            <a:r>
              <a:rPr lang="en-GB" sz="2000" b="1" dirty="0"/>
              <a:t>	FROM Table1 </a:t>
            </a:r>
            <a:r>
              <a:rPr lang="en-GB" sz="2000" b="1" dirty="0">
                <a:solidFill>
                  <a:srgbClr val="FF0000"/>
                </a:solidFill>
              </a:rPr>
              <a:t>LEFT JOIN </a:t>
            </a:r>
            <a:r>
              <a:rPr lang="en-GB" sz="2000" b="1" dirty="0"/>
              <a:t>Table2 </a:t>
            </a:r>
          </a:p>
          <a:p>
            <a:pPr>
              <a:buFont typeface="Arial" panose="020B0604020202020204" pitchFamily="34" charset="0"/>
              <a:buChar char="•"/>
            </a:pPr>
            <a:r>
              <a:rPr lang="en-GB" sz="2000" b="1" dirty="0"/>
              <a:t>		</a:t>
            </a:r>
            <a:r>
              <a:rPr lang="en-GB" sz="2000" b="1" dirty="0">
                <a:solidFill>
                  <a:srgbClr val="FF0000"/>
                </a:solidFill>
              </a:rPr>
              <a:t>ON</a:t>
            </a:r>
            <a:r>
              <a:rPr lang="en-GB" sz="2000" b="1" dirty="0"/>
              <a:t> Table1.Col1 = Table2.Col2</a:t>
            </a:r>
          </a:p>
        </p:txBody>
      </p:sp>
      <p:pic>
        <p:nvPicPr>
          <p:cNvPr id="38915" name="Picture 2"/>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7387431" y="2017713"/>
            <a:ext cx="3733800" cy="2724150"/>
          </a:xfrm>
        </p:spPr>
      </p:pic>
      <p:sp>
        <p:nvSpPr>
          <p:cNvPr id="38917" name="Content Placeholder 2"/>
          <p:cNvSpPr txBox="1">
            <a:spLocks/>
          </p:cNvSpPr>
          <p:nvPr/>
        </p:nvSpPr>
        <p:spPr bwMode="auto">
          <a:xfrm>
            <a:off x="332317" y="1610129"/>
            <a:ext cx="5214032" cy="2184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b="1">
                <a:solidFill>
                  <a:schemeClr val="tx1"/>
                </a:solidFill>
                <a:latin typeface="Arial Narrow" pitchFamily="34" charset="0"/>
              </a:defRPr>
            </a:lvl1pPr>
            <a:lvl2pPr marL="742950" indent="-285750">
              <a:defRPr b="1">
                <a:solidFill>
                  <a:schemeClr val="tx1"/>
                </a:solidFill>
                <a:latin typeface="Arial Narrow" pitchFamily="34" charset="0"/>
              </a:defRPr>
            </a:lvl2pPr>
            <a:lvl3pPr marL="1143000" indent="-228600">
              <a:defRPr b="1">
                <a:solidFill>
                  <a:schemeClr val="tx1"/>
                </a:solidFill>
                <a:latin typeface="Arial Narrow" pitchFamily="34" charset="0"/>
              </a:defRPr>
            </a:lvl3pPr>
            <a:lvl4pPr marL="1600200" indent="-228600">
              <a:defRPr b="1">
                <a:solidFill>
                  <a:schemeClr val="tx1"/>
                </a:solidFill>
                <a:latin typeface="Arial Narrow" pitchFamily="34" charset="0"/>
              </a:defRPr>
            </a:lvl4pPr>
            <a:lvl5pPr marL="2057400" indent="-228600">
              <a:defRPr b="1">
                <a:solidFill>
                  <a:schemeClr val="tx1"/>
                </a:solidFill>
                <a:latin typeface="Arial Narrow" pitchFamily="34" charset="0"/>
              </a:defRPr>
            </a:lvl5pPr>
            <a:lvl6pPr marL="2514600" indent="-228600" algn="ctr" eaLnBrk="0" fontAlgn="base" hangingPunct="0">
              <a:spcBef>
                <a:spcPct val="0"/>
              </a:spcBef>
              <a:spcAft>
                <a:spcPct val="0"/>
              </a:spcAft>
              <a:defRPr b="1">
                <a:solidFill>
                  <a:schemeClr val="tx1"/>
                </a:solidFill>
                <a:latin typeface="Arial Narrow" pitchFamily="34" charset="0"/>
              </a:defRPr>
            </a:lvl6pPr>
            <a:lvl7pPr marL="2971800" indent="-228600" algn="ctr" eaLnBrk="0" fontAlgn="base" hangingPunct="0">
              <a:spcBef>
                <a:spcPct val="0"/>
              </a:spcBef>
              <a:spcAft>
                <a:spcPct val="0"/>
              </a:spcAft>
              <a:defRPr b="1">
                <a:solidFill>
                  <a:schemeClr val="tx1"/>
                </a:solidFill>
                <a:latin typeface="Arial Narrow" pitchFamily="34" charset="0"/>
              </a:defRPr>
            </a:lvl7pPr>
            <a:lvl8pPr marL="3429000" indent="-228600" algn="ctr" eaLnBrk="0" fontAlgn="base" hangingPunct="0">
              <a:spcBef>
                <a:spcPct val="0"/>
              </a:spcBef>
              <a:spcAft>
                <a:spcPct val="0"/>
              </a:spcAft>
              <a:defRPr b="1">
                <a:solidFill>
                  <a:schemeClr val="tx1"/>
                </a:solidFill>
                <a:latin typeface="Arial Narrow" pitchFamily="34" charset="0"/>
              </a:defRPr>
            </a:lvl8pPr>
            <a:lvl9pPr marL="3886200" indent="-228600" algn="ctr" eaLnBrk="0" fontAlgn="base" hangingPunct="0">
              <a:spcBef>
                <a:spcPct val="0"/>
              </a:spcBef>
              <a:spcAft>
                <a:spcPct val="0"/>
              </a:spcAft>
              <a:defRPr b="1">
                <a:solidFill>
                  <a:schemeClr val="tx1"/>
                </a:solidFill>
                <a:latin typeface="Arial Narrow" pitchFamily="34" charset="0"/>
              </a:defRPr>
            </a:lvl9pPr>
          </a:lstStyle>
          <a:p>
            <a:pPr marL="342900" indent="-342900">
              <a:lnSpc>
                <a:spcPct val="120000"/>
              </a:lnSpc>
              <a:spcBef>
                <a:spcPct val="60000"/>
              </a:spcBef>
              <a:buClr>
                <a:srgbClr val="004050"/>
              </a:buClr>
              <a:buFont typeface="Arial" panose="020B0604020202020204" pitchFamily="34" charset="0"/>
              <a:buChar char="•"/>
            </a:pPr>
            <a:r>
              <a:rPr lang="en-GB" sz="2400" dirty="0">
                <a:solidFill>
                  <a:srgbClr val="004050"/>
                </a:solidFill>
                <a:latin typeface="+mn-lt"/>
              </a:rPr>
              <a:t>Returns columns from both tables where the ON clause is true and columns from Table1 in all cases</a:t>
            </a:r>
          </a:p>
        </p:txBody>
      </p:sp>
    </p:spTree>
    <p:extLst>
      <p:ext uri="{BB962C8B-B14F-4D97-AF65-F5344CB8AC3E}">
        <p14:creationId xmlns:p14="http://schemas.microsoft.com/office/powerpoint/2010/main" val="4039053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019" y="1025869"/>
            <a:ext cx="9491663" cy="687614"/>
          </a:xfrm>
        </p:spPr>
        <p:txBody>
          <a:bodyPr/>
          <a:lstStyle/>
          <a:p>
            <a:r>
              <a:rPr lang="en-GB" dirty="0"/>
              <a:t>Left join</a:t>
            </a:r>
          </a:p>
        </p:txBody>
      </p:sp>
      <p:sp>
        <p:nvSpPr>
          <p:cNvPr id="5" name="Rectangle 4"/>
          <p:cNvSpPr>
            <a:spLocks noChangeArrowheads="1"/>
          </p:cNvSpPr>
          <p:nvPr/>
        </p:nvSpPr>
        <p:spPr bwMode="auto">
          <a:xfrm>
            <a:off x="711019" y="1713483"/>
            <a:ext cx="5474628" cy="347787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o.OrderID</a:t>
            </a:r>
            <a:r>
              <a:rPr lang="en-GB" sz="2000" dirty="0">
                <a:latin typeface="Lucida Console" pitchFamily="49" charset="0"/>
              </a:rPr>
              <a:t>,</a:t>
            </a:r>
          </a:p>
          <a:p>
            <a:r>
              <a:rPr lang="en-GB" sz="2000" dirty="0">
                <a:latin typeface="Lucida Console" pitchFamily="49" charset="0"/>
              </a:rPr>
              <a:t>  </a:t>
            </a:r>
            <a:r>
              <a:rPr lang="en-GB" sz="2000" dirty="0" err="1">
                <a:latin typeface="Lucida Console" pitchFamily="49" charset="0"/>
              </a:rPr>
              <a:t>o.OrderDate</a:t>
            </a:r>
            <a:r>
              <a:rPr lang="en-GB" sz="2000" dirty="0">
                <a:latin typeface="Lucida Console" pitchFamily="49" charset="0"/>
              </a:rPr>
              <a:t>,</a:t>
            </a:r>
          </a:p>
          <a:p>
            <a:r>
              <a:rPr lang="en-GB" sz="2000" dirty="0">
                <a:latin typeface="Lucida Console" pitchFamily="49" charset="0"/>
              </a:rPr>
              <a:t>  </a:t>
            </a:r>
            <a:r>
              <a:rPr lang="en-GB" sz="2000" dirty="0" err="1">
                <a:latin typeface="Lucida Console" pitchFamily="49" charset="0"/>
              </a:rPr>
              <a:t>c.CompanyName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dbo.Customers</a:t>
            </a:r>
            <a:r>
              <a:rPr lang="en-GB" sz="2000" dirty="0">
                <a:latin typeface="Lucida Console" pitchFamily="49" charset="0"/>
              </a:rPr>
              <a:t> AS c –- Left Table</a:t>
            </a:r>
            <a:br>
              <a:rPr lang="en-GB" sz="2000" dirty="0">
                <a:latin typeface="Lucida Console" pitchFamily="49" charset="0"/>
              </a:rPr>
            </a:br>
            <a:r>
              <a:rPr lang="en-GB" sz="2000" b="1" dirty="0">
                <a:latin typeface="Lucida Console" pitchFamily="49" charset="0"/>
              </a:rPr>
              <a:t>LEFT JOIN</a:t>
            </a:r>
            <a:br>
              <a:rPr lang="en-GB" sz="2000" b="1" dirty="0">
                <a:latin typeface="Lucida Console" pitchFamily="49" charset="0"/>
              </a:rPr>
            </a:br>
            <a:r>
              <a:rPr lang="en-GB" sz="2000" dirty="0">
                <a:latin typeface="Lucida Console" pitchFamily="49" charset="0"/>
              </a:rPr>
              <a:t>  </a:t>
            </a:r>
            <a:r>
              <a:rPr lang="en-GB" sz="2000" dirty="0" err="1">
                <a:latin typeface="Lucida Console" pitchFamily="49" charset="0"/>
              </a:rPr>
              <a:t>dbo.Orders</a:t>
            </a:r>
            <a:r>
              <a:rPr lang="en-GB" sz="2000" dirty="0">
                <a:latin typeface="Lucida Console" pitchFamily="49" charset="0"/>
              </a:rPr>
              <a:t> AS o</a:t>
            </a:r>
          </a:p>
          <a:p>
            <a:r>
              <a:rPr lang="en-GB" sz="2000" dirty="0">
                <a:latin typeface="Lucida Console" pitchFamily="49" charset="0"/>
              </a:rPr>
              <a:t>ON</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c.CustomerID</a:t>
            </a:r>
            <a:r>
              <a:rPr lang="en-GB" sz="2000" dirty="0">
                <a:latin typeface="Lucida Console" pitchFamily="49" charset="0"/>
              </a:rPr>
              <a:t> = </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o.CustomerID</a:t>
            </a:r>
            <a:endParaRPr lang="en-GB" sz="2000" dirty="0">
              <a:latin typeface="Lucida Console" pitchFamily="49" charset="0"/>
            </a:endParaRPr>
          </a:p>
        </p:txBody>
      </p:sp>
      <p:pic>
        <p:nvPicPr>
          <p:cNvPr id="8" name="Picture 7" descr="Graphical user interface, text, application, table&#10;&#10;Description automatically generated">
            <a:extLst>
              <a:ext uri="{FF2B5EF4-FFF2-40B4-BE49-F238E27FC236}">
                <a16:creationId xmlns:a16="http://schemas.microsoft.com/office/drawing/2014/main" id="{66BC0B9D-8C9D-AFA5-D290-9B1027DB99E0}"/>
              </a:ext>
            </a:extLst>
          </p:cNvPr>
          <p:cNvPicPr>
            <a:picLocks noChangeAspect="1"/>
          </p:cNvPicPr>
          <p:nvPr/>
        </p:nvPicPr>
        <p:blipFill>
          <a:blip r:embed="rId3"/>
          <a:stretch>
            <a:fillRect/>
          </a:stretch>
        </p:blipFill>
        <p:spPr>
          <a:xfrm>
            <a:off x="6341745" y="1827688"/>
            <a:ext cx="5328621" cy="3202624"/>
          </a:xfrm>
          <a:prstGeom prst="rect">
            <a:avLst/>
          </a:prstGeom>
        </p:spPr>
      </p:pic>
    </p:spTree>
    <p:extLst>
      <p:ext uri="{BB962C8B-B14F-4D97-AF65-F5344CB8AC3E}">
        <p14:creationId xmlns:p14="http://schemas.microsoft.com/office/powerpoint/2010/main" val="2379864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831789" y="1034495"/>
            <a:ext cx="9491663" cy="687614"/>
          </a:xfrm>
        </p:spPr>
        <p:txBody>
          <a:bodyPr/>
          <a:lstStyle/>
          <a:p>
            <a:r>
              <a:rPr lang="en-GB" dirty="0"/>
              <a:t>Right join</a:t>
            </a:r>
          </a:p>
        </p:txBody>
      </p:sp>
      <p:sp>
        <p:nvSpPr>
          <p:cNvPr id="39940" name="Content Placeholder 3"/>
          <p:cNvSpPr>
            <a:spLocks noGrp="1"/>
          </p:cNvSpPr>
          <p:nvPr>
            <p:ph sz="half" idx="1"/>
          </p:nvPr>
        </p:nvSpPr>
        <p:spPr>
          <a:xfrm>
            <a:off x="332317" y="3890963"/>
            <a:ext cx="5704416" cy="2662237"/>
          </a:xfrm>
        </p:spPr>
        <p:txBody>
          <a:bodyPr/>
          <a:lstStyle/>
          <a:p>
            <a:pPr>
              <a:buFont typeface="Arial" panose="020B0604020202020204" pitchFamily="34" charset="0"/>
              <a:buChar char="•"/>
            </a:pPr>
            <a:r>
              <a:rPr lang="en-GB" sz="2000" b="1" dirty="0"/>
              <a:t>SELECT * </a:t>
            </a:r>
          </a:p>
          <a:p>
            <a:pPr>
              <a:buFont typeface="Arial" panose="020B0604020202020204" pitchFamily="34" charset="0"/>
              <a:buChar char="•"/>
            </a:pPr>
            <a:r>
              <a:rPr lang="en-GB" sz="2000" b="1" dirty="0"/>
              <a:t>	FROM Table1 </a:t>
            </a:r>
            <a:r>
              <a:rPr lang="en-GB" sz="2000" b="1" dirty="0">
                <a:solidFill>
                  <a:srgbClr val="FF0000"/>
                </a:solidFill>
              </a:rPr>
              <a:t>RIGHT JOIN </a:t>
            </a:r>
            <a:r>
              <a:rPr lang="en-GB" sz="2000" b="1" dirty="0"/>
              <a:t>Table2 </a:t>
            </a:r>
          </a:p>
          <a:p>
            <a:pPr>
              <a:buFont typeface="Arial" panose="020B0604020202020204" pitchFamily="34" charset="0"/>
              <a:buChar char="•"/>
            </a:pPr>
            <a:r>
              <a:rPr lang="en-GB" sz="2000" b="1" dirty="0"/>
              <a:t>		ON Table1.Col1 = Table2.Col2</a:t>
            </a:r>
          </a:p>
        </p:txBody>
      </p:sp>
      <p:pic>
        <p:nvPicPr>
          <p:cNvPr id="39939" name="Picture 2"/>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7225506" y="1846263"/>
            <a:ext cx="3733800" cy="2724150"/>
          </a:xfrm>
        </p:spPr>
      </p:pic>
      <p:sp>
        <p:nvSpPr>
          <p:cNvPr id="39941" name="Content Placeholder 2"/>
          <p:cNvSpPr txBox="1">
            <a:spLocks/>
          </p:cNvSpPr>
          <p:nvPr/>
        </p:nvSpPr>
        <p:spPr bwMode="auto">
          <a:xfrm>
            <a:off x="246382" y="1813656"/>
            <a:ext cx="5192183" cy="256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8925" indent="-288925">
              <a:defRPr b="1">
                <a:solidFill>
                  <a:schemeClr val="tx1"/>
                </a:solidFill>
                <a:latin typeface="Arial Narrow" pitchFamily="34" charset="0"/>
              </a:defRPr>
            </a:lvl1pPr>
            <a:lvl2pPr marL="742950" indent="-285750">
              <a:defRPr b="1">
                <a:solidFill>
                  <a:schemeClr val="tx1"/>
                </a:solidFill>
                <a:latin typeface="Arial Narrow" pitchFamily="34" charset="0"/>
              </a:defRPr>
            </a:lvl2pPr>
            <a:lvl3pPr marL="1143000" indent="-228600">
              <a:defRPr b="1">
                <a:solidFill>
                  <a:schemeClr val="tx1"/>
                </a:solidFill>
                <a:latin typeface="Arial Narrow" pitchFamily="34" charset="0"/>
              </a:defRPr>
            </a:lvl3pPr>
            <a:lvl4pPr marL="1600200" indent="-228600">
              <a:defRPr b="1">
                <a:solidFill>
                  <a:schemeClr val="tx1"/>
                </a:solidFill>
                <a:latin typeface="Arial Narrow" pitchFamily="34" charset="0"/>
              </a:defRPr>
            </a:lvl4pPr>
            <a:lvl5pPr marL="2057400" indent="-228600">
              <a:defRPr b="1">
                <a:solidFill>
                  <a:schemeClr val="tx1"/>
                </a:solidFill>
                <a:latin typeface="Arial Narrow" pitchFamily="34" charset="0"/>
              </a:defRPr>
            </a:lvl5pPr>
            <a:lvl6pPr marL="2514600" indent="-228600" algn="ctr" eaLnBrk="0" fontAlgn="base" hangingPunct="0">
              <a:spcBef>
                <a:spcPct val="0"/>
              </a:spcBef>
              <a:spcAft>
                <a:spcPct val="0"/>
              </a:spcAft>
              <a:defRPr b="1">
                <a:solidFill>
                  <a:schemeClr val="tx1"/>
                </a:solidFill>
                <a:latin typeface="Arial Narrow" pitchFamily="34" charset="0"/>
              </a:defRPr>
            </a:lvl6pPr>
            <a:lvl7pPr marL="2971800" indent="-228600" algn="ctr" eaLnBrk="0" fontAlgn="base" hangingPunct="0">
              <a:spcBef>
                <a:spcPct val="0"/>
              </a:spcBef>
              <a:spcAft>
                <a:spcPct val="0"/>
              </a:spcAft>
              <a:defRPr b="1">
                <a:solidFill>
                  <a:schemeClr val="tx1"/>
                </a:solidFill>
                <a:latin typeface="Arial Narrow" pitchFamily="34" charset="0"/>
              </a:defRPr>
            </a:lvl7pPr>
            <a:lvl8pPr marL="3429000" indent="-228600" algn="ctr" eaLnBrk="0" fontAlgn="base" hangingPunct="0">
              <a:spcBef>
                <a:spcPct val="0"/>
              </a:spcBef>
              <a:spcAft>
                <a:spcPct val="0"/>
              </a:spcAft>
              <a:defRPr b="1">
                <a:solidFill>
                  <a:schemeClr val="tx1"/>
                </a:solidFill>
                <a:latin typeface="Arial Narrow" pitchFamily="34" charset="0"/>
              </a:defRPr>
            </a:lvl8pPr>
            <a:lvl9pPr marL="3886200" indent="-228600" algn="ctr" eaLnBrk="0" fontAlgn="base" hangingPunct="0">
              <a:spcBef>
                <a:spcPct val="0"/>
              </a:spcBef>
              <a:spcAft>
                <a:spcPct val="0"/>
              </a:spcAft>
              <a:defRPr b="1">
                <a:solidFill>
                  <a:schemeClr val="tx1"/>
                </a:solidFill>
                <a:latin typeface="Arial Narrow" pitchFamily="34" charset="0"/>
              </a:defRPr>
            </a:lvl9pPr>
          </a:lstStyle>
          <a:p>
            <a:pPr marL="342900" indent="-342900" algn="l">
              <a:lnSpc>
                <a:spcPct val="120000"/>
              </a:lnSpc>
              <a:spcBef>
                <a:spcPct val="60000"/>
              </a:spcBef>
              <a:buClr>
                <a:srgbClr val="004050"/>
              </a:buClr>
              <a:buFont typeface="Arial" panose="020B0604020202020204" pitchFamily="34" charset="0"/>
              <a:buChar char="•"/>
            </a:pPr>
            <a:r>
              <a:rPr lang="en-GB" sz="2400" dirty="0">
                <a:solidFill>
                  <a:srgbClr val="004050"/>
                </a:solidFill>
                <a:latin typeface="+mn-lt"/>
              </a:rPr>
              <a:t>Returns columns from both tables where the ON clause is true and columns from Table2 in all cases</a:t>
            </a:r>
          </a:p>
        </p:txBody>
      </p:sp>
    </p:spTree>
    <p:extLst>
      <p:ext uri="{BB962C8B-B14F-4D97-AF65-F5344CB8AC3E}">
        <p14:creationId xmlns:p14="http://schemas.microsoft.com/office/powerpoint/2010/main" val="1180595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808" y="1017243"/>
            <a:ext cx="9491663" cy="687614"/>
          </a:xfrm>
        </p:spPr>
        <p:txBody>
          <a:bodyPr/>
          <a:lstStyle/>
          <a:p>
            <a:r>
              <a:rPr lang="en-GB" dirty="0"/>
              <a:t>Right join</a:t>
            </a:r>
          </a:p>
        </p:txBody>
      </p:sp>
      <p:sp>
        <p:nvSpPr>
          <p:cNvPr id="5" name="Rectangle 4"/>
          <p:cNvSpPr>
            <a:spLocks noChangeArrowheads="1"/>
          </p:cNvSpPr>
          <p:nvPr/>
        </p:nvSpPr>
        <p:spPr bwMode="auto">
          <a:xfrm>
            <a:off x="864808" y="1923394"/>
            <a:ext cx="5077121" cy="347787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o.OrderID</a:t>
            </a:r>
            <a:r>
              <a:rPr lang="en-GB" sz="2000" dirty="0">
                <a:latin typeface="Lucida Console" pitchFamily="49" charset="0"/>
              </a:rPr>
              <a:t>,</a:t>
            </a:r>
          </a:p>
          <a:p>
            <a:r>
              <a:rPr lang="en-GB" sz="2000" dirty="0">
                <a:latin typeface="Lucida Console" pitchFamily="49" charset="0"/>
              </a:rPr>
              <a:t>  </a:t>
            </a:r>
            <a:r>
              <a:rPr lang="en-GB" sz="2000" dirty="0" err="1">
                <a:latin typeface="Lucida Console" pitchFamily="49" charset="0"/>
              </a:rPr>
              <a:t>o.OrderDate</a:t>
            </a:r>
            <a:r>
              <a:rPr lang="en-GB" sz="2000" dirty="0">
                <a:latin typeface="Lucida Console" pitchFamily="49" charset="0"/>
              </a:rPr>
              <a:t>,</a:t>
            </a:r>
          </a:p>
          <a:p>
            <a:r>
              <a:rPr lang="en-GB" sz="2000" dirty="0">
                <a:latin typeface="Lucida Console" pitchFamily="49" charset="0"/>
              </a:rPr>
              <a:t>  </a:t>
            </a:r>
            <a:r>
              <a:rPr lang="en-GB" sz="2000" dirty="0" err="1">
                <a:latin typeface="Lucida Console" pitchFamily="49" charset="0"/>
              </a:rPr>
              <a:t>c.CompanyName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dbo.Customers</a:t>
            </a:r>
            <a:r>
              <a:rPr lang="en-GB" sz="2000" dirty="0">
                <a:latin typeface="Lucida Console" pitchFamily="49" charset="0"/>
              </a:rPr>
              <a:t> AS c</a:t>
            </a:r>
            <a:br>
              <a:rPr lang="en-GB" sz="2000" dirty="0">
                <a:latin typeface="Lucida Console" pitchFamily="49" charset="0"/>
              </a:rPr>
            </a:br>
            <a:r>
              <a:rPr lang="en-GB" sz="2000" b="1" dirty="0">
                <a:latin typeface="Lucida Console" pitchFamily="49" charset="0"/>
              </a:rPr>
              <a:t>RIGHT JOIN</a:t>
            </a:r>
            <a:br>
              <a:rPr lang="en-GB" sz="2000" b="1" dirty="0">
                <a:latin typeface="Lucida Console" pitchFamily="49" charset="0"/>
              </a:rPr>
            </a:br>
            <a:r>
              <a:rPr lang="en-GB" sz="2000" dirty="0">
                <a:latin typeface="Lucida Console" pitchFamily="49" charset="0"/>
              </a:rPr>
              <a:t>  </a:t>
            </a:r>
            <a:r>
              <a:rPr lang="en-GB" sz="2000" dirty="0" err="1">
                <a:latin typeface="Lucida Console" pitchFamily="49" charset="0"/>
              </a:rPr>
              <a:t>dbo.Orders</a:t>
            </a:r>
            <a:r>
              <a:rPr lang="en-GB" sz="2000" dirty="0">
                <a:latin typeface="Lucida Console" pitchFamily="49" charset="0"/>
              </a:rPr>
              <a:t> AS o</a:t>
            </a:r>
          </a:p>
          <a:p>
            <a:r>
              <a:rPr lang="en-GB" sz="2000" dirty="0">
                <a:latin typeface="Lucida Console" pitchFamily="49" charset="0"/>
              </a:rPr>
              <a:t>ON</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c.CustomerID</a:t>
            </a:r>
            <a:r>
              <a:rPr lang="en-GB" sz="2000" dirty="0">
                <a:latin typeface="Lucida Console" pitchFamily="49" charset="0"/>
              </a:rPr>
              <a:t> = </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o.CustomerID</a:t>
            </a:r>
            <a:endParaRPr lang="en-GB" sz="2000" dirty="0">
              <a:latin typeface="Lucida Console" pitchFamily="49" charset="0"/>
            </a:endParaRPr>
          </a:p>
        </p:txBody>
      </p:sp>
      <p:pic>
        <p:nvPicPr>
          <p:cNvPr id="6" name="Picture 5" descr="Text, table&#10;&#10;Description automatically generated">
            <a:extLst>
              <a:ext uri="{FF2B5EF4-FFF2-40B4-BE49-F238E27FC236}">
                <a16:creationId xmlns:a16="http://schemas.microsoft.com/office/drawing/2014/main" id="{F14BA702-E11D-D0FB-7A88-C6A15BE478AC}"/>
              </a:ext>
            </a:extLst>
          </p:cNvPr>
          <p:cNvPicPr>
            <a:picLocks noChangeAspect="1"/>
          </p:cNvPicPr>
          <p:nvPr/>
        </p:nvPicPr>
        <p:blipFill>
          <a:blip r:embed="rId3"/>
          <a:stretch>
            <a:fillRect/>
          </a:stretch>
        </p:blipFill>
        <p:spPr>
          <a:xfrm>
            <a:off x="4758468" y="3219606"/>
            <a:ext cx="5259569" cy="3207386"/>
          </a:xfrm>
          <a:prstGeom prst="rect">
            <a:avLst/>
          </a:prstGeom>
        </p:spPr>
      </p:pic>
    </p:spTree>
    <p:extLst>
      <p:ext uri="{BB962C8B-B14F-4D97-AF65-F5344CB8AC3E}">
        <p14:creationId xmlns:p14="http://schemas.microsoft.com/office/powerpoint/2010/main" val="3709564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970756" y="945648"/>
            <a:ext cx="9491663" cy="687614"/>
          </a:xfrm>
        </p:spPr>
        <p:txBody>
          <a:bodyPr/>
          <a:lstStyle/>
          <a:p>
            <a:r>
              <a:rPr lang="en-GB" dirty="0"/>
              <a:t>Full join</a:t>
            </a:r>
          </a:p>
        </p:txBody>
      </p:sp>
      <p:sp>
        <p:nvSpPr>
          <p:cNvPr id="40963" name="Content Placeholder 2"/>
          <p:cNvSpPr>
            <a:spLocks noGrp="1"/>
          </p:cNvSpPr>
          <p:nvPr>
            <p:ph sz="half" idx="1"/>
          </p:nvPr>
        </p:nvSpPr>
        <p:spPr>
          <a:xfrm>
            <a:off x="341272" y="1967792"/>
            <a:ext cx="5704416" cy="1487087"/>
          </a:xfrm>
        </p:spPr>
        <p:txBody>
          <a:bodyPr/>
          <a:lstStyle/>
          <a:p>
            <a:pPr marL="342900" indent="-342900">
              <a:buFont typeface="Arial" panose="020B0604020202020204" pitchFamily="34" charset="0"/>
              <a:buChar char="•"/>
            </a:pPr>
            <a:r>
              <a:rPr lang="en-GB" sz="2400" b="1" dirty="0">
                <a:latin typeface="Montserrat (Body)"/>
              </a:rPr>
              <a:t>Returns columns from both tables where the ON clause is true and disjointed rows where matches are not found</a:t>
            </a:r>
          </a:p>
        </p:txBody>
      </p:sp>
      <p:pic>
        <p:nvPicPr>
          <p:cNvPr id="40964" name="Picture 4"/>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6475413" y="1076325"/>
            <a:ext cx="3733800" cy="2724150"/>
          </a:xfrm>
          <a:noFill/>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lgn="ctr">
                <a:solidFill>
                  <a:srgbClr val="333333"/>
                </a:solidFill>
                <a:prstDash val="solid"/>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pic>
      <p:sp>
        <p:nvSpPr>
          <p:cNvPr id="40965" name="Content Placeholder 3"/>
          <p:cNvSpPr txBox="1">
            <a:spLocks/>
          </p:cNvSpPr>
          <p:nvPr/>
        </p:nvSpPr>
        <p:spPr bwMode="auto">
          <a:xfrm>
            <a:off x="341272" y="3469482"/>
            <a:ext cx="5846762"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Narrow" pitchFamily="34" charset="0"/>
              </a:defRPr>
            </a:lvl1pPr>
            <a:lvl2pPr marL="742950" indent="-285750">
              <a:defRPr b="1">
                <a:solidFill>
                  <a:schemeClr val="tx1"/>
                </a:solidFill>
                <a:latin typeface="Arial Narrow" pitchFamily="34" charset="0"/>
              </a:defRPr>
            </a:lvl2pPr>
            <a:lvl3pPr marL="1143000" indent="-228600">
              <a:defRPr b="1">
                <a:solidFill>
                  <a:schemeClr val="tx1"/>
                </a:solidFill>
                <a:latin typeface="Arial Narrow" pitchFamily="34" charset="0"/>
              </a:defRPr>
            </a:lvl3pPr>
            <a:lvl4pPr marL="1600200" indent="-228600">
              <a:defRPr b="1">
                <a:solidFill>
                  <a:schemeClr val="tx1"/>
                </a:solidFill>
                <a:latin typeface="Arial Narrow" pitchFamily="34" charset="0"/>
              </a:defRPr>
            </a:lvl4pPr>
            <a:lvl5pPr marL="2057400" indent="-228600">
              <a:defRPr b="1">
                <a:solidFill>
                  <a:schemeClr val="tx1"/>
                </a:solidFill>
                <a:latin typeface="Arial Narrow" pitchFamily="34" charset="0"/>
              </a:defRPr>
            </a:lvl5pPr>
            <a:lvl6pPr marL="2514600" indent="-228600" algn="ctr" eaLnBrk="0" fontAlgn="base" hangingPunct="0">
              <a:spcBef>
                <a:spcPct val="0"/>
              </a:spcBef>
              <a:spcAft>
                <a:spcPct val="0"/>
              </a:spcAft>
              <a:defRPr b="1">
                <a:solidFill>
                  <a:schemeClr val="tx1"/>
                </a:solidFill>
                <a:latin typeface="Arial Narrow" pitchFamily="34" charset="0"/>
              </a:defRPr>
            </a:lvl6pPr>
            <a:lvl7pPr marL="2971800" indent="-228600" algn="ctr" eaLnBrk="0" fontAlgn="base" hangingPunct="0">
              <a:spcBef>
                <a:spcPct val="0"/>
              </a:spcBef>
              <a:spcAft>
                <a:spcPct val="0"/>
              </a:spcAft>
              <a:defRPr b="1">
                <a:solidFill>
                  <a:schemeClr val="tx1"/>
                </a:solidFill>
                <a:latin typeface="Arial Narrow" pitchFamily="34" charset="0"/>
              </a:defRPr>
            </a:lvl7pPr>
            <a:lvl8pPr marL="3429000" indent="-228600" algn="ctr" eaLnBrk="0" fontAlgn="base" hangingPunct="0">
              <a:spcBef>
                <a:spcPct val="0"/>
              </a:spcBef>
              <a:spcAft>
                <a:spcPct val="0"/>
              </a:spcAft>
              <a:defRPr b="1">
                <a:solidFill>
                  <a:schemeClr val="tx1"/>
                </a:solidFill>
                <a:latin typeface="Arial Narrow" pitchFamily="34" charset="0"/>
              </a:defRPr>
            </a:lvl8pPr>
            <a:lvl9pPr marL="3886200" indent="-228600" algn="ctr" eaLnBrk="0" fontAlgn="base" hangingPunct="0">
              <a:spcBef>
                <a:spcPct val="0"/>
              </a:spcBef>
              <a:spcAft>
                <a:spcPct val="0"/>
              </a:spcAft>
              <a:defRPr b="1">
                <a:solidFill>
                  <a:schemeClr val="tx1"/>
                </a:solidFill>
                <a:latin typeface="Arial Narrow" pitchFamily="34" charset="0"/>
              </a:defRPr>
            </a:lvl9pPr>
          </a:lstStyle>
          <a:p>
            <a:pPr algn="l">
              <a:spcBef>
                <a:spcPct val="60000"/>
              </a:spcBef>
              <a:buClr>
                <a:schemeClr val="bg2"/>
              </a:buClr>
            </a:pPr>
            <a:r>
              <a:rPr lang="en-GB" sz="2000" dirty="0">
                <a:solidFill>
                  <a:srgbClr val="004050"/>
                </a:solidFill>
                <a:latin typeface="+mn-lt"/>
              </a:rPr>
              <a:t>SELECT * </a:t>
            </a:r>
          </a:p>
          <a:p>
            <a:pPr algn="l">
              <a:spcBef>
                <a:spcPct val="60000"/>
              </a:spcBef>
              <a:buClr>
                <a:schemeClr val="bg2"/>
              </a:buClr>
            </a:pPr>
            <a:r>
              <a:rPr lang="en-GB" sz="2000" dirty="0">
                <a:solidFill>
                  <a:srgbClr val="004050"/>
                </a:solidFill>
                <a:latin typeface="+mn-lt"/>
              </a:rPr>
              <a:t>	FROM Table1 </a:t>
            </a:r>
            <a:r>
              <a:rPr lang="en-GB" sz="2000" dirty="0">
                <a:solidFill>
                  <a:srgbClr val="FF0000"/>
                </a:solidFill>
                <a:latin typeface="+mn-lt"/>
              </a:rPr>
              <a:t>FULL JOIN </a:t>
            </a:r>
            <a:r>
              <a:rPr lang="en-GB" sz="2000" dirty="0">
                <a:solidFill>
                  <a:srgbClr val="004050"/>
                </a:solidFill>
                <a:latin typeface="+mn-lt"/>
              </a:rPr>
              <a:t>Table2 </a:t>
            </a:r>
          </a:p>
          <a:p>
            <a:pPr algn="l">
              <a:spcBef>
                <a:spcPct val="60000"/>
              </a:spcBef>
              <a:buClr>
                <a:schemeClr val="bg2"/>
              </a:buClr>
            </a:pPr>
            <a:r>
              <a:rPr lang="en-GB" sz="2000" dirty="0">
                <a:solidFill>
                  <a:srgbClr val="004050"/>
                </a:solidFill>
                <a:latin typeface="+mn-lt"/>
              </a:rPr>
              <a:t>		</a:t>
            </a:r>
            <a:r>
              <a:rPr lang="en-GB" sz="2000" dirty="0">
                <a:solidFill>
                  <a:srgbClr val="FF0000"/>
                </a:solidFill>
                <a:latin typeface="+mn-lt"/>
              </a:rPr>
              <a:t>ON</a:t>
            </a:r>
            <a:r>
              <a:rPr lang="en-GB" sz="2000" dirty="0">
                <a:solidFill>
                  <a:srgbClr val="004050"/>
                </a:solidFill>
                <a:latin typeface="+mn-lt"/>
              </a:rPr>
              <a:t> Table1.Col1 = Table2.Col2</a:t>
            </a:r>
          </a:p>
        </p:txBody>
      </p:sp>
    </p:spTree>
    <p:extLst>
      <p:ext uri="{BB962C8B-B14F-4D97-AF65-F5344CB8AC3E}">
        <p14:creationId xmlns:p14="http://schemas.microsoft.com/office/powerpoint/2010/main" val="2824100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415" y="943929"/>
            <a:ext cx="9491663" cy="687614"/>
          </a:xfrm>
        </p:spPr>
        <p:txBody>
          <a:bodyPr/>
          <a:lstStyle/>
          <a:p>
            <a:r>
              <a:rPr lang="en-GB" dirty="0"/>
              <a:t>Joining more than two tables</a:t>
            </a:r>
          </a:p>
        </p:txBody>
      </p:sp>
      <p:sp>
        <p:nvSpPr>
          <p:cNvPr id="5" name="Rectangle 4"/>
          <p:cNvSpPr>
            <a:spLocks noChangeArrowheads="1"/>
          </p:cNvSpPr>
          <p:nvPr/>
        </p:nvSpPr>
        <p:spPr bwMode="auto">
          <a:xfrm>
            <a:off x="614641" y="1580459"/>
            <a:ext cx="7947912" cy="255454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 </a:t>
            </a:r>
          </a:p>
          <a:p>
            <a:r>
              <a:rPr lang="en-GB" sz="2000" dirty="0" err="1">
                <a:latin typeface="Lucida Console" pitchFamily="49" charset="0"/>
              </a:rPr>
              <a:t>o.OrderID</a:t>
            </a:r>
            <a:r>
              <a:rPr lang="en-GB" sz="2000" dirty="0">
                <a:latin typeface="Lucida Console" pitchFamily="49" charset="0"/>
              </a:rPr>
              <a:t>, </a:t>
            </a:r>
            <a:r>
              <a:rPr lang="en-GB" sz="2000" dirty="0" err="1">
                <a:latin typeface="Lucida Console" pitchFamily="49" charset="0"/>
              </a:rPr>
              <a:t>o.OrderDate</a:t>
            </a:r>
            <a:r>
              <a:rPr lang="en-GB" sz="2000" dirty="0">
                <a:latin typeface="Lucida Console" pitchFamily="49" charset="0"/>
              </a:rPr>
              <a:t>,</a:t>
            </a:r>
          </a:p>
          <a:p>
            <a:r>
              <a:rPr lang="en-GB" sz="2000" dirty="0" err="1">
                <a:latin typeface="Lucida Console" pitchFamily="49" charset="0"/>
              </a:rPr>
              <a:t>c.CompanyName</a:t>
            </a:r>
            <a:r>
              <a:rPr lang="en-GB" sz="2000" dirty="0">
                <a:latin typeface="Lucida Console" pitchFamily="49" charset="0"/>
              </a:rPr>
              <a:t>, </a:t>
            </a:r>
            <a:r>
              <a:rPr lang="en-GB" sz="2000" dirty="0" err="1">
                <a:latin typeface="Lucida Console" pitchFamily="49" charset="0"/>
              </a:rPr>
              <a:t>e.FirstName</a:t>
            </a:r>
            <a:r>
              <a:rPr lang="en-GB" sz="2000" dirty="0">
                <a:latin typeface="Lucida Console" pitchFamily="49" charset="0"/>
              </a:rPr>
              <a:t>, </a:t>
            </a:r>
            <a:r>
              <a:rPr lang="en-GB" sz="2000" dirty="0" err="1">
                <a:latin typeface="Lucida Console" pitchFamily="49" charset="0"/>
              </a:rPr>
              <a:t>e.LastName</a:t>
            </a:r>
            <a:endParaRPr lang="en-GB" sz="2000" dirty="0">
              <a:latin typeface="Lucida Console" pitchFamily="49" charset="0"/>
            </a:endParaRPr>
          </a:p>
          <a:p>
            <a:r>
              <a:rPr lang="en-GB" sz="2000" dirty="0">
                <a:latin typeface="Lucida Console" pitchFamily="49" charset="0"/>
              </a:rPr>
              <a:t>	FROM </a:t>
            </a:r>
            <a:r>
              <a:rPr lang="en-GB" sz="2000" dirty="0" err="1">
                <a:latin typeface="Lucida Console" pitchFamily="49" charset="0"/>
              </a:rPr>
              <a:t>dbo.Customers</a:t>
            </a:r>
            <a:r>
              <a:rPr lang="en-GB" sz="2000" dirty="0">
                <a:latin typeface="Lucida Console" pitchFamily="49" charset="0"/>
              </a:rPr>
              <a:t> AS c</a:t>
            </a:r>
          </a:p>
          <a:p>
            <a:r>
              <a:rPr lang="en-GB" sz="2000" dirty="0">
                <a:latin typeface="Lucida Console" pitchFamily="49" charset="0"/>
              </a:rPr>
              <a:t>LEFT JOIN </a:t>
            </a:r>
            <a:r>
              <a:rPr lang="en-GB" sz="2000" dirty="0" err="1">
                <a:latin typeface="Lucida Console" pitchFamily="49" charset="0"/>
              </a:rPr>
              <a:t>dbo.Orders</a:t>
            </a:r>
            <a:r>
              <a:rPr lang="en-GB" sz="2000" dirty="0">
                <a:latin typeface="Lucida Console" pitchFamily="49" charset="0"/>
              </a:rPr>
              <a:t> AS o</a:t>
            </a:r>
          </a:p>
          <a:p>
            <a:r>
              <a:rPr lang="en-GB" sz="2000" dirty="0">
                <a:latin typeface="Lucida Console" pitchFamily="49" charset="0"/>
              </a:rPr>
              <a:t>	ON </a:t>
            </a:r>
            <a:r>
              <a:rPr lang="en-GB" sz="2000" dirty="0" err="1">
                <a:latin typeface="Lucida Console" pitchFamily="49" charset="0"/>
              </a:rPr>
              <a:t>c.CustomerID</a:t>
            </a:r>
            <a:r>
              <a:rPr lang="en-GB" sz="2000" dirty="0">
                <a:latin typeface="Lucida Console" pitchFamily="49" charset="0"/>
              </a:rPr>
              <a:t> = </a:t>
            </a:r>
            <a:r>
              <a:rPr lang="en-GB" sz="2000" dirty="0" err="1">
                <a:latin typeface="Lucida Console" pitchFamily="49" charset="0"/>
              </a:rPr>
              <a:t>o.CustomerID</a:t>
            </a:r>
            <a:endParaRPr lang="en-GB" sz="2000" dirty="0">
              <a:latin typeface="Lucida Console" pitchFamily="49" charset="0"/>
            </a:endParaRPr>
          </a:p>
          <a:p>
            <a:r>
              <a:rPr lang="en-GB" sz="2000" dirty="0">
                <a:latin typeface="Lucida Console" pitchFamily="49" charset="0"/>
              </a:rPr>
              <a:t>LEFT JOIN </a:t>
            </a:r>
            <a:r>
              <a:rPr lang="en-GB" sz="2000" dirty="0" err="1">
                <a:latin typeface="Lucida Console" pitchFamily="49" charset="0"/>
              </a:rPr>
              <a:t>dbo.Employees</a:t>
            </a:r>
            <a:r>
              <a:rPr lang="en-GB" sz="2000" dirty="0">
                <a:latin typeface="Lucida Console" pitchFamily="49" charset="0"/>
              </a:rPr>
              <a:t> AS e ON </a:t>
            </a:r>
            <a:r>
              <a:rPr lang="en-GB" sz="2000" dirty="0" err="1">
                <a:latin typeface="Lucida Console" pitchFamily="49" charset="0"/>
              </a:rPr>
              <a:t>e.EmployeeID</a:t>
            </a:r>
            <a:r>
              <a:rPr lang="en-GB" sz="2000" dirty="0">
                <a:latin typeface="Lucida Console" pitchFamily="49" charset="0"/>
              </a:rPr>
              <a:t> = </a:t>
            </a:r>
            <a:r>
              <a:rPr lang="en-GB" sz="2000" dirty="0" err="1">
                <a:latin typeface="Lucida Console" pitchFamily="49" charset="0"/>
              </a:rPr>
              <a:t>o.EmployeeID</a:t>
            </a:r>
            <a:endParaRPr lang="en-GB" sz="2000" dirty="0">
              <a:latin typeface="Lucida Console" pitchFamily="49" charset="0"/>
            </a:endParaRPr>
          </a:p>
        </p:txBody>
      </p:sp>
      <p:pic>
        <p:nvPicPr>
          <p:cNvPr id="4" name="Picture 3" descr="Graphical user interface, application, table&#10;&#10;Description automatically generated">
            <a:extLst>
              <a:ext uri="{FF2B5EF4-FFF2-40B4-BE49-F238E27FC236}">
                <a16:creationId xmlns:a16="http://schemas.microsoft.com/office/drawing/2014/main" id="{02ABC13B-F912-CA2D-733F-58BAA3149DF5}"/>
              </a:ext>
            </a:extLst>
          </p:cNvPr>
          <p:cNvPicPr>
            <a:picLocks noChangeAspect="1"/>
          </p:cNvPicPr>
          <p:nvPr/>
        </p:nvPicPr>
        <p:blipFill>
          <a:blip r:embed="rId3"/>
          <a:stretch>
            <a:fillRect/>
          </a:stretch>
        </p:blipFill>
        <p:spPr>
          <a:xfrm>
            <a:off x="2903719" y="3889836"/>
            <a:ext cx="8141647" cy="2968164"/>
          </a:xfrm>
          <a:prstGeom prst="rect">
            <a:avLst/>
          </a:prstGeom>
        </p:spPr>
      </p:pic>
    </p:spTree>
    <p:extLst>
      <p:ext uri="{BB962C8B-B14F-4D97-AF65-F5344CB8AC3E}">
        <p14:creationId xmlns:p14="http://schemas.microsoft.com/office/powerpoint/2010/main" val="86376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7996" y="1002448"/>
            <a:ext cx="9491663" cy="687614"/>
          </a:xfrm>
        </p:spPr>
        <p:txBody>
          <a:bodyPr/>
          <a:lstStyle/>
          <a:p>
            <a:r>
              <a:rPr lang="en-GB" dirty="0"/>
              <a:t>Joining a table to itself</a:t>
            </a:r>
          </a:p>
        </p:txBody>
      </p:sp>
      <p:sp>
        <p:nvSpPr>
          <p:cNvPr id="5" name="Rectangle 4"/>
          <p:cNvSpPr>
            <a:spLocks noChangeArrowheads="1"/>
          </p:cNvSpPr>
          <p:nvPr/>
        </p:nvSpPr>
        <p:spPr bwMode="auto">
          <a:xfrm>
            <a:off x="1192612" y="1690062"/>
            <a:ext cx="5757605" cy="347787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emp.FirstName, emp.LastName,</a:t>
            </a:r>
            <a:br>
              <a:rPr lang="en-GB" sz="2000" dirty="0">
                <a:latin typeface="Lucida Console" pitchFamily="49" charset="0"/>
              </a:rPr>
            </a:br>
            <a:r>
              <a:rPr lang="en-GB" sz="2000" dirty="0">
                <a:latin typeface="Lucida Console" pitchFamily="49" charset="0"/>
              </a:rPr>
              <a:t>  mgr.FirstName + ' ' + mgr.LastName</a:t>
            </a:r>
            <a:br>
              <a:rPr lang="en-GB" sz="2000" dirty="0">
                <a:latin typeface="Lucida Console" pitchFamily="49" charset="0"/>
              </a:rPr>
            </a:br>
            <a:r>
              <a:rPr lang="en-GB" sz="2000" dirty="0">
                <a:latin typeface="Lucida Console" pitchFamily="49" charset="0"/>
              </a:rPr>
              <a:t>    AS Boss</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dbo.Employees AS emp</a:t>
            </a:r>
            <a:br>
              <a:rPr lang="en-GB" sz="2000" dirty="0">
                <a:latin typeface="Lucida Console" pitchFamily="49" charset="0"/>
              </a:rPr>
            </a:br>
            <a:r>
              <a:rPr lang="en-GB" sz="2000" dirty="0">
                <a:latin typeface="Lucida Console" pitchFamily="49" charset="0"/>
              </a:rPr>
              <a:t>JOIN</a:t>
            </a:r>
            <a:br>
              <a:rPr lang="en-GB" sz="2000" dirty="0">
                <a:latin typeface="Lucida Console" pitchFamily="49" charset="0"/>
              </a:rPr>
            </a:br>
            <a:r>
              <a:rPr lang="en-GB" sz="2000" dirty="0">
                <a:latin typeface="Lucida Console" pitchFamily="49" charset="0"/>
              </a:rPr>
              <a:t>  dbo.Employees AS mgr</a:t>
            </a:r>
            <a:br>
              <a:rPr lang="en-GB" sz="2000" dirty="0">
                <a:latin typeface="Lucida Console" pitchFamily="49" charset="0"/>
              </a:rPr>
            </a:br>
            <a:r>
              <a:rPr lang="en-GB" sz="2000" dirty="0">
                <a:latin typeface="Lucida Console" pitchFamily="49" charset="0"/>
              </a:rPr>
              <a:t>ON</a:t>
            </a:r>
            <a:br>
              <a:rPr lang="en-GB" sz="2000" dirty="0">
                <a:latin typeface="Lucida Console" pitchFamily="49" charset="0"/>
              </a:rPr>
            </a:br>
            <a:r>
              <a:rPr lang="en-GB" sz="2000" dirty="0">
                <a:latin typeface="Lucida Console" pitchFamily="49" charset="0"/>
              </a:rPr>
              <a:t>  emp.ReportsTo = </a:t>
            </a:r>
            <a:br>
              <a:rPr lang="en-GB" sz="2000" dirty="0">
                <a:latin typeface="Lucida Console" pitchFamily="49" charset="0"/>
              </a:rPr>
            </a:br>
            <a:r>
              <a:rPr lang="en-GB" sz="2000" dirty="0">
                <a:latin typeface="Lucida Console" pitchFamily="49" charset="0"/>
              </a:rPr>
              <a:t>    mgr.EmployeeID</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7903" y="2743201"/>
            <a:ext cx="4701756" cy="3738939"/>
          </a:xfrm>
          <a:prstGeom prst="rect">
            <a:avLst/>
          </a:prstGeom>
          <a:ln w="63500">
            <a:solidFill>
              <a:schemeClr val="bg1"/>
            </a:solidFill>
          </a:ln>
        </p:spPr>
      </p:pic>
    </p:spTree>
    <p:extLst>
      <p:ext uri="{BB962C8B-B14F-4D97-AF65-F5344CB8AC3E}">
        <p14:creationId xmlns:p14="http://schemas.microsoft.com/office/powerpoint/2010/main" val="1779785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UNION, EXCEPT, and INTERSECT</a:t>
            </a:r>
            <a:endParaRPr lang="en-IN" dirty="0"/>
          </a:p>
        </p:txBody>
      </p:sp>
    </p:spTree>
    <p:extLst>
      <p:ext uri="{BB962C8B-B14F-4D97-AF65-F5344CB8AC3E}">
        <p14:creationId xmlns:p14="http://schemas.microsoft.com/office/powerpoint/2010/main" val="2420343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674182" y="964558"/>
            <a:ext cx="11517818" cy="805001"/>
          </a:xfrm>
        </p:spPr>
        <p:txBody>
          <a:bodyPr/>
          <a:lstStyle/>
          <a:p>
            <a:r>
              <a:rPr lang="en-GB" dirty="0"/>
              <a:t>Union [All]</a:t>
            </a:r>
          </a:p>
        </p:txBody>
      </p:sp>
      <p:sp>
        <p:nvSpPr>
          <p:cNvPr id="41987" name="Content Placeholder 2"/>
          <p:cNvSpPr>
            <a:spLocks noGrp="1"/>
          </p:cNvSpPr>
          <p:nvPr>
            <p:ph idx="1"/>
          </p:nvPr>
        </p:nvSpPr>
        <p:spPr>
          <a:xfrm>
            <a:off x="341273" y="1673524"/>
            <a:ext cx="4630778" cy="1164925"/>
          </a:xfrm>
        </p:spPr>
        <p:txBody>
          <a:bodyPr/>
          <a:lstStyle/>
          <a:p>
            <a:pPr marL="342900" indent="-342900">
              <a:buFont typeface="Arial" panose="020B0604020202020204" pitchFamily="34" charset="0"/>
              <a:buChar char="•"/>
            </a:pPr>
            <a:r>
              <a:rPr lang="en-GB" b="1" dirty="0"/>
              <a:t>Accumulation of both sets</a:t>
            </a:r>
          </a:p>
          <a:p>
            <a:pPr marL="342900" indent="-342900">
              <a:buFont typeface="Arial" panose="020B0604020202020204" pitchFamily="34" charset="0"/>
              <a:buChar char="•"/>
            </a:pPr>
            <a:r>
              <a:rPr lang="en-GB" b="1" dirty="0"/>
              <a:t>Duplicates may occur with ALL</a:t>
            </a:r>
          </a:p>
        </p:txBody>
      </p:sp>
      <p:pic>
        <p:nvPicPr>
          <p:cNvPr id="41988" name="Picture 4"/>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rcRect/>
          <a:stretch>
            <a:fillRect/>
          </a:stretch>
        </p:blipFill>
        <p:spPr>
          <a:xfrm>
            <a:off x="6915150" y="1779588"/>
            <a:ext cx="3733800" cy="2724150"/>
          </a:xfrm>
        </p:spPr>
      </p:pic>
      <p:sp>
        <p:nvSpPr>
          <p:cNvPr id="41989" name="Content Placeholder 3"/>
          <p:cNvSpPr txBox="1">
            <a:spLocks/>
          </p:cNvSpPr>
          <p:nvPr/>
        </p:nvSpPr>
        <p:spPr bwMode="auto">
          <a:xfrm>
            <a:off x="341273" y="3451225"/>
            <a:ext cx="4284662"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Narrow" pitchFamily="34" charset="0"/>
              </a:defRPr>
            </a:lvl1pPr>
            <a:lvl2pPr marL="742950" indent="-285750">
              <a:defRPr b="1">
                <a:solidFill>
                  <a:schemeClr val="tx1"/>
                </a:solidFill>
                <a:latin typeface="Arial Narrow" pitchFamily="34" charset="0"/>
              </a:defRPr>
            </a:lvl2pPr>
            <a:lvl3pPr marL="1143000" indent="-228600">
              <a:defRPr b="1">
                <a:solidFill>
                  <a:schemeClr val="tx1"/>
                </a:solidFill>
                <a:latin typeface="Arial Narrow" pitchFamily="34" charset="0"/>
              </a:defRPr>
            </a:lvl3pPr>
            <a:lvl4pPr marL="1600200" indent="-228600">
              <a:defRPr b="1">
                <a:solidFill>
                  <a:schemeClr val="tx1"/>
                </a:solidFill>
                <a:latin typeface="Arial Narrow" pitchFamily="34" charset="0"/>
              </a:defRPr>
            </a:lvl4pPr>
            <a:lvl5pPr marL="2057400" indent="-228600">
              <a:defRPr b="1">
                <a:solidFill>
                  <a:schemeClr val="tx1"/>
                </a:solidFill>
                <a:latin typeface="Arial Narrow" pitchFamily="34" charset="0"/>
              </a:defRPr>
            </a:lvl5pPr>
            <a:lvl6pPr marL="2514600" indent="-228600" algn="ctr" eaLnBrk="0" fontAlgn="base" hangingPunct="0">
              <a:spcBef>
                <a:spcPct val="0"/>
              </a:spcBef>
              <a:spcAft>
                <a:spcPct val="0"/>
              </a:spcAft>
              <a:defRPr b="1">
                <a:solidFill>
                  <a:schemeClr val="tx1"/>
                </a:solidFill>
                <a:latin typeface="Arial Narrow" pitchFamily="34" charset="0"/>
              </a:defRPr>
            </a:lvl6pPr>
            <a:lvl7pPr marL="2971800" indent="-228600" algn="ctr" eaLnBrk="0" fontAlgn="base" hangingPunct="0">
              <a:spcBef>
                <a:spcPct val="0"/>
              </a:spcBef>
              <a:spcAft>
                <a:spcPct val="0"/>
              </a:spcAft>
              <a:defRPr b="1">
                <a:solidFill>
                  <a:schemeClr val="tx1"/>
                </a:solidFill>
                <a:latin typeface="Arial Narrow" pitchFamily="34" charset="0"/>
              </a:defRPr>
            </a:lvl7pPr>
            <a:lvl8pPr marL="3429000" indent="-228600" algn="ctr" eaLnBrk="0" fontAlgn="base" hangingPunct="0">
              <a:spcBef>
                <a:spcPct val="0"/>
              </a:spcBef>
              <a:spcAft>
                <a:spcPct val="0"/>
              </a:spcAft>
              <a:defRPr b="1">
                <a:solidFill>
                  <a:schemeClr val="tx1"/>
                </a:solidFill>
                <a:latin typeface="Arial Narrow" pitchFamily="34" charset="0"/>
              </a:defRPr>
            </a:lvl8pPr>
            <a:lvl9pPr marL="3886200" indent="-228600" algn="ctr" eaLnBrk="0" fontAlgn="base" hangingPunct="0">
              <a:spcBef>
                <a:spcPct val="0"/>
              </a:spcBef>
              <a:spcAft>
                <a:spcPct val="0"/>
              </a:spcAft>
              <a:defRPr b="1">
                <a:solidFill>
                  <a:schemeClr val="tx1"/>
                </a:solidFill>
                <a:latin typeface="Arial Narrow" pitchFamily="34" charset="0"/>
              </a:defRPr>
            </a:lvl9pPr>
          </a:lstStyle>
          <a:p>
            <a:pPr algn="l">
              <a:spcBef>
                <a:spcPct val="60000"/>
              </a:spcBef>
              <a:buClr>
                <a:schemeClr val="bg2"/>
              </a:buClr>
            </a:pPr>
            <a:r>
              <a:rPr lang="en-GB" sz="2000" dirty="0">
                <a:solidFill>
                  <a:srgbClr val="004050"/>
                </a:solidFill>
                <a:latin typeface="+mn-lt"/>
              </a:rPr>
              <a:t>SELECT * FROM Table1 </a:t>
            </a:r>
          </a:p>
          <a:p>
            <a:pPr algn="l">
              <a:spcBef>
                <a:spcPct val="60000"/>
              </a:spcBef>
              <a:buClr>
                <a:schemeClr val="bg2"/>
              </a:buClr>
            </a:pPr>
            <a:r>
              <a:rPr lang="en-GB" sz="2000" dirty="0">
                <a:solidFill>
                  <a:srgbClr val="FF0000"/>
                </a:solidFill>
                <a:latin typeface="+mn-lt"/>
              </a:rPr>
              <a:t>UNION</a:t>
            </a:r>
          </a:p>
          <a:p>
            <a:pPr algn="l">
              <a:spcBef>
                <a:spcPct val="60000"/>
              </a:spcBef>
              <a:buClr>
                <a:schemeClr val="bg2"/>
              </a:buClr>
            </a:pPr>
            <a:r>
              <a:rPr lang="en-GB" sz="2000" dirty="0">
                <a:solidFill>
                  <a:srgbClr val="004050"/>
                </a:solidFill>
                <a:latin typeface="+mn-lt"/>
              </a:rPr>
              <a:t>SELECT * FROM Table2 </a:t>
            </a:r>
          </a:p>
          <a:p>
            <a:pPr algn="l">
              <a:spcBef>
                <a:spcPct val="60000"/>
              </a:spcBef>
              <a:buClr>
                <a:schemeClr val="bg2"/>
              </a:buClr>
            </a:pPr>
            <a:r>
              <a:rPr lang="en-GB" sz="2000" dirty="0">
                <a:solidFill>
                  <a:srgbClr val="004050"/>
                </a:solidFill>
                <a:latin typeface="+mn-lt"/>
              </a:rPr>
              <a:t>		</a:t>
            </a:r>
          </a:p>
        </p:txBody>
      </p:sp>
    </p:spTree>
    <p:extLst>
      <p:ext uri="{BB962C8B-B14F-4D97-AF65-F5344CB8AC3E}">
        <p14:creationId xmlns:p14="http://schemas.microsoft.com/office/powerpoint/2010/main" val="3555094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674182" y="898488"/>
            <a:ext cx="11517818" cy="805001"/>
          </a:xfrm>
        </p:spPr>
        <p:txBody>
          <a:bodyPr/>
          <a:lstStyle/>
          <a:p>
            <a:r>
              <a:rPr lang="en-GB" dirty="0"/>
              <a:t>Except</a:t>
            </a:r>
          </a:p>
        </p:txBody>
      </p:sp>
      <p:sp>
        <p:nvSpPr>
          <p:cNvPr id="43011" name="Content Placeholder 2"/>
          <p:cNvSpPr>
            <a:spLocks noGrp="1"/>
          </p:cNvSpPr>
          <p:nvPr>
            <p:ph idx="1"/>
          </p:nvPr>
        </p:nvSpPr>
        <p:spPr>
          <a:xfrm>
            <a:off x="341273" y="1779588"/>
            <a:ext cx="5164178" cy="1049337"/>
          </a:xfrm>
        </p:spPr>
        <p:txBody>
          <a:bodyPr/>
          <a:lstStyle/>
          <a:p>
            <a:pPr marL="342900" indent="-342900">
              <a:buFont typeface="Arial" panose="020B0604020202020204" pitchFamily="34" charset="0"/>
              <a:buChar char="•"/>
            </a:pPr>
            <a:r>
              <a:rPr lang="en-GB" b="1" dirty="0"/>
              <a:t>Rows from Table1 where they do not exist in Table2</a:t>
            </a:r>
          </a:p>
        </p:txBody>
      </p:sp>
      <p:pic>
        <p:nvPicPr>
          <p:cNvPr id="43012" name="Picture 3"/>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rcRect/>
          <a:stretch>
            <a:fillRect/>
          </a:stretch>
        </p:blipFill>
        <p:spPr>
          <a:xfrm>
            <a:off x="6915150" y="1779588"/>
            <a:ext cx="3733800" cy="2724150"/>
          </a:xfrm>
        </p:spPr>
      </p:pic>
      <p:sp>
        <p:nvSpPr>
          <p:cNvPr id="9" name="Content Placeholder 3"/>
          <p:cNvSpPr txBox="1">
            <a:spLocks/>
          </p:cNvSpPr>
          <p:nvPr/>
        </p:nvSpPr>
        <p:spPr bwMode="auto">
          <a:xfrm>
            <a:off x="341273" y="3451225"/>
            <a:ext cx="4284662"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Narrow" pitchFamily="34" charset="0"/>
              </a:defRPr>
            </a:lvl1pPr>
            <a:lvl2pPr marL="742950" indent="-285750">
              <a:defRPr b="1">
                <a:solidFill>
                  <a:schemeClr val="tx1"/>
                </a:solidFill>
                <a:latin typeface="Arial Narrow" pitchFamily="34" charset="0"/>
              </a:defRPr>
            </a:lvl2pPr>
            <a:lvl3pPr marL="1143000" indent="-228600">
              <a:defRPr b="1">
                <a:solidFill>
                  <a:schemeClr val="tx1"/>
                </a:solidFill>
                <a:latin typeface="Arial Narrow" pitchFamily="34" charset="0"/>
              </a:defRPr>
            </a:lvl3pPr>
            <a:lvl4pPr marL="1600200" indent="-228600">
              <a:defRPr b="1">
                <a:solidFill>
                  <a:schemeClr val="tx1"/>
                </a:solidFill>
                <a:latin typeface="Arial Narrow" pitchFamily="34" charset="0"/>
              </a:defRPr>
            </a:lvl4pPr>
            <a:lvl5pPr marL="2057400" indent="-228600">
              <a:defRPr b="1">
                <a:solidFill>
                  <a:schemeClr val="tx1"/>
                </a:solidFill>
                <a:latin typeface="Arial Narrow" pitchFamily="34" charset="0"/>
              </a:defRPr>
            </a:lvl5pPr>
            <a:lvl6pPr marL="2514600" indent="-228600" algn="ctr" eaLnBrk="0" fontAlgn="base" hangingPunct="0">
              <a:spcBef>
                <a:spcPct val="0"/>
              </a:spcBef>
              <a:spcAft>
                <a:spcPct val="0"/>
              </a:spcAft>
              <a:defRPr b="1">
                <a:solidFill>
                  <a:schemeClr val="tx1"/>
                </a:solidFill>
                <a:latin typeface="Arial Narrow" pitchFamily="34" charset="0"/>
              </a:defRPr>
            </a:lvl6pPr>
            <a:lvl7pPr marL="2971800" indent="-228600" algn="ctr" eaLnBrk="0" fontAlgn="base" hangingPunct="0">
              <a:spcBef>
                <a:spcPct val="0"/>
              </a:spcBef>
              <a:spcAft>
                <a:spcPct val="0"/>
              </a:spcAft>
              <a:defRPr b="1">
                <a:solidFill>
                  <a:schemeClr val="tx1"/>
                </a:solidFill>
                <a:latin typeface="Arial Narrow" pitchFamily="34" charset="0"/>
              </a:defRPr>
            </a:lvl7pPr>
            <a:lvl8pPr marL="3429000" indent="-228600" algn="ctr" eaLnBrk="0" fontAlgn="base" hangingPunct="0">
              <a:spcBef>
                <a:spcPct val="0"/>
              </a:spcBef>
              <a:spcAft>
                <a:spcPct val="0"/>
              </a:spcAft>
              <a:defRPr b="1">
                <a:solidFill>
                  <a:schemeClr val="tx1"/>
                </a:solidFill>
                <a:latin typeface="Arial Narrow" pitchFamily="34" charset="0"/>
              </a:defRPr>
            </a:lvl8pPr>
            <a:lvl9pPr marL="3886200" indent="-228600" algn="ctr" eaLnBrk="0" fontAlgn="base" hangingPunct="0">
              <a:spcBef>
                <a:spcPct val="0"/>
              </a:spcBef>
              <a:spcAft>
                <a:spcPct val="0"/>
              </a:spcAft>
              <a:defRPr b="1">
                <a:solidFill>
                  <a:schemeClr val="tx1"/>
                </a:solidFill>
                <a:latin typeface="Arial Narrow" pitchFamily="34" charset="0"/>
              </a:defRPr>
            </a:lvl9pPr>
          </a:lstStyle>
          <a:p>
            <a:pPr algn="l">
              <a:spcBef>
                <a:spcPct val="60000"/>
              </a:spcBef>
              <a:buClr>
                <a:schemeClr val="bg2"/>
              </a:buClr>
            </a:pPr>
            <a:r>
              <a:rPr lang="en-GB" sz="2000" dirty="0">
                <a:solidFill>
                  <a:srgbClr val="004050"/>
                </a:solidFill>
                <a:latin typeface="+mn-lt"/>
              </a:rPr>
              <a:t>SELECT * FROM Table1 </a:t>
            </a:r>
          </a:p>
          <a:p>
            <a:pPr algn="l">
              <a:spcBef>
                <a:spcPct val="60000"/>
              </a:spcBef>
              <a:buClr>
                <a:schemeClr val="bg2"/>
              </a:buClr>
            </a:pPr>
            <a:r>
              <a:rPr lang="en-GB" sz="2000" dirty="0">
                <a:solidFill>
                  <a:srgbClr val="FF0000"/>
                </a:solidFill>
                <a:latin typeface="+mn-lt"/>
              </a:rPr>
              <a:t>EXCEPT</a:t>
            </a:r>
          </a:p>
          <a:p>
            <a:pPr algn="l">
              <a:spcBef>
                <a:spcPct val="60000"/>
              </a:spcBef>
              <a:buClr>
                <a:schemeClr val="bg2"/>
              </a:buClr>
            </a:pPr>
            <a:r>
              <a:rPr lang="en-GB" sz="2000" dirty="0">
                <a:solidFill>
                  <a:srgbClr val="004050"/>
                </a:solidFill>
                <a:latin typeface="+mn-lt"/>
              </a:rPr>
              <a:t>SELECT * FROM Table2 </a:t>
            </a:r>
          </a:p>
          <a:p>
            <a:pPr algn="l">
              <a:spcBef>
                <a:spcPct val="60000"/>
              </a:spcBef>
              <a:buClr>
                <a:schemeClr val="bg2"/>
              </a:buClr>
            </a:pPr>
            <a:r>
              <a:rPr lang="en-GB" sz="2000" dirty="0">
                <a:solidFill>
                  <a:srgbClr val="004050"/>
                </a:solidFill>
                <a:latin typeface="+mn-lt"/>
              </a:rPr>
              <a:t>		</a:t>
            </a:r>
          </a:p>
        </p:txBody>
      </p:sp>
    </p:spTree>
    <p:extLst>
      <p:ext uri="{BB962C8B-B14F-4D97-AF65-F5344CB8AC3E}">
        <p14:creationId xmlns:p14="http://schemas.microsoft.com/office/powerpoint/2010/main" val="3845936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674182" y="993181"/>
            <a:ext cx="11517818" cy="805001"/>
          </a:xfrm>
        </p:spPr>
        <p:txBody>
          <a:bodyPr/>
          <a:lstStyle/>
          <a:p>
            <a:r>
              <a:rPr lang="en-GB" dirty="0"/>
              <a:t>Intersect</a:t>
            </a:r>
          </a:p>
        </p:txBody>
      </p:sp>
      <p:sp>
        <p:nvSpPr>
          <p:cNvPr id="44035" name="Content Placeholder 2"/>
          <p:cNvSpPr>
            <a:spLocks noGrp="1"/>
          </p:cNvSpPr>
          <p:nvPr>
            <p:ph idx="1"/>
          </p:nvPr>
        </p:nvSpPr>
        <p:spPr>
          <a:xfrm>
            <a:off x="341273" y="1889184"/>
            <a:ext cx="5735678" cy="1139765"/>
          </a:xfrm>
        </p:spPr>
        <p:txBody>
          <a:bodyPr/>
          <a:lstStyle/>
          <a:p>
            <a:pPr marL="342900" indent="-342900">
              <a:buFont typeface="Arial" panose="020B0604020202020204" pitchFamily="34" charset="0"/>
              <a:buChar char="•"/>
            </a:pPr>
            <a:r>
              <a:rPr lang="en-GB" b="1" dirty="0"/>
              <a:t>Rows that exist in both sets will be returned</a:t>
            </a:r>
          </a:p>
        </p:txBody>
      </p:sp>
      <p:pic>
        <p:nvPicPr>
          <p:cNvPr id="44036" name="Picture 2"/>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rcRect/>
          <a:stretch>
            <a:fillRect/>
          </a:stretch>
        </p:blipFill>
        <p:spPr>
          <a:xfrm>
            <a:off x="6915150" y="1779588"/>
            <a:ext cx="3733800" cy="2724150"/>
          </a:xfrm>
          <a:noFill/>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lgn="ctr">
                <a:solidFill>
                  <a:srgbClr val="333333"/>
                </a:solidFill>
                <a:prstDash val="solid"/>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pic>
      <p:sp>
        <p:nvSpPr>
          <p:cNvPr id="6" name="Content Placeholder 3"/>
          <p:cNvSpPr txBox="1">
            <a:spLocks/>
          </p:cNvSpPr>
          <p:nvPr/>
        </p:nvSpPr>
        <p:spPr bwMode="auto">
          <a:xfrm>
            <a:off x="341273" y="3451225"/>
            <a:ext cx="4284662"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Narrow" pitchFamily="34" charset="0"/>
              </a:defRPr>
            </a:lvl1pPr>
            <a:lvl2pPr marL="742950" indent="-285750">
              <a:defRPr b="1">
                <a:solidFill>
                  <a:schemeClr val="tx1"/>
                </a:solidFill>
                <a:latin typeface="Arial Narrow" pitchFamily="34" charset="0"/>
              </a:defRPr>
            </a:lvl2pPr>
            <a:lvl3pPr marL="1143000" indent="-228600">
              <a:defRPr b="1">
                <a:solidFill>
                  <a:schemeClr val="tx1"/>
                </a:solidFill>
                <a:latin typeface="Arial Narrow" pitchFamily="34" charset="0"/>
              </a:defRPr>
            </a:lvl3pPr>
            <a:lvl4pPr marL="1600200" indent="-228600">
              <a:defRPr b="1">
                <a:solidFill>
                  <a:schemeClr val="tx1"/>
                </a:solidFill>
                <a:latin typeface="Arial Narrow" pitchFamily="34" charset="0"/>
              </a:defRPr>
            </a:lvl4pPr>
            <a:lvl5pPr marL="2057400" indent="-228600">
              <a:defRPr b="1">
                <a:solidFill>
                  <a:schemeClr val="tx1"/>
                </a:solidFill>
                <a:latin typeface="Arial Narrow" pitchFamily="34" charset="0"/>
              </a:defRPr>
            </a:lvl5pPr>
            <a:lvl6pPr marL="2514600" indent="-228600" algn="ctr" eaLnBrk="0" fontAlgn="base" hangingPunct="0">
              <a:spcBef>
                <a:spcPct val="0"/>
              </a:spcBef>
              <a:spcAft>
                <a:spcPct val="0"/>
              </a:spcAft>
              <a:defRPr b="1">
                <a:solidFill>
                  <a:schemeClr val="tx1"/>
                </a:solidFill>
                <a:latin typeface="Arial Narrow" pitchFamily="34" charset="0"/>
              </a:defRPr>
            </a:lvl6pPr>
            <a:lvl7pPr marL="2971800" indent="-228600" algn="ctr" eaLnBrk="0" fontAlgn="base" hangingPunct="0">
              <a:spcBef>
                <a:spcPct val="0"/>
              </a:spcBef>
              <a:spcAft>
                <a:spcPct val="0"/>
              </a:spcAft>
              <a:defRPr b="1">
                <a:solidFill>
                  <a:schemeClr val="tx1"/>
                </a:solidFill>
                <a:latin typeface="Arial Narrow" pitchFamily="34" charset="0"/>
              </a:defRPr>
            </a:lvl7pPr>
            <a:lvl8pPr marL="3429000" indent="-228600" algn="ctr" eaLnBrk="0" fontAlgn="base" hangingPunct="0">
              <a:spcBef>
                <a:spcPct val="0"/>
              </a:spcBef>
              <a:spcAft>
                <a:spcPct val="0"/>
              </a:spcAft>
              <a:defRPr b="1">
                <a:solidFill>
                  <a:schemeClr val="tx1"/>
                </a:solidFill>
                <a:latin typeface="Arial Narrow" pitchFamily="34" charset="0"/>
              </a:defRPr>
            </a:lvl8pPr>
            <a:lvl9pPr marL="3886200" indent="-228600" algn="ctr" eaLnBrk="0" fontAlgn="base" hangingPunct="0">
              <a:spcBef>
                <a:spcPct val="0"/>
              </a:spcBef>
              <a:spcAft>
                <a:spcPct val="0"/>
              </a:spcAft>
              <a:defRPr b="1">
                <a:solidFill>
                  <a:schemeClr val="tx1"/>
                </a:solidFill>
                <a:latin typeface="Arial Narrow" pitchFamily="34" charset="0"/>
              </a:defRPr>
            </a:lvl9pPr>
          </a:lstStyle>
          <a:p>
            <a:pPr algn="l">
              <a:spcBef>
                <a:spcPct val="60000"/>
              </a:spcBef>
              <a:buClr>
                <a:schemeClr val="bg2"/>
              </a:buClr>
            </a:pPr>
            <a:r>
              <a:rPr lang="en-GB" sz="2000" dirty="0">
                <a:solidFill>
                  <a:srgbClr val="004050"/>
                </a:solidFill>
                <a:latin typeface="+mn-lt"/>
              </a:rPr>
              <a:t>SELECT * FROM Table1 </a:t>
            </a:r>
          </a:p>
          <a:p>
            <a:pPr algn="l">
              <a:spcBef>
                <a:spcPct val="60000"/>
              </a:spcBef>
              <a:buClr>
                <a:schemeClr val="bg2"/>
              </a:buClr>
            </a:pPr>
            <a:r>
              <a:rPr lang="en-GB" sz="2000" dirty="0">
                <a:solidFill>
                  <a:srgbClr val="FF0000"/>
                </a:solidFill>
                <a:latin typeface="+mn-lt"/>
              </a:rPr>
              <a:t>INTERSECT</a:t>
            </a:r>
          </a:p>
          <a:p>
            <a:pPr algn="l">
              <a:spcBef>
                <a:spcPct val="60000"/>
              </a:spcBef>
              <a:buClr>
                <a:schemeClr val="bg2"/>
              </a:buClr>
            </a:pPr>
            <a:r>
              <a:rPr lang="en-GB" sz="2000" dirty="0">
                <a:solidFill>
                  <a:srgbClr val="004050"/>
                </a:solidFill>
                <a:latin typeface="+mn-lt"/>
              </a:rPr>
              <a:t>SELECT * FROM Table2 </a:t>
            </a:r>
          </a:p>
          <a:p>
            <a:pPr algn="l">
              <a:spcBef>
                <a:spcPct val="60000"/>
              </a:spcBef>
              <a:buClr>
                <a:schemeClr val="bg2"/>
              </a:buClr>
            </a:pPr>
            <a:r>
              <a:rPr lang="en-GB" sz="2000" dirty="0">
                <a:solidFill>
                  <a:srgbClr val="004050"/>
                </a:solidFill>
                <a:latin typeface="+mn-lt"/>
              </a:rPr>
              <a:t>		</a:t>
            </a:r>
          </a:p>
        </p:txBody>
      </p:sp>
    </p:spTree>
    <p:extLst>
      <p:ext uri="{BB962C8B-B14F-4D97-AF65-F5344CB8AC3E}">
        <p14:creationId xmlns:p14="http://schemas.microsoft.com/office/powerpoint/2010/main" val="3692892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Hands-on lab</a:t>
            </a:r>
            <a:endParaRPr lang="en-IN" dirty="0"/>
          </a:p>
        </p:txBody>
      </p:sp>
      <p:sp>
        <p:nvSpPr>
          <p:cNvPr id="2" name="Text Placeholder 1">
            <a:extLst>
              <a:ext uri="{FF2B5EF4-FFF2-40B4-BE49-F238E27FC236}">
                <a16:creationId xmlns:a16="http://schemas.microsoft.com/office/drawing/2014/main" id="{1A7993D9-325F-7B2F-5AE6-6FB7DD49A917}"/>
              </a:ext>
            </a:extLst>
          </p:cNvPr>
          <p:cNvSpPr>
            <a:spLocks noGrp="1"/>
          </p:cNvSpPr>
          <p:nvPr>
            <p:ph type="body" sz="quarter" idx="10"/>
          </p:nvPr>
        </p:nvSpPr>
        <p:spPr/>
        <p:txBody>
          <a:bodyPr/>
          <a:lstStyle/>
          <a:p>
            <a:pPr marL="342900" indent="-342900">
              <a:buFont typeface="Arial" panose="020B0604020202020204" pitchFamily="34" charset="0"/>
              <a:buChar char="•"/>
            </a:pPr>
            <a:r>
              <a:rPr lang="en-GB" b="1" dirty="0"/>
              <a:t>Inner joins</a:t>
            </a:r>
          </a:p>
          <a:p>
            <a:pPr marL="342900" indent="-342900">
              <a:buFont typeface="Arial" panose="020B0604020202020204" pitchFamily="34" charset="0"/>
              <a:buChar char="•"/>
            </a:pPr>
            <a:r>
              <a:rPr lang="en-GB" b="1" dirty="0"/>
              <a:t>Outer joins</a:t>
            </a:r>
          </a:p>
          <a:p>
            <a:pPr marL="342900" indent="-342900">
              <a:buFont typeface="Arial" panose="020B0604020202020204" pitchFamily="34" charset="0"/>
              <a:buChar char="•"/>
            </a:pPr>
            <a:r>
              <a:rPr lang="en-GB" b="1" dirty="0"/>
              <a:t>Unions</a:t>
            </a:r>
          </a:p>
          <a:p>
            <a:endParaRPr lang="en-GB" dirty="0"/>
          </a:p>
        </p:txBody>
      </p:sp>
    </p:spTree>
    <p:extLst>
      <p:ext uri="{BB962C8B-B14F-4D97-AF65-F5344CB8AC3E}">
        <p14:creationId xmlns:p14="http://schemas.microsoft.com/office/powerpoint/2010/main" val="3029985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76FBA-4E46-7D48-1256-D999E769A4C2}"/>
              </a:ext>
            </a:extLst>
          </p:cNvPr>
          <p:cNvSpPr>
            <a:spLocks noGrp="1"/>
          </p:cNvSpPr>
          <p:nvPr>
            <p:ph type="ctrTitle"/>
          </p:nvPr>
        </p:nvSpPr>
        <p:spPr/>
        <p:txBody>
          <a:bodyPr/>
          <a:lstStyle/>
          <a:p>
            <a:r>
              <a:rPr lang="en-GB" dirty="0"/>
              <a:t>Review</a:t>
            </a:r>
          </a:p>
        </p:txBody>
      </p:sp>
      <p:sp>
        <p:nvSpPr>
          <p:cNvPr id="5" name="Text Placeholder 4"/>
          <p:cNvSpPr>
            <a:spLocks noGrp="1"/>
          </p:cNvSpPr>
          <p:nvPr>
            <p:ph type="body" sz="quarter" idx="10"/>
          </p:nvPr>
        </p:nvSpPr>
        <p:spPr>
          <a:xfrm>
            <a:off x="790305" y="4889852"/>
            <a:ext cx="6604609" cy="685800"/>
          </a:xfrm>
        </p:spPr>
        <p:txBody>
          <a:bodyPr/>
          <a:lstStyle/>
          <a:p>
            <a:pPr>
              <a:buFont typeface="Arial" panose="020B0604020202020204" pitchFamily="34" charset="0"/>
              <a:buChar char="•"/>
            </a:pPr>
            <a:r>
              <a:rPr lang="en-GB" dirty="0"/>
              <a:t>JOINs</a:t>
            </a:r>
          </a:p>
          <a:p>
            <a:pPr>
              <a:buFont typeface="Arial" panose="020B0604020202020204" pitchFamily="34" charset="0"/>
              <a:buChar char="•"/>
            </a:pPr>
            <a:r>
              <a:rPr lang="en-GB" dirty="0"/>
              <a:t>Join types</a:t>
            </a:r>
          </a:p>
          <a:p>
            <a:pPr>
              <a:buFont typeface="Arial" panose="020B0604020202020204" pitchFamily="34" charset="0"/>
              <a:buChar char="•"/>
            </a:pPr>
            <a:r>
              <a:rPr lang="en-GB" dirty="0"/>
              <a:t>UNION, EXCEPT, and INTERSECT</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1487334611"/>
      </p:ext>
    </p:extLst>
  </p:cSld>
  <p:clrMapOvr>
    <a:masterClrMapping/>
  </p:clrMapOvr>
</p:sld>
</file>

<file path=ppt/theme/theme1.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784FBE3F-1EB5-4B78-902F-FFB6209BBDDA}"/>
    </a:ext>
  </a:extLst>
</a:theme>
</file>

<file path=ppt/theme/theme2.xml><?xml version="1.0" encoding="utf-8"?>
<a:theme xmlns:a="http://schemas.openxmlformats.org/drawingml/2006/main" name="2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655FDAEA-07BD-40A8-9536-EB653008393D}"/>
    </a:ext>
  </a:extLst>
</a:theme>
</file>

<file path=ppt/theme/theme3.xml><?xml version="1.0" encoding="utf-8"?>
<a:theme xmlns:a="http://schemas.openxmlformats.org/drawingml/2006/main" name="1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40FC1162-964C-4C87-AECA-550FFE3793A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SharedWithUsers xmlns="9e706368-9a73-4dcc-9221-b8fc62424fbc">
      <UserInfo>
        <DisplayName/>
        <AccountId xsi:nil="true"/>
        <AccountType/>
      </UserInfo>
    </SharedWithUsers>
    <MediaLengthInSeconds xmlns="eb7c3fc1-ccd5-477b-94a4-7b6dc96a8d59" xsi:nil="true"/>
  </documentManagement>
</p:properties>
</file>

<file path=customXml/itemProps1.xml><?xml version="1.0" encoding="utf-8"?>
<ds:datastoreItem xmlns:ds="http://schemas.openxmlformats.org/officeDocument/2006/customXml" ds:itemID="{2B116513-AC79-4CB1-8BE9-B10106FDC2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30C460-91BC-4486-927B-7DEF612172CF}">
  <ds:schemaRefs>
    <ds:schemaRef ds:uri="http://schemas.microsoft.com/sharepoint/v3/contenttype/forms"/>
  </ds:schemaRefs>
</ds:datastoreItem>
</file>

<file path=customXml/itemProps3.xml><?xml version="1.0" encoding="utf-8"?>
<ds:datastoreItem xmlns:ds="http://schemas.openxmlformats.org/officeDocument/2006/customXml" ds:itemID="{DBC0D1A9-62D4-4D38-98A5-BE95FE2B3BF6}">
  <ds:schemaRefs>
    <ds:schemaRef ds:uri="http://purl.org/dc/elements/1.1/"/>
    <ds:schemaRef ds:uri="http://schemas.microsoft.com/office/2006/metadata/properties"/>
    <ds:schemaRef ds:uri="http://purl.org/dc/terms/"/>
    <ds:schemaRef ds:uri="98F23120-B9C0-4326-80F1-742994D56820"/>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 ds:uri="ae7a5ef5-f60e-4918-a47e-25aad02606cf"/>
    <ds:schemaRef ds:uri="35c74202-6262-43ee-80e5-eb97de261190"/>
    <ds:schemaRef ds:uri="9e706368-9a73-4dcc-9221-b8fc62424fbc"/>
    <ds:schemaRef ds:uri="eb7c3fc1-ccd5-477b-94a4-7b6dc96a8d59"/>
  </ds:schemaRefs>
</ds:datastoreItem>
</file>

<file path=docProps/app.xml><?xml version="1.0" encoding="utf-8"?>
<Properties xmlns="http://schemas.openxmlformats.org/officeDocument/2006/extended-properties" xmlns:vt="http://schemas.openxmlformats.org/officeDocument/2006/docPropsVTypes">
  <Template>QA PPT Template</Template>
  <TotalTime>769</TotalTime>
  <Words>2923</Words>
  <Application>Microsoft Office PowerPoint</Application>
  <PresentationFormat>Widescreen</PresentationFormat>
  <Paragraphs>243</Paragraphs>
  <Slides>22</Slides>
  <Notes>18</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22</vt:i4>
      </vt:variant>
    </vt:vector>
  </HeadingPairs>
  <TitlesOfParts>
    <vt:vector size="36" baseType="lpstr">
      <vt:lpstr>-apple-system</vt:lpstr>
      <vt:lpstr>Arial</vt:lpstr>
      <vt:lpstr>Calibri</vt:lpstr>
      <vt:lpstr>Consolas</vt:lpstr>
      <vt:lpstr>Google Sans</vt:lpstr>
      <vt:lpstr>Krana Fat B</vt:lpstr>
      <vt:lpstr>Lucida Console</vt:lpstr>
      <vt:lpstr>Montserrat</vt:lpstr>
      <vt:lpstr>Montserrat (Body)</vt:lpstr>
      <vt:lpstr>Montserrat Black</vt:lpstr>
      <vt:lpstr>Segoe UI</vt:lpstr>
      <vt:lpstr>Office Theme</vt:lpstr>
      <vt:lpstr>2_Office Theme</vt:lpstr>
      <vt:lpstr>1_Office Theme</vt:lpstr>
      <vt:lpstr>Using Multiple Tables</vt:lpstr>
      <vt:lpstr>Overview</vt:lpstr>
      <vt:lpstr>PowerPoint Presentation</vt:lpstr>
      <vt:lpstr>JOINS</vt:lpstr>
      <vt:lpstr>PowerPoint Presentation</vt:lpstr>
      <vt:lpstr>Join types</vt:lpstr>
      <vt:lpstr>PowerPoint Presentation</vt:lpstr>
      <vt:lpstr>Inner join</vt:lpstr>
      <vt:lpstr>Inner join</vt:lpstr>
      <vt:lpstr>Left (outer) join</vt:lpstr>
      <vt:lpstr>Left join</vt:lpstr>
      <vt:lpstr>Right join</vt:lpstr>
      <vt:lpstr>Right join</vt:lpstr>
      <vt:lpstr>Full join</vt:lpstr>
      <vt:lpstr>Joining more than two tables</vt:lpstr>
      <vt:lpstr>Joining a table to itself</vt:lpstr>
      <vt:lpstr>UNION, EXCEPT, and INTERSECT</vt:lpstr>
      <vt:lpstr>Union [All]</vt:lpstr>
      <vt:lpstr>Except</vt:lpstr>
      <vt:lpstr>Intersect</vt:lpstr>
      <vt:lpstr>Hands-on lab</vt:lpstr>
      <vt:lpstr>Review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Multiple Tables</dc:title>
  <dc:subject/>
  <dc:creator>Lee, Peter</dc:creator>
  <cp:keywords/>
  <dc:description/>
  <cp:lastModifiedBy>Beardsley, Paul</cp:lastModifiedBy>
  <cp:revision>14</cp:revision>
  <cp:lastPrinted>2021-06-30T10:37:00Z</cp:lastPrinted>
  <dcterms:created xsi:type="dcterms:W3CDTF">2023-03-20T11:58:34Z</dcterms:created>
  <dcterms:modified xsi:type="dcterms:W3CDTF">2025-03-17T17:26:24Z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y fmtid="{D5CDD505-2E9C-101B-9397-08002B2CF9AE}" pid="3" name="BookType">
    <vt:lpwstr>10</vt:lpwstr>
  </property>
  <property fmtid="{D5CDD505-2E9C-101B-9397-08002B2CF9AE}" pid="4" name="Order">
    <vt:r8>26363600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