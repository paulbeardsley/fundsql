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Lst>
  <p:notesMasterIdLst>
    <p:notesMasterId r:id="rId24"/>
  </p:notesMasterIdLst>
  <p:handoutMasterIdLst>
    <p:handoutMasterId r:id="rId25"/>
  </p:handoutMasterIdLst>
  <p:sldIdLst>
    <p:sldId id="462" r:id="rId7"/>
    <p:sldId id="612" r:id="rId8"/>
    <p:sldId id="884" r:id="rId9"/>
    <p:sldId id="909" r:id="rId10"/>
    <p:sldId id="910" r:id="rId11"/>
    <p:sldId id="911" r:id="rId12"/>
    <p:sldId id="902" r:id="rId13"/>
    <p:sldId id="912" r:id="rId14"/>
    <p:sldId id="903" r:id="rId15"/>
    <p:sldId id="913" r:id="rId16"/>
    <p:sldId id="904" r:id="rId17"/>
    <p:sldId id="914" r:id="rId18"/>
    <p:sldId id="905" r:id="rId19"/>
    <p:sldId id="915" r:id="rId20"/>
    <p:sldId id="906" r:id="rId21"/>
    <p:sldId id="916" r:id="rId22"/>
    <p:sldId id="917" r:id="rId23"/>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84"/>
            <p14:sldId id="909"/>
            <p14:sldId id="910"/>
            <p14:sldId id="911"/>
            <p14:sldId id="902"/>
            <p14:sldId id="912"/>
            <p14:sldId id="903"/>
            <p14:sldId id="913"/>
            <p14:sldId id="904"/>
            <p14:sldId id="914"/>
            <p14:sldId id="905"/>
            <p14:sldId id="915"/>
            <p14:sldId id="906"/>
            <p14:sldId id="916"/>
            <p14:sldId id="91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65186" autoAdjust="0"/>
  </p:normalViewPr>
  <p:slideViewPr>
    <p:cSldViewPr snapToGrid="0" snapToObjects="1" showGuides="1">
      <p:cViewPr varScale="1">
        <p:scale>
          <a:sx n="39" d="100"/>
          <a:sy n="39" d="100"/>
        </p:scale>
        <p:origin x="1147" y="48"/>
      </p:cViewPr>
      <p:guideLst/>
    </p:cSldViewPr>
  </p:slideViewPr>
  <p:notesTextViewPr>
    <p:cViewPr>
      <p:scale>
        <a:sx n="3" d="2"/>
        <a:sy n="3" d="2"/>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17/03/2025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17/03/2025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optional </a:t>
            </a:r>
            <a:r>
              <a:rPr lang="en-GB" i="1" dirty="0"/>
              <a:t>ORDER BY</a:t>
            </a:r>
            <a:r>
              <a:rPr lang="en-GB" dirty="0"/>
              <a:t> clause is how we tell SQL to sort the results. Its position,</a:t>
            </a:r>
            <a:r>
              <a:rPr lang="en-GB" baseline="0" dirty="0"/>
              <a:t> right at the end of the select statement, is</a:t>
            </a:r>
            <a:r>
              <a:rPr lang="en-GB" dirty="0"/>
              <a:t> accurate.</a:t>
            </a:r>
          </a:p>
          <a:p>
            <a:endParaRPr lang="en-GB" dirty="0"/>
          </a:p>
          <a:p>
            <a:r>
              <a:rPr lang="en-GB" dirty="0"/>
              <a:t>Sorting</a:t>
            </a:r>
            <a:r>
              <a:rPr lang="en-GB" baseline="0" dirty="0"/>
              <a:t> is the </a:t>
            </a:r>
            <a:r>
              <a:rPr lang="en-GB" i="1" baseline="0" dirty="0"/>
              <a:t>very last thing </a:t>
            </a:r>
            <a:r>
              <a:rPr lang="en-GB" baseline="0" dirty="0"/>
              <a:t>to happen to our result set. All the filtering and calculating and manipulating has been done by the time SQL gets around to sorting the data, because sorting can be very time-consuming; imagine if SQL sorted a million rows from a table </a:t>
            </a:r>
            <a:r>
              <a:rPr lang="en-GB" i="0" baseline="0" dirty="0"/>
              <a:t>before realising that </a:t>
            </a:r>
            <a:r>
              <a:rPr lang="en-GB" i="1" baseline="0" dirty="0"/>
              <a:t>none </a:t>
            </a:r>
            <a:r>
              <a:rPr lang="en-GB" i="0" baseline="0" dirty="0"/>
              <a:t>of the rows meet the WHERE clause!</a:t>
            </a:r>
            <a:endParaRPr lang="en-GB" baseline="0" dirty="0"/>
          </a:p>
        </p:txBody>
      </p:sp>
      <p:sp>
        <p:nvSpPr>
          <p:cNvPr id="4" name="Slide Number Placeholder 3"/>
          <p:cNvSpPr>
            <a:spLocks noGrp="1"/>
          </p:cNvSpPr>
          <p:nvPr>
            <p:ph type="sldNum" sz="quarter" idx="10"/>
          </p:nvPr>
        </p:nvSpPr>
        <p:spPr/>
        <p:txBody>
          <a:bodyPr/>
          <a:lstStyle/>
          <a:p>
            <a:fld id="{548901C6-1DA1-FB44-ABEE-06A0FEB7738E}" type="slidenum">
              <a:rPr lang="en-GB" smtClean="0"/>
              <a:t>5</a:t>
            </a:fld>
            <a:endParaRPr lang="en-GB"/>
          </a:p>
        </p:txBody>
      </p:sp>
    </p:spTree>
    <p:extLst>
      <p:ext uri="{BB962C8B-B14F-4D97-AF65-F5344CB8AC3E}">
        <p14:creationId xmlns:p14="http://schemas.microsoft.com/office/powerpoint/2010/main" val="523973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do not specify an</a:t>
            </a:r>
            <a:r>
              <a:rPr lang="en-GB" baseline="0" dirty="0"/>
              <a:t> </a:t>
            </a:r>
            <a:r>
              <a:rPr lang="en-GB" i="1" baseline="0" dirty="0"/>
              <a:t>ORDER BY</a:t>
            </a:r>
            <a:r>
              <a:rPr lang="en-GB" baseline="0" dirty="0"/>
              <a:t> clause</a:t>
            </a:r>
            <a:r>
              <a:rPr lang="en-GB" dirty="0"/>
              <a:t>, SQL does not guarantee the order in which</a:t>
            </a:r>
            <a:r>
              <a:rPr lang="en-GB" baseline="0" dirty="0"/>
              <a:t> rows will be returned.</a:t>
            </a:r>
          </a:p>
          <a:p>
            <a:endParaRPr lang="en-GB" baseline="0" dirty="0"/>
          </a:p>
          <a:p>
            <a:r>
              <a:rPr lang="en-GB" baseline="0" dirty="0"/>
              <a:t>The default sorting rules (“collation settings”) for text (language, case sensitivity, accent sensitivity) will have been set up when the server was installed. Usually, in the UK, they are case insensitive and follow the rules of English. Individual databases, tables and even columns can be given alternative collations.</a:t>
            </a:r>
          </a:p>
          <a:p>
            <a:endParaRPr lang="en-GB" dirty="0"/>
          </a:p>
          <a:p>
            <a:r>
              <a:rPr lang="en-GB" dirty="0"/>
              <a:t>By default, columns are sorted in ascending</a:t>
            </a:r>
            <a:r>
              <a:rPr lang="en-GB" baseline="0" dirty="0"/>
              <a:t> order (1 to 10, a to z, etc.) but it is possible to tell SQL to sort them in descending order (10 to 1, z to a and so on) using the </a:t>
            </a:r>
            <a:r>
              <a:rPr lang="en-GB" i="1" baseline="0" dirty="0"/>
              <a:t>DESC</a:t>
            </a:r>
            <a:r>
              <a:rPr lang="en-GB" baseline="0" dirty="0"/>
              <a:t> keyword. There is also an </a:t>
            </a:r>
            <a:r>
              <a:rPr lang="en-GB" i="1" baseline="0" dirty="0"/>
              <a:t>ASC </a:t>
            </a:r>
            <a:r>
              <a:rPr lang="en-GB" baseline="0" dirty="0"/>
              <a:t>keyword but it doesn’t tend to get used very often...</a:t>
            </a:r>
            <a:endParaRPr lang="en-GB" dirty="0"/>
          </a:p>
        </p:txBody>
      </p:sp>
    </p:spTree>
    <p:extLst>
      <p:ext uri="{BB962C8B-B14F-4D97-AF65-F5344CB8AC3E}">
        <p14:creationId xmlns:p14="http://schemas.microsoft.com/office/powerpoint/2010/main" val="3880898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can sort on up to sixteen columns in one ORDER BY clause, using a comma-separated</a:t>
            </a:r>
            <a:r>
              <a:rPr lang="en-GB" baseline="0" dirty="0"/>
              <a:t> list of column names.</a:t>
            </a:r>
          </a:p>
          <a:p>
            <a:endParaRPr lang="en-GB" baseline="0" dirty="0"/>
          </a:p>
          <a:p>
            <a:r>
              <a:rPr lang="en-GB" baseline="0" dirty="0"/>
              <a:t>The columns that we’re sorting on do not have to be in the list of columns we’re selecting out, but it can be confusing for us humans if the sort order isn’t obvious. Imagine if the example on the slide didn’t include the </a:t>
            </a:r>
            <a:r>
              <a:rPr lang="en-GB" baseline="0" dirty="0" err="1"/>
              <a:t>CategoryId</a:t>
            </a:r>
            <a:r>
              <a:rPr lang="en-GB" baseline="0" dirty="0"/>
              <a:t> column in the select list – it would be difficult to understand why the results were in that order.</a:t>
            </a:r>
            <a:endParaRPr lang="en-GB" dirty="0"/>
          </a:p>
        </p:txBody>
      </p:sp>
    </p:spTree>
    <p:extLst>
      <p:ext uri="{BB962C8B-B14F-4D97-AF65-F5344CB8AC3E}">
        <p14:creationId xmlns:p14="http://schemas.microsoft.com/office/powerpoint/2010/main" val="363729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We are not restricted to just columns; we can sort on calculated values as well.</a:t>
            </a:r>
          </a:p>
          <a:p>
            <a:endParaRPr lang="en-GB" baseline="0" dirty="0"/>
          </a:p>
          <a:p>
            <a:r>
              <a:rPr lang="en-GB" baseline="0" dirty="0"/>
              <a:t>Unlike filtering on expressions, we do not have to duplicate the expression in the ORDER BY clause. Remember, sorting is the very last thing to happen, after all of the rows have been selected and most importantly after all the expressions have been evaluated.</a:t>
            </a:r>
          </a:p>
          <a:p>
            <a:endParaRPr lang="en-GB" baseline="0" dirty="0"/>
          </a:p>
          <a:p>
            <a:r>
              <a:rPr lang="en-GB" baseline="0" dirty="0"/>
              <a:t>We can use the column alias if there is one or the expression’s ordinal number if not.</a:t>
            </a:r>
          </a:p>
          <a:p>
            <a:endParaRPr lang="en-GB" baseline="0" dirty="0"/>
          </a:p>
          <a:p>
            <a:r>
              <a:rPr lang="en-GB" baseline="0" dirty="0"/>
              <a:t>In fact, we can use column ordinals – column numbers relating to their position from left to right in the result set - to sort on any column, calculated or not, but this is not considered best practice.  Firstly, queries using ordinals can be more confusing to read – which column name does “ORDER BY 17” refer to? – plus if you modify the SELECT list your query may no longer return the data sorted in the order you require, or may even return an error, unless you modify the number in the ORDER BY clause.</a:t>
            </a:r>
            <a:endParaRPr lang="en-GB" dirty="0"/>
          </a:p>
        </p:txBody>
      </p:sp>
    </p:spTree>
    <p:extLst>
      <p:ext uri="{BB962C8B-B14F-4D97-AF65-F5344CB8AC3E}">
        <p14:creationId xmlns:p14="http://schemas.microsoft.com/office/powerpoint/2010/main" val="3558690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If we require</a:t>
            </a:r>
            <a:r>
              <a:rPr lang="en-GB" sz="1200" baseline="0" dirty="0">
                <a:latin typeface="+mn-lt"/>
              </a:rPr>
              <a:t> a list of unique values, we can use the </a:t>
            </a:r>
            <a:r>
              <a:rPr lang="en-GB" sz="1200" i="1" baseline="0" dirty="0">
                <a:latin typeface="+mn-lt"/>
              </a:rPr>
              <a:t>DISTINCT</a:t>
            </a:r>
            <a:r>
              <a:rPr lang="en-GB" sz="1200" baseline="0" dirty="0">
                <a:latin typeface="+mn-lt"/>
              </a:rPr>
              <a:t> modifier on our SELECT statement to eliminate duplicates. The reason this is being mentioned during the sorting chapter is that SQL usually needs to sort the data to be able to find duplicates. The check for duplicate data is based on all the values in the select list, so a</a:t>
            </a:r>
          </a:p>
          <a:p>
            <a:endParaRPr lang="en-GB" sz="1200" baseline="0" dirty="0">
              <a:latin typeface="+mn-lt"/>
            </a:endParaRPr>
          </a:p>
          <a:p>
            <a:r>
              <a:rPr lang="en-GB" sz="1200" baseline="0" dirty="0">
                <a:latin typeface="+mn-lt"/>
                <a:cs typeface="Consolas" pitchFamily="49" charset="0"/>
              </a:rPr>
              <a:t>SELECT DISTINCT </a:t>
            </a:r>
            <a:r>
              <a:rPr lang="en-GB" sz="1200" baseline="0" dirty="0" err="1">
                <a:latin typeface="+mn-lt"/>
                <a:cs typeface="Consolas" pitchFamily="49" charset="0"/>
              </a:rPr>
              <a:t>CompanyName</a:t>
            </a:r>
            <a:r>
              <a:rPr lang="en-GB" sz="1200" baseline="0" dirty="0">
                <a:latin typeface="+mn-lt"/>
                <a:cs typeface="Consolas" pitchFamily="49" charset="0"/>
              </a:rPr>
              <a:t>, City FROM </a:t>
            </a:r>
            <a:r>
              <a:rPr lang="en-GB" sz="1200" baseline="0" dirty="0" err="1">
                <a:latin typeface="+mn-lt"/>
                <a:cs typeface="Consolas" pitchFamily="49" charset="0"/>
              </a:rPr>
              <a:t>dbo.Customers</a:t>
            </a:r>
            <a:endParaRPr lang="en-GB" sz="1200" baseline="0" dirty="0">
              <a:latin typeface="+mn-lt"/>
              <a:cs typeface="Consolas" pitchFamily="49" charset="0"/>
            </a:endParaRPr>
          </a:p>
          <a:p>
            <a:endParaRPr lang="en-GB" sz="1200" baseline="0" dirty="0">
              <a:latin typeface="+mn-lt"/>
            </a:endParaRPr>
          </a:p>
          <a:p>
            <a:r>
              <a:rPr lang="en-GB" sz="1200" baseline="0" dirty="0">
                <a:latin typeface="+mn-lt"/>
              </a:rPr>
              <a:t>would be a fairly pointless exercise in the </a:t>
            </a:r>
            <a:r>
              <a:rPr lang="en-GB" sz="1200" baseline="0" dirty="0" err="1">
                <a:latin typeface="+mn-lt"/>
              </a:rPr>
              <a:t>Northwind</a:t>
            </a:r>
            <a:r>
              <a:rPr lang="en-GB" sz="1200" baseline="0" dirty="0">
                <a:latin typeface="+mn-lt"/>
              </a:rPr>
              <a:t> database because every customer only appears once in the customers table. If we just wanted to see which customers have at least one address in a given city, then it might make sense. As in:</a:t>
            </a:r>
          </a:p>
          <a:p>
            <a:endParaRPr lang="en-GB" sz="1200" baseline="0" dirty="0">
              <a:latin typeface="+mn-lt"/>
            </a:endParaRP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sz="1200" baseline="0" dirty="0">
                <a:latin typeface="+mn-lt"/>
                <a:cs typeface="Consolas" pitchFamily="49" charset="0"/>
              </a:rPr>
              <a:t>SELECT DISTINCT </a:t>
            </a:r>
            <a:r>
              <a:rPr lang="en-GB" sz="1200" baseline="0" dirty="0" err="1">
                <a:latin typeface="+mn-lt"/>
                <a:cs typeface="Consolas" pitchFamily="49" charset="0"/>
              </a:rPr>
              <a:t>CompanyName</a:t>
            </a:r>
            <a:r>
              <a:rPr lang="en-GB" sz="1200" baseline="0" dirty="0">
                <a:latin typeface="+mn-lt"/>
                <a:cs typeface="Consolas" pitchFamily="49" charset="0"/>
              </a:rPr>
              <a:t>, City FROM </a:t>
            </a:r>
            <a:r>
              <a:rPr lang="en-GB" sz="1200" baseline="0" dirty="0" err="1">
                <a:latin typeface="+mn-lt"/>
                <a:cs typeface="Consolas" pitchFamily="49" charset="0"/>
              </a:rPr>
              <a:t>dbo.Customers</a:t>
            </a:r>
            <a:endParaRPr lang="en-GB" sz="1200" baseline="0" dirty="0">
              <a:latin typeface="+mn-lt"/>
              <a:cs typeface="Consolas" pitchFamily="49" charset="0"/>
            </a:endParaRP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sz="1200" baseline="0" dirty="0">
                <a:latin typeface="+mn-lt"/>
                <a:cs typeface="Consolas" pitchFamily="49" charset="0"/>
              </a:rPr>
              <a:t>WHERE City = ‘London’</a:t>
            </a:r>
          </a:p>
        </p:txBody>
      </p:sp>
    </p:spTree>
    <p:extLst>
      <p:ext uri="{BB962C8B-B14F-4D97-AF65-F5344CB8AC3E}">
        <p14:creationId xmlns:p14="http://schemas.microsoft.com/office/powerpoint/2010/main" val="1490413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We might only want to see a few of the possible</a:t>
            </a:r>
            <a:r>
              <a:rPr lang="en-GB" sz="1200" baseline="0" dirty="0">
                <a:latin typeface="+mn-lt"/>
              </a:rPr>
              <a:t> rows returned, especially with a sorted query.</a:t>
            </a:r>
          </a:p>
          <a:p>
            <a:endParaRPr lang="en-GB" sz="1200" baseline="0" dirty="0">
              <a:latin typeface="+mn-lt"/>
            </a:endParaRPr>
          </a:p>
          <a:p>
            <a:r>
              <a:rPr lang="en-GB" sz="1200" i="1" baseline="0" dirty="0">
                <a:latin typeface="+mn-lt"/>
              </a:rPr>
              <a:t>SELECT TOP n</a:t>
            </a:r>
            <a:r>
              <a:rPr lang="en-GB" sz="1200" baseline="0" dirty="0">
                <a:latin typeface="+mn-lt"/>
              </a:rPr>
              <a:t> enables us to answer questions like “what are our 10 most expensive products”. We can order our results by price descending and then select just the top 10 results.</a:t>
            </a:r>
          </a:p>
          <a:p>
            <a:r>
              <a:rPr lang="en-GB" sz="1200" baseline="0" dirty="0">
                <a:latin typeface="+mn-lt"/>
              </a:rPr>
              <a:t>We can also specify a percentage of the available rows, so 10% of the rows in a table with 77 rows would give us back 8 rows (the .7 of a row is rounded up).</a:t>
            </a:r>
          </a:p>
          <a:p>
            <a:endParaRPr lang="en-GB" sz="1200" baseline="0" dirty="0">
              <a:latin typeface="+mn-lt"/>
            </a:endParaRPr>
          </a:p>
          <a:p>
            <a:r>
              <a:rPr lang="en-GB" sz="1200" baseline="0" dirty="0">
                <a:latin typeface="+mn-lt"/>
              </a:rPr>
              <a:t>Finally, we can specify the </a:t>
            </a:r>
            <a:r>
              <a:rPr lang="en-GB" sz="1200" i="1" baseline="0" dirty="0">
                <a:latin typeface="+mn-lt"/>
              </a:rPr>
              <a:t>WITH TIES</a:t>
            </a:r>
            <a:r>
              <a:rPr lang="en-GB" sz="1200" baseline="0" dirty="0">
                <a:latin typeface="+mn-lt"/>
              </a:rPr>
              <a:t> option, which tells SQL to return all the rows that are tied for “last place”.  Note that WITH TIES requires an ORDER BY clause to work.</a:t>
            </a:r>
          </a:p>
          <a:p>
            <a:endParaRPr lang="en-GB" sz="1200" baseline="0" dirty="0">
              <a:latin typeface="+mn-lt"/>
            </a:endParaRPr>
          </a:p>
          <a:p>
            <a:r>
              <a:rPr lang="en-GB" sz="1200" baseline="0" dirty="0">
                <a:latin typeface="+mn-lt"/>
              </a:rPr>
              <a:t>It is best practice to only ever use a TOP in conjunction with an ORDER BY clause. This is the only way to predictably indicate which rows are affected by TOP.</a:t>
            </a:r>
          </a:p>
          <a:p>
            <a:endParaRPr lang="en-GB" sz="1200" baseline="0" dirty="0">
              <a:latin typeface="+mn-lt"/>
            </a:endParaRPr>
          </a:p>
          <a:p>
            <a:r>
              <a:rPr lang="en-GB" sz="1200" baseline="0" dirty="0">
                <a:latin typeface="+mn-lt"/>
              </a:rPr>
              <a:t>Since SQL 2012, if you want to implement a paging solution, the new keyword combination of OFFSET and FETCH should be used. As in:</a:t>
            </a:r>
          </a:p>
          <a:p>
            <a:endParaRPr lang="en-GB" sz="1200" baseline="0" dirty="0">
              <a:latin typeface="+mn-lt"/>
            </a:endParaRPr>
          </a:p>
          <a:p>
            <a:r>
              <a:rPr lang="en-GB" sz="1200" baseline="0" dirty="0">
                <a:latin typeface="+mn-lt"/>
                <a:cs typeface="Consolas" pitchFamily="49" charset="0"/>
              </a:rPr>
              <a:t>SELECT </a:t>
            </a:r>
            <a:r>
              <a:rPr lang="en-GB" sz="1200" baseline="0" dirty="0" err="1">
                <a:latin typeface="+mn-lt"/>
                <a:cs typeface="Consolas" pitchFamily="49" charset="0"/>
              </a:rPr>
              <a:t>ProductName</a:t>
            </a:r>
            <a:r>
              <a:rPr lang="en-GB" sz="1200" baseline="0" dirty="0">
                <a:latin typeface="+mn-lt"/>
                <a:cs typeface="Consolas" pitchFamily="49" charset="0"/>
              </a:rPr>
              <a:t>, </a:t>
            </a:r>
            <a:r>
              <a:rPr lang="en-GB" sz="1200" baseline="0" dirty="0" err="1">
                <a:latin typeface="+mn-lt"/>
                <a:cs typeface="Consolas" pitchFamily="49" charset="0"/>
              </a:rPr>
              <a:t>UnitPrice</a:t>
            </a:r>
            <a:r>
              <a:rPr lang="en-GB" sz="1200" baseline="0" dirty="0">
                <a:latin typeface="+mn-lt"/>
                <a:cs typeface="Consolas" pitchFamily="49" charset="0"/>
              </a:rPr>
              <a:t> FROM </a:t>
            </a:r>
            <a:r>
              <a:rPr lang="en-GB" sz="1200" baseline="0" dirty="0" err="1">
                <a:latin typeface="+mn-lt"/>
                <a:cs typeface="Consolas" pitchFamily="49" charset="0"/>
              </a:rPr>
              <a:t>dbo.Products</a:t>
            </a:r>
            <a:r>
              <a:rPr lang="en-GB" sz="1200" baseline="0" dirty="0">
                <a:latin typeface="+mn-lt"/>
                <a:cs typeface="Consolas" pitchFamily="49" charset="0"/>
              </a:rPr>
              <a:t> ORDER BY </a:t>
            </a:r>
            <a:r>
              <a:rPr lang="en-GB" sz="1200" baseline="0" dirty="0" err="1">
                <a:latin typeface="+mn-lt"/>
                <a:cs typeface="Consolas" pitchFamily="49" charset="0"/>
              </a:rPr>
              <a:t>UnitPrice</a:t>
            </a:r>
            <a:r>
              <a:rPr lang="en-GB" sz="1200" baseline="0" dirty="0">
                <a:latin typeface="+mn-lt"/>
                <a:cs typeface="Consolas" pitchFamily="49" charset="0"/>
              </a:rPr>
              <a:t> DESC</a:t>
            </a:r>
          </a:p>
          <a:p>
            <a:r>
              <a:rPr lang="en-GB" sz="1200" b="1" baseline="0" dirty="0">
                <a:latin typeface="+mn-lt"/>
                <a:cs typeface="Consolas" pitchFamily="49" charset="0"/>
              </a:rPr>
              <a:t>OFFSET</a:t>
            </a:r>
            <a:r>
              <a:rPr lang="en-GB" sz="1200" baseline="0" dirty="0">
                <a:latin typeface="+mn-lt"/>
                <a:cs typeface="Consolas" pitchFamily="49" charset="0"/>
              </a:rPr>
              <a:t> 0 ROWS </a:t>
            </a:r>
            <a:r>
              <a:rPr lang="en-GB" sz="1200" b="1" baseline="0" dirty="0">
                <a:latin typeface="+mn-lt"/>
                <a:cs typeface="Consolas" pitchFamily="49" charset="0"/>
              </a:rPr>
              <a:t>FETCH</a:t>
            </a:r>
            <a:r>
              <a:rPr lang="en-GB" sz="1200" baseline="0" dirty="0">
                <a:latin typeface="+mn-lt"/>
                <a:cs typeface="Consolas" pitchFamily="49" charset="0"/>
              </a:rPr>
              <a:t> NEXT 10 ROWS ONLY</a:t>
            </a:r>
          </a:p>
          <a:p>
            <a:endParaRPr lang="en-GB" sz="1200" baseline="0" dirty="0">
              <a:latin typeface="+mn-lt"/>
              <a:cs typeface="Consolas" pitchFamily="49" charset="0"/>
            </a:endParaRPr>
          </a:p>
          <a:p>
            <a:r>
              <a:rPr lang="en-GB" sz="1200" baseline="0" dirty="0">
                <a:latin typeface="+mn-lt"/>
                <a:cs typeface="Consolas" pitchFamily="49" charset="0"/>
              </a:rPr>
              <a:t>Then, to return the next 10 rows the following would be used:</a:t>
            </a:r>
          </a:p>
          <a:p>
            <a:endParaRPr lang="en-GB" sz="1200" baseline="0" dirty="0">
              <a:latin typeface="+mn-lt"/>
              <a:cs typeface="Consolas" pitchFamily="49" charset="0"/>
            </a:endParaRPr>
          </a:p>
          <a:p>
            <a:r>
              <a:rPr lang="en-GB" sz="1200" baseline="0" dirty="0">
                <a:latin typeface="+mn-lt"/>
                <a:cs typeface="Consolas" pitchFamily="49" charset="0"/>
              </a:rPr>
              <a:t>SELECT ProductName, </a:t>
            </a:r>
            <a:r>
              <a:rPr lang="en-GB" sz="1200" baseline="0" dirty="0" err="1">
                <a:latin typeface="+mn-lt"/>
                <a:cs typeface="Consolas" pitchFamily="49" charset="0"/>
              </a:rPr>
              <a:t>UnitPrice</a:t>
            </a:r>
            <a:r>
              <a:rPr lang="en-GB" sz="1200" baseline="0" dirty="0">
                <a:latin typeface="+mn-lt"/>
                <a:cs typeface="Consolas" pitchFamily="49" charset="0"/>
              </a:rPr>
              <a:t> FROM </a:t>
            </a:r>
            <a:r>
              <a:rPr lang="en-GB" sz="1200" baseline="0" dirty="0" err="1">
                <a:latin typeface="+mn-lt"/>
                <a:cs typeface="Consolas" pitchFamily="49" charset="0"/>
              </a:rPr>
              <a:t>dbo.Products</a:t>
            </a:r>
            <a:r>
              <a:rPr lang="en-GB" sz="1200" baseline="0" dirty="0">
                <a:latin typeface="+mn-lt"/>
                <a:cs typeface="Consolas" pitchFamily="49" charset="0"/>
              </a:rPr>
              <a:t> ORDER BY </a:t>
            </a:r>
            <a:r>
              <a:rPr lang="en-GB" sz="1200" baseline="0" dirty="0" err="1">
                <a:latin typeface="+mn-lt"/>
                <a:cs typeface="Consolas" pitchFamily="49" charset="0"/>
              </a:rPr>
              <a:t>UnitPrice</a:t>
            </a:r>
            <a:r>
              <a:rPr lang="en-GB" sz="1200" baseline="0" dirty="0">
                <a:latin typeface="+mn-lt"/>
                <a:cs typeface="Consolas" pitchFamily="49" charset="0"/>
              </a:rPr>
              <a:t> DESC</a:t>
            </a:r>
          </a:p>
          <a:p>
            <a:r>
              <a:rPr lang="en-GB" sz="1200" b="1" baseline="0" dirty="0">
                <a:latin typeface="+mn-lt"/>
                <a:cs typeface="Consolas" pitchFamily="49" charset="0"/>
              </a:rPr>
              <a:t>OFFSET</a:t>
            </a:r>
            <a:r>
              <a:rPr lang="en-GB" sz="1200" baseline="0" dirty="0">
                <a:latin typeface="+mn-lt"/>
                <a:cs typeface="Consolas" pitchFamily="49" charset="0"/>
              </a:rPr>
              <a:t> 10 ROWS </a:t>
            </a:r>
            <a:r>
              <a:rPr lang="en-GB" sz="1200" b="1" baseline="0" dirty="0">
                <a:latin typeface="+mn-lt"/>
                <a:cs typeface="Consolas" pitchFamily="49" charset="0"/>
              </a:rPr>
              <a:t>FETCH</a:t>
            </a:r>
            <a:r>
              <a:rPr lang="en-GB" sz="1200" baseline="0" dirty="0">
                <a:latin typeface="+mn-lt"/>
                <a:cs typeface="Consolas" pitchFamily="49" charset="0"/>
              </a:rPr>
              <a:t> NEXT 10 ROWS ONLY</a:t>
            </a:r>
          </a:p>
          <a:p>
            <a:endParaRPr lang="en-GB" sz="1200" baseline="0" dirty="0">
              <a:latin typeface="+mn-lt"/>
              <a:cs typeface="Consolas" pitchFamily="49" charset="0"/>
            </a:endParaRPr>
          </a:p>
        </p:txBody>
      </p:sp>
    </p:spTree>
    <p:extLst>
      <p:ext uri="{BB962C8B-B14F-4D97-AF65-F5344CB8AC3E}">
        <p14:creationId xmlns:p14="http://schemas.microsoft.com/office/powerpoint/2010/main" val="26605200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819460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39098788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100000"/>
              </a:lnSpc>
              <a:spcAft>
                <a:spcPts val="0"/>
              </a:spcAft>
              <a:buFont typeface="Arial" panose="020B0604020202020204" pitchFamily="34" charset="0"/>
              <a:buNone/>
              <a:defRPr sz="3600" cap="none"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64428483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472112973"/>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319919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5092224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103703138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373015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39314109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9" Type="http://schemas.openxmlformats.org/officeDocument/2006/relationships/slideLayout" Target="../slideLayouts/slideLayout66.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50" Type="http://schemas.openxmlformats.org/officeDocument/2006/relationships/slideLayout" Target="../slideLayouts/slideLayout77.xml"/><Relationship Id="rId55" Type="http://schemas.openxmlformats.org/officeDocument/2006/relationships/slideLayout" Target="../slideLayouts/slideLayout82.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9" Type="http://schemas.openxmlformats.org/officeDocument/2006/relationships/slideLayout" Target="../slideLayouts/slideLayout56.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3" Type="http://schemas.openxmlformats.org/officeDocument/2006/relationships/slideLayout" Target="../slideLayouts/slideLayout80.xml"/><Relationship Id="rId58" Type="http://schemas.openxmlformats.org/officeDocument/2006/relationships/image" Target="../media/image1.png"/><Relationship Id="rId5" Type="http://schemas.openxmlformats.org/officeDocument/2006/relationships/slideLayout" Target="../slideLayouts/slideLayout32.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56" Type="http://schemas.openxmlformats.org/officeDocument/2006/relationships/slideLayout" Target="../slideLayouts/slideLayout83.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3" Type="http://schemas.openxmlformats.org/officeDocument/2006/relationships/slideLayout" Target="../slideLayouts/slideLayout30.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59" Type="http://schemas.openxmlformats.org/officeDocument/2006/relationships/image" Target="../media/image2.svg"/><Relationship Id="rId20" Type="http://schemas.openxmlformats.org/officeDocument/2006/relationships/slideLayout" Target="../slideLayouts/slideLayout47.xml"/><Relationship Id="rId41" Type="http://schemas.openxmlformats.org/officeDocument/2006/relationships/slideLayout" Target="../slideLayouts/slideLayout68.xml"/><Relationship Id="rId54" Type="http://schemas.openxmlformats.org/officeDocument/2006/relationships/slideLayout" Target="../slideLayouts/slideLayout81.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57" Type="http://schemas.openxmlformats.org/officeDocument/2006/relationships/theme" Target="../theme/theme2.xml"/><Relationship Id="rId10" Type="http://schemas.openxmlformats.org/officeDocument/2006/relationships/slideLayout" Target="../slideLayouts/slideLayout37.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slideLayout" Target="../slideLayouts/slideLayout79.xml"/><Relationship Id="rId60"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image" Target="../media/image3.png"/><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image" Target="../media/image2.svg"/><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theme" Target="../theme/theme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8"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5" r:id="rId21"/>
    <p:sldLayoutId id="2147483926" r:id="rId22"/>
    <p:sldLayoutId id="2147483928" r:id="rId23"/>
    <p:sldLayoutId id="2147483929" r:id="rId24"/>
    <p:sldLayoutId id="2147483930" r:id="rId25"/>
    <p:sldLayoutId id="2147483931" r:id="rId26"/>
    <p:sldLayoutId id="2147483932" r:id="rId27"/>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1"/>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1"/>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1"/>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1"/>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1"/>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Sorting Rows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71077"/>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6859990" y="3004812"/>
            <a:ext cx="3534471" cy="1186921"/>
          </a:xfrm>
        </p:spPr>
        <p:txBody>
          <a:bodyPr/>
          <a:lstStyle/>
          <a:p>
            <a:pPr marL="285750" indent="-285750">
              <a:buFont typeface="Arial" panose="020B0604020202020204" pitchFamily="34" charset="0"/>
              <a:buChar char="•"/>
            </a:pPr>
            <a:r>
              <a:rPr lang="en-GB" dirty="0"/>
              <a:t>ORDER BY clause</a:t>
            </a:r>
          </a:p>
          <a:p>
            <a:pPr marL="285750" indent="-285750">
              <a:buFont typeface="Arial" panose="020B0604020202020204" pitchFamily="34" charset="0"/>
              <a:buChar char="•"/>
            </a:pPr>
            <a:r>
              <a:rPr lang="en-GB" dirty="0"/>
              <a:t>Sort order</a:t>
            </a:r>
          </a:p>
          <a:p>
            <a:pPr marL="285750" indent="-285750">
              <a:buFont typeface="Arial" panose="020B0604020202020204" pitchFamily="34" charset="0"/>
              <a:buChar char="•"/>
            </a:pPr>
            <a:r>
              <a:rPr lang="en-GB" dirty="0"/>
              <a:t>Sort on multiple columns</a:t>
            </a:r>
          </a:p>
          <a:p>
            <a:pPr marL="285750" indent="-285750">
              <a:buFont typeface="Arial" panose="020B0604020202020204" pitchFamily="34" charset="0"/>
              <a:buChar char="•"/>
            </a:pPr>
            <a:r>
              <a:rPr lang="en-GB" dirty="0"/>
              <a:t>Sort on expressions</a:t>
            </a:r>
          </a:p>
          <a:p>
            <a:pPr marL="285750" indent="-285750">
              <a:buFont typeface="Arial" panose="020B0604020202020204" pitchFamily="34" charset="0"/>
              <a:buChar char="•"/>
            </a:pPr>
            <a:r>
              <a:rPr lang="en-GB" dirty="0"/>
              <a:t>Eliminate duplicates - DISTINCT</a:t>
            </a:r>
          </a:p>
          <a:p>
            <a:pPr marL="285750" indent="-285750">
              <a:buFont typeface="Arial" panose="020B0604020202020204" pitchFamily="34" charset="0"/>
              <a:buChar char="•"/>
            </a:pPr>
            <a:r>
              <a:rPr lang="en-GB" dirty="0"/>
              <a:t>Limit results - TOP</a:t>
            </a:r>
          </a:p>
          <a:p>
            <a:pPr marL="285750" indent="-285750">
              <a:buFont typeface="Arial" panose="020B0604020202020204" pitchFamily="34" charset="0"/>
              <a:buChar char="•"/>
            </a:pPr>
            <a:r>
              <a:rPr lang="en-GB" dirty="0"/>
              <a:t>Hands-on lab</a:t>
            </a:r>
          </a:p>
        </p:txBody>
      </p:sp>
      <p:sp>
        <p:nvSpPr>
          <p:cNvPr id="4" name="Title 4"/>
          <p:cNvSpPr>
            <a:spLocks noGrp="1"/>
          </p:cNvSpPr>
          <p:nvPr>
            <p:ph type="ctrTitle"/>
          </p:nvPr>
        </p:nvSpPr>
        <p:spPr/>
        <p:txBody>
          <a:bodyPr/>
          <a:lstStyle/>
          <a:p>
            <a:r>
              <a:rPr lang="en-GB"/>
              <a:t>Overview</a:t>
            </a:r>
            <a:endParaRPr lang="en-GB" dirty="0"/>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OBJECTIVES</a:t>
            </a:r>
            <a:endParaRPr lang="en-IN" dirty="0"/>
          </a:p>
        </p:txBody>
      </p:sp>
      <p:sp>
        <p:nvSpPr>
          <p:cNvPr id="3" name="Text Placeholder 2"/>
          <p:cNvSpPr>
            <a:spLocks noGrp="1"/>
          </p:cNvSpPr>
          <p:nvPr>
            <p:ph type="body" sz="quarter" idx="11"/>
          </p:nvPr>
        </p:nvSpPr>
        <p:spPr/>
        <p:txBody>
          <a:bodyPr/>
          <a:lstStyle/>
          <a:p>
            <a:r>
              <a:rPr lang="en-GB" b="1" dirty="0"/>
              <a:t>At the end of this module you will be able to:</a:t>
            </a:r>
          </a:p>
          <a:p>
            <a:pPr lvl="1">
              <a:buFont typeface="Arial" panose="020B0604020202020204" pitchFamily="34" charset="0"/>
              <a:buChar char="•"/>
            </a:pPr>
            <a:endParaRPr lang="en-GB" dirty="0"/>
          </a:p>
          <a:p>
            <a:pPr marL="374650" lvl="1" indent="-285750">
              <a:buFont typeface="Arial" panose="020B0604020202020204" pitchFamily="34" charset="0"/>
              <a:buChar char="•"/>
            </a:pPr>
            <a:r>
              <a:rPr lang="en-GB" sz="1400" dirty="0"/>
              <a:t>write a query that sorts on a single column</a:t>
            </a:r>
          </a:p>
          <a:p>
            <a:pPr marL="374650" lvl="1" indent="-285750">
              <a:buFont typeface="Arial" panose="020B0604020202020204" pitchFamily="34" charset="0"/>
              <a:buChar char="•"/>
            </a:pPr>
            <a:r>
              <a:rPr lang="en-GB" sz="1400" dirty="0"/>
              <a:t>write a query that sorts on multiple columns</a:t>
            </a:r>
          </a:p>
          <a:p>
            <a:pPr marL="374650" lvl="1" indent="-285750">
              <a:buFont typeface="Arial" panose="020B0604020202020204" pitchFamily="34" charset="0"/>
              <a:buChar char="•"/>
            </a:pPr>
            <a:r>
              <a:rPr lang="en-GB" sz="1400" dirty="0"/>
              <a:t>write a query that sorts on a calculated column</a:t>
            </a:r>
          </a:p>
          <a:p>
            <a:pPr marL="374650" lvl="1" indent="-285750">
              <a:buFont typeface="Arial" panose="020B0604020202020204" pitchFamily="34" charset="0"/>
              <a:buChar char="•"/>
            </a:pPr>
            <a:r>
              <a:rPr lang="en-GB" sz="1400" dirty="0"/>
              <a:t>write a query that selects unique values</a:t>
            </a:r>
          </a:p>
          <a:p>
            <a:pPr marL="374650" lvl="1" indent="-285750">
              <a:buFont typeface="Arial" panose="020B0604020202020204" pitchFamily="34" charset="0"/>
              <a:buChar char="•"/>
            </a:pPr>
            <a:r>
              <a:rPr lang="en-GB" sz="1400" dirty="0"/>
              <a:t>write a query that returns only a specified number of rows</a:t>
            </a:r>
          </a:p>
          <a:p>
            <a:endParaRPr lang="en-GB" dirty="0"/>
          </a:p>
        </p:txBody>
      </p:sp>
    </p:spTree>
    <p:extLst>
      <p:ext uri="{BB962C8B-B14F-4D97-AF65-F5344CB8AC3E}">
        <p14:creationId xmlns:p14="http://schemas.microsoft.com/office/powerpoint/2010/main" val="172429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ORDER BY clause</a:t>
            </a:r>
            <a:endParaRPr lang="en-IN" dirty="0"/>
          </a:p>
        </p:txBody>
      </p:sp>
    </p:spTree>
    <p:extLst>
      <p:ext uri="{BB962C8B-B14F-4D97-AF65-F5344CB8AC3E}">
        <p14:creationId xmlns:p14="http://schemas.microsoft.com/office/powerpoint/2010/main" val="226527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ORDER BY clause</a:t>
            </a:r>
            <a:endParaRPr lang="en-IN" dirty="0"/>
          </a:p>
        </p:txBody>
      </p:sp>
      <p:sp>
        <p:nvSpPr>
          <p:cNvPr id="3" name="Text Placeholder 2"/>
          <p:cNvSpPr>
            <a:spLocks noGrp="1"/>
          </p:cNvSpPr>
          <p:nvPr>
            <p:ph type="body" sz="quarter" idx="11"/>
          </p:nvPr>
        </p:nvSpPr>
        <p:spPr/>
        <p:txBody>
          <a:bodyPr/>
          <a:lstStyle/>
          <a:p>
            <a:r>
              <a:rPr lang="en-GB" dirty="0"/>
              <a:t>SELECT &lt;&lt;field(s)&gt;&gt;</a:t>
            </a:r>
          </a:p>
          <a:p>
            <a:r>
              <a:rPr lang="en-GB" dirty="0"/>
              <a:t>FROM  &lt;&lt;table(s)&gt;&gt;</a:t>
            </a:r>
          </a:p>
          <a:p>
            <a:r>
              <a:rPr lang="en-GB" dirty="0"/>
              <a:t>WHERE  &lt;&lt;condition(s)&gt;&gt;</a:t>
            </a:r>
          </a:p>
          <a:p>
            <a:r>
              <a:rPr lang="en-GB" dirty="0">
                <a:solidFill>
                  <a:schemeClr val="bg1">
                    <a:lumMod val="75000"/>
                  </a:schemeClr>
                </a:solidFill>
              </a:rPr>
              <a:t>GROUP BY  </a:t>
            </a:r>
            <a:r>
              <a:rPr lang="en-GB" i="1" dirty="0">
                <a:solidFill>
                  <a:schemeClr val="bg1">
                    <a:lumMod val="75000"/>
                  </a:schemeClr>
                </a:solidFill>
              </a:rPr>
              <a:t>&lt;&lt;field(s)&gt;&gt;</a:t>
            </a:r>
          </a:p>
          <a:p>
            <a:r>
              <a:rPr lang="en-GB" dirty="0">
                <a:solidFill>
                  <a:schemeClr val="bg1">
                    <a:lumMod val="75000"/>
                  </a:schemeClr>
                </a:solidFill>
              </a:rPr>
              <a:t>HAVING  </a:t>
            </a:r>
            <a:r>
              <a:rPr lang="en-GB" i="1" dirty="0">
                <a:solidFill>
                  <a:schemeClr val="bg1">
                    <a:lumMod val="75000"/>
                  </a:schemeClr>
                </a:solidFill>
              </a:rPr>
              <a:t>&lt;&lt;condition(s)&gt;&gt;</a:t>
            </a:r>
          </a:p>
          <a:p>
            <a:r>
              <a:rPr lang="en-GB" b="1" dirty="0"/>
              <a:t>ORDER BY </a:t>
            </a:r>
            <a:r>
              <a:rPr lang="en-GB" i="1" dirty="0"/>
              <a:t>&lt;&lt;field(s)&gt;&gt;</a:t>
            </a:r>
          </a:p>
          <a:p>
            <a:endParaRPr lang="en-IN" dirty="0"/>
          </a:p>
        </p:txBody>
      </p:sp>
    </p:spTree>
    <p:extLst>
      <p:ext uri="{BB962C8B-B14F-4D97-AF65-F5344CB8AC3E}">
        <p14:creationId xmlns:p14="http://schemas.microsoft.com/office/powerpoint/2010/main" val="1635843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Sort order</a:t>
            </a:r>
            <a:endParaRPr lang="en-IN" dirty="0"/>
          </a:p>
        </p:txBody>
      </p:sp>
    </p:spTree>
    <p:extLst>
      <p:ext uri="{BB962C8B-B14F-4D97-AF65-F5344CB8AC3E}">
        <p14:creationId xmlns:p14="http://schemas.microsoft.com/office/powerpoint/2010/main" val="2624844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82" y="1080471"/>
            <a:ext cx="11517818" cy="805001"/>
          </a:xfrm>
        </p:spPr>
        <p:txBody>
          <a:bodyPr/>
          <a:lstStyle/>
          <a:p>
            <a:r>
              <a:rPr lang="en-GB" dirty="0"/>
              <a:t>Sort order</a:t>
            </a:r>
          </a:p>
        </p:txBody>
      </p:sp>
      <p:sp>
        <p:nvSpPr>
          <p:cNvPr id="3" name="Content Placeholder 2"/>
          <p:cNvSpPr>
            <a:spLocks noGrp="1"/>
          </p:cNvSpPr>
          <p:nvPr>
            <p:ph idx="1"/>
          </p:nvPr>
        </p:nvSpPr>
        <p:spPr>
          <a:xfrm>
            <a:off x="341272" y="2044460"/>
            <a:ext cx="11516239" cy="4279150"/>
          </a:xfrm>
        </p:spPr>
        <p:txBody>
          <a:bodyPr/>
          <a:lstStyle/>
          <a:p>
            <a:pPr marL="342900" indent="-342900">
              <a:buFont typeface="Arial" panose="020B0604020202020204" pitchFamily="34" charset="0"/>
              <a:buChar char="•"/>
            </a:pPr>
            <a:r>
              <a:rPr lang="en-GB" b="1" dirty="0"/>
              <a:t>ASC – ascending</a:t>
            </a:r>
          </a:p>
          <a:p>
            <a:pPr marL="684000" lvl="1" indent="-342000"/>
            <a:r>
              <a:rPr lang="en-GB" dirty="0"/>
              <a:t>Default</a:t>
            </a:r>
          </a:p>
          <a:p>
            <a:pPr marL="342900" indent="-342900">
              <a:buFont typeface="Arial" panose="020B0604020202020204" pitchFamily="34" charset="0"/>
              <a:buChar char="•"/>
            </a:pPr>
            <a:r>
              <a:rPr lang="en-GB" b="1" dirty="0"/>
              <a:t>DESC – descending</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5970" y="3148522"/>
            <a:ext cx="3762213" cy="3358604"/>
          </a:xfrm>
          <a:prstGeom prst="rect">
            <a:avLst/>
          </a:prstGeom>
          <a:ln w="63500">
            <a:solidFill>
              <a:schemeClr val="bg1"/>
            </a:solidFill>
          </a:ln>
        </p:spPr>
      </p:pic>
      <p:sp>
        <p:nvSpPr>
          <p:cNvPr id="5" name="Rectangle 4"/>
          <p:cNvSpPr>
            <a:spLocks noChangeArrowheads="1"/>
          </p:cNvSpPr>
          <p:nvPr/>
        </p:nvSpPr>
        <p:spPr bwMode="auto">
          <a:xfrm>
            <a:off x="1975811" y="3539366"/>
            <a:ext cx="3670737" cy="224676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b="1" dirty="0">
                <a:latin typeface="Lucida Console" pitchFamily="49" charset="0"/>
              </a:rPr>
              <a:t>ORDER BY</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r>
              <a:rPr lang="en-GB" sz="2000" dirty="0">
                <a:latin typeface="Lucida Console" pitchFamily="49" charset="0"/>
              </a:rPr>
              <a:t> </a:t>
            </a:r>
            <a:r>
              <a:rPr lang="en-GB" sz="2000" b="1" dirty="0">
                <a:latin typeface="Lucida Console" pitchFamily="49" charset="0"/>
              </a:rPr>
              <a:t>DESC</a:t>
            </a:r>
          </a:p>
        </p:txBody>
      </p:sp>
    </p:spTree>
    <p:extLst>
      <p:ext uri="{BB962C8B-B14F-4D97-AF65-F5344CB8AC3E}">
        <p14:creationId xmlns:p14="http://schemas.microsoft.com/office/powerpoint/2010/main" val="270045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Sort on multiple columns</a:t>
            </a:r>
            <a:endParaRPr lang="en-IN" dirty="0"/>
          </a:p>
        </p:txBody>
      </p:sp>
    </p:spTree>
    <p:extLst>
      <p:ext uri="{BB962C8B-B14F-4D97-AF65-F5344CB8AC3E}">
        <p14:creationId xmlns:p14="http://schemas.microsoft.com/office/powerpoint/2010/main" val="849713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006" y="1122775"/>
            <a:ext cx="11517818" cy="805001"/>
          </a:xfrm>
        </p:spPr>
        <p:txBody>
          <a:bodyPr/>
          <a:lstStyle/>
          <a:p>
            <a:r>
              <a:rPr lang="en-GB" dirty="0"/>
              <a:t>Sort on multiple columns</a:t>
            </a:r>
          </a:p>
        </p:txBody>
      </p:sp>
      <p:sp>
        <p:nvSpPr>
          <p:cNvPr id="3" name="Content Placeholder 2"/>
          <p:cNvSpPr>
            <a:spLocks noGrp="1"/>
          </p:cNvSpPr>
          <p:nvPr>
            <p:ph idx="1"/>
          </p:nvPr>
        </p:nvSpPr>
        <p:spPr>
          <a:xfrm>
            <a:off x="341272" y="2147976"/>
            <a:ext cx="11516239" cy="4175633"/>
          </a:xfrm>
        </p:spPr>
        <p:txBody>
          <a:bodyPr/>
          <a:lstStyle/>
          <a:p>
            <a:pPr marL="342900" indent="-342900">
              <a:buFont typeface="Arial" panose="020B0604020202020204" pitchFamily="34" charset="0"/>
              <a:buChar char="•"/>
            </a:pPr>
            <a:r>
              <a:rPr lang="en-GB" b="1" dirty="0"/>
              <a:t>Up to 16 columns in ORDER BY clause</a:t>
            </a:r>
          </a:p>
          <a:p>
            <a:pPr marL="342900" indent="-342900">
              <a:buFont typeface="Arial" panose="020B0604020202020204" pitchFamily="34" charset="0"/>
              <a:buChar char="•"/>
            </a:pPr>
            <a:r>
              <a:rPr lang="en-GB" b="1" dirty="0"/>
              <a:t>Sort columns do not have to be included in select list</a:t>
            </a:r>
          </a:p>
          <a:p>
            <a:pPr marL="342900" indent="-342900">
              <a:buFont typeface="Arial" panose="020B0604020202020204" pitchFamily="34" charset="0"/>
              <a:buChar char="•"/>
            </a:pPr>
            <a:endParaRPr lang="en-GB" dirty="0"/>
          </a:p>
        </p:txBody>
      </p:sp>
      <p:sp>
        <p:nvSpPr>
          <p:cNvPr id="5" name="Rectangle 4"/>
          <p:cNvSpPr>
            <a:spLocks noChangeArrowheads="1"/>
          </p:cNvSpPr>
          <p:nvPr/>
        </p:nvSpPr>
        <p:spPr bwMode="auto">
          <a:xfrm>
            <a:off x="1975808" y="3029004"/>
            <a:ext cx="4354107" cy="255454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ProductID</a:t>
            </a: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CategoryID</a:t>
            </a:r>
            <a:r>
              <a:rPr lang="en-GB" sz="2000" dirty="0">
                <a:latin typeface="Lucida Console" pitchFamily="49" charset="0"/>
              </a:rPr>
              <a:t>, </a:t>
            </a:r>
            <a:r>
              <a:rPr lang="en-GB" sz="2000" dirty="0" err="1">
                <a:latin typeface="Lucida Console" pitchFamily="49" charset="0"/>
              </a:rPr>
              <a:t>UnitPrice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b="1" dirty="0">
                <a:latin typeface="Lucida Console" pitchFamily="49" charset="0"/>
              </a:rPr>
              <a:t>ORDER BY</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CategoryID</a:t>
            </a:r>
            <a:r>
              <a:rPr lang="en-GB" sz="2000" b="1"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r>
              <a:rPr lang="en-GB" sz="2000" dirty="0">
                <a:latin typeface="Lucida Console" pitchFamily="49" charset="0"/>
              </a:rPr>
              <a:t> DESC</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8748" y="3928817"/>
            <a:ext cx="4475540" cy="2535778"/>
          </a:xfrm>
          <a:prstGeom prst="rect">
            <a:avLst/>
          </a:prstGeom>
          <a:ln w="63500">
            <a:solidFill>
              <a:schemeClr val="bg1"/>
            </a:solidFill>
          </a:ln>
        </p:spPr>
      </p:pic>
    </p:spTree>
    <p:extLst>
      <p:ext uri="{BB962C8B-B14F-4D97-AF65-F5344CB8AC3E}">
        <p14:creationId xmlns:p14="http://schemas.microsoft.com/office/powerpoint/2010/main" val="262331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Sort on expressions</a:t>
            </a:r>
            <a:endParaRPr lang="en-IN" dirty="0"/>
          </a:p>
        </p:txBody>
      </p:sp>
    </p:spTree>
    <p:extLst>
      <p:ext uri="{BB962C8B-B14F-4D97-AF65-F5344CB8AC3E}">
        <p14:creationId xmlns:p14="http://schemas.microsoft.com/office/powerpoint/2010/main" val="570681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82" y="885884"/>
            <a:ext cx="11517818" cy="805001"/>
          </a:xfrm>
        </p:spPr>
        <p:txBody>
          <a:bodyPr/>
          <a:lstStyle/>
          <a:p>
            <a:r>
              <a:rPr lang="en-GB" dirty="0"/>
              <a:t>Sort on expressions</a:t>
            </a:r>
          </a:p>
        </p:txBody>
      </p:sp>
      <p:sp>
        <p:nvSpPr>
          <p:cNvPr id="3" name="Content Placeholder 2"/>
          <p:cNvSpPr>
            <a:spLocks noGrp="1"/>
          </p:cNvSpPr>
          <p:nvPr>
            <p:ph idx="1"/>
          </p:nvPr>
        </p:nvSpPr>
        <p:spPr>
          <a:xfrm>
            <a:off x="341272" y="1699404"/>
            <a:ext cx="11516239" cy="4624206"/>
          </a:xfrm>
        </p:spPr>
        <p:txBody>
          <a:bodyPr/>
          <a:lstStyle/>
          <a:p>
            <a:pPr>
              <a:buFont typeface="Arial" panose="020B0604020202020204" pitchFamily="34" charset="0"/>
              <a:buChar char="•"/>
            </a:pPr>
            <a:r>
              <a:rPr lang="en-GB" b="1" dirty="0"/>
              <a:t>ORDER BY</a:t>
            </a:r>
          </a:p>
          <a:p>
            <a:pPr lvl="1"/>
            <a:r>
              <a:rPr lang="en-GB" sz="1400" b="0" dirty="0"/>
              <a:t>&lt;&lt;expression&gt;&gt;</a:t>
            </a:r>
          </a:p>
          <a:p>
            <a:pPr lvl="1"/>
            <a:r>
              <a:rPr lang="en-GB" sz="1400" b="0" i="1" dirty="0"/>
              <a:t>&lt;&lt;expression-alias&gt;&gt;</a:t>
            </a:r>
          </a:p>
          <a:p>
            <a:pPr lvl="1"/>
            <a:r>
              <a:rPr lang="en-GB" sz="1400" b="0" dirty="0"/>
              <a:t>&lt;&lt;expression-ordinal&gt;&gt;</a:t>
            </a:r>
          </a:p>
        </p:txBody>
      </p:sp>
      <p:sp>
        <p:nvSpPr>
          <p:cNvPr id="4" name="Rectangle 3"/>
          <p:cNvSpPr>
            <a:spLocks noChangeArrowheads="1"/>
          </p:cNvSpPr>
          <p:nvPr/>
        </p:nvSpPr>
        <p:spPr bwMode="auto">
          <a:xfrm>
            <a:off x="1933277" y="3050269"/>
            <a:ext cx="4758146" cy="286232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 </a:t>
            </a:r>
            <a:r>
              <a:rPr lang="en-GB" sz="2000" dirty="0" err="1">
                <a:latin typeface="Lucida Console" pitchFamily="49" charset="0"/>
              </a:rPr>
              <a:t>UnitsInStock</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UnitsOnOrder</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UnitsInStock</a:t>
            </a:r>
            <a:r>
              <a:rPr lang="en-GB" sz="2000" dirty="0">
                <a:latin typeface="Lucida Console" pitchFamily="49" charset="0"/>
              </a:rPr>
              <a:t> + </a:t>
            </a:r>
            <a:r>
              <a:rPr lang="en-GB" sz="2000" dirty="0" err="1">
                <a:latin typeface="Lucida Console" pitchFamily="49" charset="0"/>
              </a:rPr>
              <a:t>UnitsOnOrder</a:t>
            </a:r>
            <a:br>
              <a:rPr lang="en-GB" sz="2000" dirty="0">
                <a:latin typeface="Lucida Console" pitchFamily="49" charset="0"/>
              </a:rPr>
            </a:br>
            <a:r>
              <a:rPr lang="en-GB" sz="2000" dirty="0">
                <a:latin typeface="Lucida Console" pitchFamily="49" charset="0"/>
              </a:rPr>
              <a:t>    AS </a:t>
            </a:r>
            <a:r>
              <a:rPr lang="en-GB" sz="2000" i="1" dirty="0" err="1">
                <a:latin typeface="Lucida Console" pitchFamily="49" charset="0"/>
              </a:rPr>
              <a:t>FutureStock</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b="1" dirty="0">
                <a:latin typeface="Lucida Console" pitchFamily="49" charset="0"/>
              </a:rPr>
              <a:t>ORDER BY</a:t>
            </a:r>
            <a:br>
              <a:rPr lang="en-GB" sz="2000" b="1" dirty="0">
                <a:latin typeface="Lucida Console" pitchFamily="49" charset="0"/>
              </a:rPr>
            </a:br>
            <a:r>
              <a:rPr lang="en-GB" sz="2000" dirty="0">
                <a:latin typeface="Lucida Console" pitchFamily="49" charset="0"/>
              </a:rPr>
              <a:t>  </a:t>
            </a:r>
            <a:r>
              <a:rPr lang="en-GB" sz="2000" i="1" dirty="0" err="1">
                <a:latin typeface="Lucida Console" pitchFamily="49" charset="0"/>
              </a:rPr>
              <a:t>FutureStock</a:t>
            </a:r>
            <a:r>
              <a:rPr lang="en-GB" sz="2000" dirty="0">
                <a:latin typeface="Lucida Console" pitchFamily="49" charset="0"/>
              </a:rPr>
              <a:t> </a:t>
            </a:r>
            <a:r>
              <a:rPr lang="en-GB" sz="2000" b="1" dirty="0">
                <a:latin typeface="Lucida Console" pitchFamily="49" charset="0"/>
              </a:rPr>
              <a:t>DESC</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3348" y="4481431"/>
            <a:ext cx="4305901" cy="2229161"/>
          </a:xfrm>
          <a:prstGeom prst="rect">
            <a:avLst/>
          </a:prstGeom>
          <a:ln w="63500">
            <a:solidFill>
              <a:schemeClr val="bg1"/>
            </a:solidFill>
          </a:ln>
        </p:spPr>
      </p:pic>
    </p:spTree>
    <p:extLst>
      <p:ext uri="{BB962C8B-B14F-4D97-AF65-F5344CB8AC3E}">
        <p14:creationId xmlns:p14="http://schemas.microsoft.com/office/powerpoint/2010/main" val="2372927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Eliminate duplicates – DISTINCT</a:t>
            </a:r>
            <a:endParaRPr lang="en-IN" dirty="0"/>
          </a:p>
        </p:txBody>
      </p:sp>
    </p:spTree>
    <p:extLst>
      <p:ext uri="{BB962C8B-B14F-4D97-AF65-F5344CB8AC3E}">
        <p14:creationId xmlns:p14="http://schemas.microsoft.com/office/powerpoint/2010/main" val="1534054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919" y="964558"/>
            <a:ext cx="11517818" cy="805001"/>
          </a:xfrm>
        </p:spPr>
        <p:txBody>
          <a:bodyPr/>
          <a:lstStyle/>
          <a:p>
            <a:r>
              <a:rPr lang="en-GB" dirty="0"/>
              <a:t>Eliminate duplicates – SELECT DISTINCT</a:t>
            </a:r>
          </a:p>
        </p:txBody>
      </p:sp>
      <p:sp>
        <p:nvSpPr>
          <p:cNvPr id="4" name="Rectangle 3"/>
          <p:cNvSpPr>
            <a:spLocks noChangeArrowheads="1"/>
          </p:cNvSpPr>
          <p:nvPr/>
        </p:nvSpPr>
        <p:spPr bwMode="auto">
          <a:xfrm>
            <a:off x="1933277" y="1619109"/>
            <a:ext cx="2737960" cy="132343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City, Country</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dbo.Customers</a:t>
            </a:r>
            <a:endParaRPr lang="en-GB" sz="2000" b="1" dirty="0">
              <a:latin typeface="Lucida Console" pitchFamily="49" charset="0"/>
            </a:endParaRPr>
          </a:p>
        </p:txBody>
      </p:sp>
      <p:sp>
        <p:nvSpPr>
          <p:cNvPr id="5" name="Rectangle 4"/>
          <p:cNvSpPr>
            <a:spLocks noChangeArrowheads="1"/>
          </p:cNvSpPr>
          <p:nvPr/>
        </p:nvSpPr>
        <p:spPr bwMode="auto">
          <a:xfrm>
            <a:off x="6019723" y="1646877"/>
            <a:ext cx="2737960" cy="132343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 </a:t>
            </a:r>
            <a:r>
              <a:rPr lang="en-GB" sz="2000" b="1" dirty="0">
                <a:latin typeface="Lucida Console" pitchFamily="49" charset="0"/>
              </a:rPr>
              <a:t>DISTINCT</a:t>
            </a:r>
            <a:br>
              <a:rPr lang="en-GB" sz="2000" dirty="0">
                <a:latin typeface="Lucida Console" pitchFamily="49" charset="0"/>
              </a:rPr>
            </a:br>
            <a:r>
              <a:rPr lang="en-GB" sz="2000" dirty="0">
                <a:latin typeface="Lucida Console" pitchFamily="49" charset="0"/>
              </a:rPr>
              <a:t>  City, Country</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dbo.Customers</a:t>
            </a:r>
            <a:endParaRPr lang="en-GB" sz="2000" b="1" dirty="0">
              <a:latin typeface="Lucida Console" pitchFamily="49"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7065" y="2990173"/>
            <a:ext cx="2894631" cy="3195017"/>
          </a:xfrm>
          <a:prstGeom prst="rect">
            <a:avLst/>
          </a:prstGeom>
          <a:ln w="63500">
            <a:solidFill>
              <a:schemeClr val="bg1"/>
            </a:solidFill>
          </a:ln>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7449" y="2990173"/>
            <a:ext cx="2758092" cy="3195017"/>
          </a:xfrm>
          <a:prstGeom prst="rect">
            <a:avLst/>
          </a:prstGeom>
          <a:ln w="63500">
            <a:solidFill>
              <a:schemeClr val="bg1"/>
            </a:solidFill>
          </a:ln>
        </p:spPr>
      </p:pic>
    </p:spTree>
    <p:extLst>
      <p:ext uri="{BB962C8B-B14F-4D97-AF65-F5344CB8AC3E}">
        <p14:creationId xmlns:p14="http://schemas.microsoft.com/office/powerpoint/2010/main" val="644492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Limit results – TOP</a:t>
            </a:r>
            <a:endParaRPr lang="en-IN" dirty="0"/>
          </a:p>
        </p:txBody>
      </p:sp>
    </p:spTree>
    <p:extLst>
      <p:ext uri="{BB962C8B-B14F-4D97-AF65-F5344CB8AC3E}">
        <p14:creationId xmlns:p14="http://schemas.microsoft.com/office/powerpoint/2010/main" val="3728909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137" y="964558"/>
            <a:ext cx="11517818" cy="805001"/>
          </a:xfrm>
        </p:spPr>
        <p:txBody>
          <a:bodyPr/>
          <a:lstStyle/>
          <a:p>
            <a:r>
              <a:rPr lang="en-GB" dirty="0"/>
              <a:t>Limit results – SELECT TOP</a:t>
            </a:r>
          </a:p>
        </p:txBody>
      </p:sp>
      <p:sp>
        <p:nvSpPr>
          <p:cNvPr id="3" name="Content Placeholder 2"/>
          <p:cNvSpPr>
            <a:spLocks noGrp="1"/>
          </p:cNvSpPr>
          <p:nvPr>
            <p:ph idx="1"/>
          </p:nvPr>
        </p:nvSpPr>
        <p:spPr>
          <a:xfrm>
            <a:off x="341272" y="1940942"/>
            <a:ext cx="11516239" cy="4382667"/>
          </a:xfrm>
        </p:spPr>
        <p:txBody>
          <a:bodyPr/>
          <a:lstStyle/>
          <a:p>
            <a:pPr marL="342900" indent="-342900">
              <a:buFont typeface="Arial" panose="020B0604020202020204" pitchFamily="34" charset="0"/>
              <a:buChar char="•"/>
            </a:pPr>
            <a:r>
              <a:rPr lang="en-GB" b="1" dirty="0"/>
              <a:t>SELECT TOP </a:t>
            </a:r>
            <a:r>
              <a:rPr lang="en-GB" b="1" i="1" dirty="0"/>
              <a:t>n</a:t>
            </a:r>
          </a:p>
          <a:p>
            <a:pPr marL="342900" indent="-342900">
              <a:buFont typeface="Arial" panose="020B0604020202020204" pitchFamily="34" charset="0"/>
              <a:buChar char="•"/>
            </a:pPr>
            <a:r>
              <a:rPr lang="en-GB" b="1" dirty="0">
                <a:latin typeface="Montserrat"/>
              </a:rPr>
              <a:t>SELECT TOP </a:t>
            </a:r>
            <a:r>
              <a:rPr lang="en-GB" b="1" i="1" dirty="0">
                <a:latin typeface="Montserrat"/>
              </a:rPr>
              <a:t>n</a:t>
            </a:r>
            <a:r>
              <a:rPr lang="en-GB" b="1" dirty="0">
                <a:latin typeface="Montserrat"/>
              </a:rPr>
              <a:t> PERCENT</a:t>
            </a:r>
          </a:p>
          <a:p>
            <a:pPr marL="342900" indent="-342900">
              <a:buFont typeface="Arial" panose="020B0604020202020204" pitchFamily="34" charset="0"/>
              <a:buChar char="•"/>
            </a:pPr>
            <a:r>
              <a:rPr lang="en-GB" b="1" dirty="0"/>
              <a:t>SELECT TOP </a:t>
            </a:r>
            <a:r>
              <a:rPr lang="en-GB" b="1" i="1" dirty="0"/>
              <a:t>n</a:t>
            </a:r>
            <a:r>
              <a:rPr lang="en-GB" b="1" dirty="0"/>
              <a:t> … WITH TIES</a:t>
            </a:r>
          </a:p>
        </p:txBody>
      </p:sp>
      <p:sp>
        <p:nvSpPr>
          <p:cNvPr id="4" name="Rectangle 3"/>
          <p:cNvSpPr>
            <a:spLocks noChangeArrowheads="1"/>
          </p:cNvSpPr>
          <p:nvPr/>
        </p:nvSpPr>
        <p:spPr bwMode="auto">
          <a:xfrm>
            <a:off x="1933276" y="3596765"/>
            <a:ext cx="3822482" cy="224676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 </a:t>
            </a:r>
            <a:r>
              <a:rPr lang="en-GB" sz="2000" b="1" dirty="0">
                <a:latin typeface="Lucida Console" pitchFamily="49" charset="0"/>
              </a:rPr>
              <a:t>TOP 11 WITH TIES</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dirty="0">
                <a:latin typeface="Lucida Console" pitchFamily="49" charset="0"/>
              </a:rPr>
              <a:t>ORDER BY</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r>
              <a:rPr lang="en-GB" sz="2000" dirty="0">
                <a:latin typeface="Lucida Console" pitchFamily="49" charset="0"/>
              </a:rPr>
              <a:t> DESC</a:t>
            </a:r>
            <a:endParaRPr lang="en-GB" sz="2000" b="1" dirty="0">
              <a:latin typeface="Lucida Console" pitchFamily="49"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5758" y="3389532"/>
            <a:ext cx="3274828" cy="2949845"/>
          </a:xfrm>
          <a:prstGeom prst="rect">
            <a:avLst/>
          </a:prstGeom>
          <a:ln w="63500">
            <a:solidFill>
              <a:schemeClr val="bg1"/>
            </a:solidFill>
          </a:ln>
        </p:spPr>
      </p:pic>
    </p:spTree>
    <p:extLst>
      <p:ext uri="{BB962C8B-B14F-4D97-AF65-F5344CB8AC3E}">
        <p14:creationId xmlns:p14="http://schemas.microsoft.com/office/powerpoint/2010/main" val="338381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Hands-on lab</a:t>
            </a:r>
            <a:endParaRPr lang="en-IN" dirty="0"/>
          </a:p>
        </p:txBody>
      </p:sp>
      <p:sp>
        <p:nvSpPr>
          <p:cNvPr id="2" name="Text Placeholder 1">
            <a:extLst>
              <a:ext uri="{FF2B5EF4-FFF2-40B4-BE49-F238E27FC236}">
                <a16:creationId xmlns:a16="http://schemas.microsoft.com/office/drawing/2014/main" id="{726570C7-69AB-3773-A701-929FA5AAF89C}"/>
              </a:ext>
            </a:extLst>
          </p:cNvPr>
          <p:cNvSpPr>
            <a:spLocks noGrp="1"/>
          </p:cNvSpPr>
          <p:nvPr>
            <p:ph type="body" sz="quarter" idx="10"/>
          </p:nvPr>
        </p:nvSpPr>
        <p:spPr/>
        <p:txBody>
          <a:bodyPr/>
          <a:lstStyle/>
          <a:p>
            <a:pPr marL="342900" indent="-342900">
              <a:buFont typeface="Arial" panose="020B0604020202020204" pitchFamily="34" charset="0"/>
              <a:buChar char="•"/>
            </a:pPr>
            <a:r>
              <a:rPr lang="en-GB" b="1" dirty="0"/>
              <a:t>Basic sorting</a:t>
            </a:r>
          </a:p>
          <a:p>
            <a:pPr marL="342900" indent="-342900">
              <a:buFont typeface="Arial" panose="020B0604020202020204" pitchFamily="34" charset="0"/>
              <a:buChar char="•"/>
            </a:pPr>
            <a:r>
              <a:rPr lang="en-GB" b="1" dirty="0"/>
              <a:t>Sorting on expressions</a:t>
            </a:r>
          </a:p>
          <a:p>
            <a:pPr marL="342900" indent="-342900">
              <a:buFont typeface="Arial" panose="020B0604020202020204" pitchFamily="34" charset="0"/>
              <a:buChar char="•"/>
            </a:pPr>
            <a:r>
              <a:rPr lang="en-GB" b="1" dirty="0"/>
              <a:t>Unique rows</a:t>
            </a:r>
          </a:p>
          <a:p>
            <a:pPr marL="342900" indent="-342900">
              <a:buFont typeface="Arial" panose="020B0604020202020204" pitchFamily="34" charset="0"/>
              <a:buChar char="•"/>
            </a:pPr>
            <a:r>
              <a:rPr lang="en-GB" b="1" dirty="0"/>
              <a:t>Limiting results</a:t>
            </a:r>
          </a:p>
          <a:p>
            <a:endParaRPr lang="en-GB" dirty="0"/>
          </a:p>
        </p:txBody>
      </p:sp>
    </p:spTree>
    <p:extLst>
      <p:ext uri="{BB962C8B-B14F-4D97-AF65-F5344CB8AC3E}">
        <p14:creationId xmlns:p14="http://schemas.microsoft.com/office/powerpoint/2010/main" val="88032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C5F45D-D41F-D257-17E5-77622250CF1E}"/>
              </a:ext>
            </a:extLst>
          </p:cNvPr>
          <p:cNvSpPr>
            <a:spLocks noGrp="1"/>
          </p:cNvSpPr>
          <p:nvPr>
            <p:ph type="ctrTitle"/>
          </p:nvPr>
        </p:nvSpPr>
        <p:spPr/>
        <p:txBody>
          <a:bodyPr/>
          <a:lstStyle/>
          <a:p>
            <a:r>
              <a:rPr lang="en-GB" dirty="0"/>
              <a:t>Review</a:t>
            </a:r>
          </a:p>
        </p:txBody>
      </p:sp>
      <p:sp>
        <p:nvSpPr>
          <p:cNvPr id="3" name="Text Placeholder 2"/>
          <p:cNvSpPr>
            <a:spLocks noGrp="1"/>
          </p:cNvSpPr>
          <p:nvPr>
            <p:ph type="body" sz="quarter" idx="4294967295"/>
          </p:nvPr>
        </p:nvSpPr>
        <p:spPr>
          <a:xfrm>
            <a:off x="3998044" y="4093234"/>
            <a:ext cx="5718175" cy="3049588"/>
          </a:xfrm>
        </p:spPr>
        <p:txBody>
          <a:bodyPr/>
          <a:lstStyle/>
          <a:p>
            <a:pPr marL="342900" indent="-342900">
              <a:buFont typeface="Arial" panose="020B0604020202020204" pitchFamily="34" charset="0"/>
              <a:buChar char="•"/>
            </a:pPr>
            <a:r>
              <a:rPr lang="en-GB" b="1" dirty="0"/>
              <a:t>ORDER BY clause</a:t>
            </a:r>
          </a:p>
          <a:p>
            <a:pPr marL="342900" indent="-342900">
              <a:buFont typeface="Arial" panose="020B0604020202020204" pitchFamily="34" charset="0"/>
              <a:buChar char="•"/>
            </a:pPr>
            <a:r>
              <a:rPr lang="en-GB" b="1" dirty="0"/>
              <a:t>Sorting on columns</a:t>
            </a:r>
          </a:p>
          <a:p>
            <a:pPr marL="342900" indent="-342900">
              <a:buFont typeface="Arial" panose="020B0604020202020204" pitchFamily="34" charset="0"/>
              <a:buChar char="•"/>
            </a:pPr>
            <a:r>
              <a:rPr lang="en-GB" b="1" dirty="0"/>
              <a:t>Sort orders</a:t>
            </a:r>
          </a:p>
          <a:p>
            <a:pPr marL="342900" indent="-342900">
              <a:buFont typeface="Arial" panose="020B0604020202020204" pitchFamily="34" charset="0"/>
              <a:buChar char="•"/>
            </a:pPr>
            <a:r>
              <a:rPr lang="en-GB" b="1" dirty="0"/>
              <a:t>Selecting unique rows</a:t>
            </a:r>
          </a:p>
          <a:p>
            <a:pPr marL="342900" indent="-342900">
              <a:buFont typeface="Arial" panose="020B0604020202020204" pitchFamily="34" charset="0"/>
              <a:buChar char="•"/>
            </a:pPr>
            <a:r>
              <a:rPr lang="en-GB" b="1" dirty="0"/>
              <a:t>Limiting results</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3960506983"/>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30C460-91BC-4486-927B-7DEF612172CF}">
  <ds:schemaRefs>
    <ds:schemaRef ds:uri="http://schemas.microsoft.com/sharepoint/v3/contenttype/forms"/>
  </ds:schemaRefs>
</ds:datastoreItem>
</file>

<file path=customXml/itemProps2.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customXml/itemProps3.xml><?xml version="1.0" encoding="utf-8"?>
<ds:datastoreItem xmlns:ds="http://schemas.openxmlformats.org/officeDocument/2006/customXml" ds:itemID="{F59CCFDF-4B6A-4F0F-A82E-7F3EEBFFD5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 PPT Template</Template>
  <TotalTime>70</TotalTime>
  <Words>1288</Words>
  <Application>Microsoft Office PowerPoint</Application>
  <PresentationFormat>Widescreen</PresentationFormat>
  <Paragraphs>111</Paragraphs>
  <Slides>17</Slides>
  <Notes>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17</vt:i4>
      </vt:variant>
    </vt:vector>
  </HeadingPairs>
  <TitlesOfParts>
    <vt:vector size="26" baseType="lpstr">
      <vt:lpstr>Arial</vt:lpstr>
      <vt:lpstr>Calibri</vt:lpstr>
      <vt:lpstr>Krana Fat B</vt:lpstr>
      <vt:lpstr>Lucida Console</vt:lpstr>
      <vt:lpstr>Montserrat</vt:lpstr>
      <vt:lpstr>Montserrat Black</vt:lpstr>
      <vt:lpstr>Office Theme</vt:lpstr>
      <vt:lpstr>2_Office Theme</vt:lpstr>
      <vt:lpstr>1_Office Theme</vt:lpstr>
      <vt:lpstr>Sorting Rows</vt:lpstr>
      <vt:lpstr>Overview</vt:lpstr>
      <vt:lpstr>PowerPoint Presentation</vt:lpstr>
      <vt:lpstr>ORDER BY clause</vt:lpstr>
      <vt:lpstr>PowerPoint Presentation</vt:lpstr>
      <vt:lpstr>Sort order</vt:lpstr>
      <vt:lpstr>Sort order</vt:lpstr>
      <vt:lpstr>Sort on multiple columns</vt:lpstr>
      <vt:lpstr>Sort on multiple columns</vt:lpstr>
      <vt:lpstr>Sort on expressions</vt:lpstr>
      <vt:lpstr>Sort on expressions</vt:lpstr>
      <vt:lpstr>Eliminate duplicates – DISTINCT</vt:lpstr>
      <vt:lpstr>Eliminate duplicates – SELECT DISTINCT</vt:lpstr>
      <vt:lpstr>Limit results – TOP</vt:lpstr>
      <vt:lpstr>Limit results – SELECT TOP</vt:lpstr>
      <vt:lpstr>Hands-on lab</vt:lpstr>
      <vt:lpstr>Review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Sorting Rows</dc:title>
  <dc:subject/>
  <dc:creator>Lee, Peter</dc:creator>
  <cp:keywords/>
  <dc:description/>
  <cp:lastModifiedBy>Beardsley, Paul</cp:lastModifiedBy>
  <cp:revision>5</cp:revision>
  <cp:lastPrinted>2021-06-30T10:37:00Z</cp:lastPrinted>
  <dcterms:created xsi:type="dcterms:W3CDTF">2023-03-20T11:44:24Z</dcterms:created>
  <dcterms:modified xsi:type="dcterms:W3CDTF">2025-03-17T17:57:54Z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26363400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